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notesMasterIdLst>
    <p:notesMasterId r:id="rId10"/>
  </p:notesMasterIdLst>
  <p:handoutMasterIdLst>
    <p:handoutMasterId r:id="rId11"/>
  </p:handoutMasterIdLst>
  <p:sldIdLst>
    <p:sldId id="2147482514" r:id="rId5"/>
    <p:sldId id="2147482512" r:id="rId6"/>
    <p:sldId id="2147482515" r:id="rId7"/>
    <p:sldId id="2147482516" r:id="rId8"/>
    <p:sldId id="2147482517" r:id="rId9"/>
  </p:sldIdLst>
  <p:sldSz cx="12192000" cy="6858000"/>
  <p:notesSz cx="6797675" cy="9926638"/>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32" userDrawn="1">
          <p15:clr>
            <a:srgbClr val="A4A3A4"/>
          </p15:clr>
        </p15:guide>
        <p15:guide id="4" pos="7348" userDrawn="1">
          <p15:clr>
            <a:srgbClr val="A4A3A4"/>
          </p15:clr>
        </p15:guide>
        <p15:guide id="5" orient="horz" pos="459" userDrawn="1">
          <p15:clr>
            <a:srgbClr val="A4A3A4"/>
          </p15:clr>
        </p15:guide>
        <p15:guide id="6" orient="horz" pos="3997" userDrawn="1">
          <p15:clr>
            <a:srgbClr val="A4A3A4"/>
          </p15:clr>
        </p15:guide>
        <p15:guide id="7" pos="384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9519926-7414-C0ED-4314-9A45927821CE}" name="Oguri，Satoshi(小栗智)" initials="智小" userId="S::satoshi.oguri@dc.kyocera.com::989292a4-bab0-47ca-8783-2a8d4863b59a"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AAD00"/>
    <a:srgbClr val="FFF5EF"/>
    <a:srgbClr val="FFFAF7"/>
    <a:srgbClr val="F0FBFE"/>
    <a:srgbClr val="FFF0E5"/>
    <a:srgbClr val="D7C9EF"/>
    <a:srgbClr val="E8F9FE"/>
    <a:srgbClr val="E3F9EF"/>
    <a:srgbClr val="FFDE81"/>
    <a:srgbClr val="7FD9F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1129" autoAdjust="0"/>
    <p:restoredTop sz="92373" autoAdjust="0"/>
  </p:normalViewPr>
  <p:slideViewPr>
    <p:cSldViewPr snapToGrid="0">
      <p:cViewPr varScale="1">
        <p:scale>
          <a:sx n="69" d="100"/>
          <a:sy n="69" d="100"/>
        </p:scale>
        <p:origin x="936" y="48"/>
      </p:cViewPr>
      <p:guideLst>
        <p:guide orient="horz" pos="2160"/>
        <p:guide pos="332"/>
        <p:guide pos="7348"/>
        <p:guide orient="horz" pos="459"/>
        <p:guide orient="horz" pos="3997"/>
        <p:guide pos="3840"/>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presProps" Target="presProps.xml"/><Relationship Id="rId2" Type="http://schemas.openxmlformats.org/officeDocument/2006/relationships/customXml" Target="../customXml/item2.xml"/><Relationship Id="rId16"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handoutMaster" Target="handoutMasters/handoutMaster1.xml"/><Relationship Id="rId5" Type="http://schemas.openxmlformats.org/officeDocument/2006/relationships/slide" Target="slides/slide1.xml"/><Relationship Id="rId15" Type="http://schemas.openxmlformats.org/officeDocument/2006/relationships/tableStyles" Target="tableStyles.xml"/><Relationship Id="rId10"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46400" cy="496888"/>
          </a:xfrm>
          <a:prstGeom prst="rect">
            <a:avLst/>
          </a:prstGeom>
        </p:spPr>
        <p:txBody>
          <a:bodyPr vert="horz" lIns="91430" tIns="45716" rIns="91430" bIns="45716" rtlCol="0"/>
          <a:lstStyle>
            <a:lvl1pPr algn="l">
              <a:defRPr sz="1200"/>
            </a:lvl1pPr>
          </a:lstStyle>
          <a:p>
            <a:endParaRPr kumimoji="1" lang="ja-JP" altLang="en-US"/>
          </a:p>
        </p:txBody>
      </p:sp>
      <p:sp>
        <p:nvSpPr>
          <p:cNvPr id="3" name="日付プレースホルダー 2"/>
          <p:cNvSpPr>
            <a:spLocks noGrp="1"/>
          </p:cNvSpPr>
          <p:nvPr>
            <p:ph type="dt" sz="quarter" idx="1"/>
          </p:nvPr>
        </p:nvSpPr>
        <p:spPr>
          <a:xfrm>
            <a:off x="3849689" y="0"/>
            <a:ext cx="2946400" cy="496888"/>
          </a:xfrm>
          <a:prstGeom prst="rect">
            <a:avLst/>
          </a:prstGeom>
        </p:spPr>
        <p:txBody>
          <a:bodyPr vert="horz" lIns="91430" tIns="45716" rIns="91430" bIns="45716" rtlCol="0"/>
          <a:lstStyle>
            <a:lvl1pPr algn="r">
              <a:defRPr sz="1200"/>
            </a:lvl1pPr>
          </a:lstStyle>
          <a:p>
            <a:fld id="{D5CF7B6E-06F8-4EA4-9972-29E59E3DA8F7}" type="datetimeFigureOut">
              <a:rPr kumimoji="1" lang="ja-JP" altLang="en-US" smtClean="0"/>
              <a:t>2026/9/3</a:t>
            </a:fld>
            <a:endParaRPr kumimoji="1" lang="ja-JP" altLang="en-US"/>
          </a:p>
        </p:txBody>
      </p:sp>
      <p:sp>
        <p:nvSpPr>
          <p:cNvPr id="4" name="フッター プレースホルダー 3"/>
          <p:cNvSpPr>
            <a:spLocks noGrp="1"/>
          </p:cNvSpPr>
          <p:nvPr>
            <p:ph type="ftr" sz="quarter" idx="2"/>
          </p:nvPr>
        </p:nvSpPr>
        <p:spPr>
          <a:xfrm>
            <a:off x="0" y="9429751"/>
            <a:ext cx="2946400" cy="496888"/>
          </a:xfrm>
          <a:prstGeom prst="rect">
            <a:avLst/>
          </a:prstGeom>
        </p:spPr>
        <p:txBody>
          <a:bodyPr vert="horz" lIns="91430" tIns="45716" rIns="91430" bIns="45716"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49689" y="9429751"/>
            <a:ext cx="2946400" cy="496888"/>
          </a:xfrm>
          <a:prstGeom prst="rect">
            <a:avLst/>
          </a:prstGeom>
        </p:spPr>
        <p:txBody>
          <a:bodyPr vert="horz" lIns="91430" tIns="45716" rIns="91430" bIns="45716" rtlCol="0" anchor="b"/>
          <a:lstStyle>
            <a:lvl1pPr algn="r">
              <a:defRPr sz="1200"/>
            </a:lvl1pPr>
          </a:lstStyle>
          <a:p>
            <a:fld id="{CAB48240-D91F-4129-BF79-2A71E83D0D37}" type="slidenum">
              <a:rPr kumimoji="1" lang="ja-JP" altLang="en-US" smtClean="0"/>
              <a:t>‹#›</a:t>
            </a:fld>
            <a:endParaRPr kumimoji="1" lang="ja-JP" altLang="en-US"/>
          </a:p>
        </p:txBody>
      </p:sp>
    </p:spTree>
    <p:extLst>
      <p:ext uri="{BB962C8B-B14F-4D97-AF65-F5344CB8AC3E}">
        <p14:creationId xmlns:p14="http://schemas.microsoft.com/office/powerpoint/2010/main" val="295797406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46400" cy="496888"/>
          </a:xfrm>
          <a:prstGeom prst="rect">
            <a:avLst/>
          </a:prstGeom>
        </p:spPr>
        <p:txBody>
          <a:bodyPr vert="horz" lIns="91430" tIns="45716" rIns="91430" bIns="45716" rtlCol="0"/>
          <a:lstStyle>
            <a:lvl1pPr algn="l">
              <a:defRPr sz="1200"/>
            </a:lvl1pPr>
          </a:lstStyle>
          <a:p>
            <a:endParaRPr kumimoji="1" lang="ja-JP" altLang="en-US"/>
          </a:p>
        </p:txBody>
      </p:sp>
      <p:sp>
        <p:nvSpPr>
          <p:cNvPr id="3" name="日付プレースホルダー 2"/>
          <p:cNvSpPr>
            <a:spLocks noGrp="1"/>
          </p:cNvSpPr>
          <p:nvPr>
            <p:ph type="dt" idx="1"/>
          </p:nvPr>
        </p:nvSpPr>
        <p:spPr>
          <a:xfrm>
            <a:off x="3849689" y="0"/>
            <a:ext cx="2946400" cy="496888"/>
          </a:xfrm>
          <a:prstGeom prst="rect">
            <a:avLst/>
          </a:prstGeom>
        </p:spPr>
        <p:txBody>
          <a:bodyPr vert="horz" lIns="91430" tIns="45716" rIns="91430" bIns="45716" rtlCol="0"/>
          <a:lstStyle>
            <a:lvl1pPr algn="r">
              <a:defRPr sz="1200"/>
            </a:lvl1pPr>
          </a:lstStyle>
          <a:p>
            <a:fld id="{FE9E4F50-57D5-4638-8961-5783F5566392}" type="datetimeFigureOut">
              <a:rPr kumimoji="1" lang="ja-JP" altLang="en-US" smtClean="0"/>
              <a:t>2026/9/3</a:t>
            </a:fld>
            <a:endParaRPr kumimoji="1" lang="ja-JP" altLang="en-US"/>
          </a:p>
        </p:txBody>
      </p:sp>
      <p:sp>
        <p:nvSpPr>
          <p:cNvPr id="4" name="スライド イメージ プレースホルダー 3"/>
          <p:cNvSpPr>
            <a:spLocks noGrp="1" noRot="1" noChangeAspect="1"/>
          </p:cNvSpPr>
          <p:nvPr>
            <p:ph type="sldImg" idx="2"/>
          </p:nvPr>
        </p:nvSpPr>
        <p:spPr>
          <a:xfrm>
            <a:off x="422275" y="1241425"/>
            <a:ext cx="5953125" cy="3349625"/>
          </a:xfrm>
          <a:prstGeom prst="rect">
            <a:avLst/>
          </a:prstGeom>
          <a:noFill/>
          <a:ln w="12700">
            <a:solidFill>
              <a:prstClr val="black"/>
            </a:solidFill>
          </a:ln>
        </p:spPr>
        <p:txBody>
          <a:bodyPr vert="horz" lIns="91430" tIns="45716" rIns="91430" bIns="45716" rtlCol="0" anchor="ctr"/>
          <a:lstStyle/>
          <a:p>
            <a:endParaRPr lang="ja-JP" altLang="en-US"/>
          </a:p>
        </p:txBody>
      </p:sp>
      <p:sp>
        <p:nvSpPr>
          <p:cNvPr id="5" name="ノート プレースホルダー 4"/>
          <p:cNvSpPr>
            <a:spLocks noGrp="1"/>
          </p:cNvSpPr>
          <p:nvPr>
            <p:ph type="body" sz="quarter" idx="3"/>
          </p:nvPr>
        </p:nvSpPr>
        <p:spPr>
          <a:xfrm>
            <a:off x="679451" y="4776788"/>
            <a:ext cx="5438775" cy="3908425"/>
          </a:xfrm>
          <a:prstGeom prst="rect">
            <a:avLst/>
          </a:prstGeom>
        </p:spPr>
        <p:txBody>
          <a:bodyPr vert="horz" lIns="91430" tIns="45716" rIns="91430" bIns="45716"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9429751"/>
            <a:ext cx="2946400" cy="496888"/>
          </a:xfrm>
          <a:prstGeom prst="rect">
            <a:avLst/>
          </a:prstGeom>
        </p:spPr>
        <p:txBody>
          <a:bodyPr vert="horz" lIns="91430" tIns="45716" rIns="91430" bIns="45716"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49689" y="9429751"/>
            <a:ext cx="2946400" cy="496888"/>
          </a:xfrm>
          <a:prstGeom prst="rect">
            <a:avLst/>
          </a:prstGeom>
        </p:spPr>
        <p:txBody>
          <a:bodyPr vert="horz" lIns="91430" tIns="45716" rIns="91430" bIns="45716" rtlCol="0" anchor="b"/>
          <a:lstStyle>
            <a:lvl1pPr algn="r">
              <a:defRPr sz="1200"/>
            </a:lvl1pPr>
          </a:lstStyle>
          <a:p>
            <a:fld id="{0E1B736C-7E22-4286-9492-6D135922483F}" type="slidenum">
              <a:rPr kumimoji="1" lang="ja-JP" altLang="en-US" smtClean="0"/>
              <a:t>‹#›</a:t>
            </a:fld>
            <a:endParaRPr kumimoji="1" lang="ja-JP" altLang="en-US"/>
          </a:p>
        </p:txBody>
      </p:sp>
    </p:spTree>
    <p:extLst>
      <p:ext uri="{BB962C8B-B14F-4D97-AF65-F5344CB8AC3E}">
        <p14:creationId xmlns:p14="http://schemas.microsoft.com/office/powerpoint/2010/main" val="281029248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Mục tiêu của ứng dụng này là phát hiện lỗi trước khi nó thực sự xảy ra.</a:t>
            </a:r>
          </a:p>
          <a:p>
            <a:r>
              <a:rPr lang="vi-VN"/>
              <a:t>Bước một, hệ thống thu thập thông số của linh kiện đơn, được quản lý theo từng lot trước khi lắp ráp vào Unit.</a:t>
            </a:r>
          </a:p>
          <a:p>
            <a:r>
              <a:rPr lang="vi-VN"/>
              <a:t>Bước hai, sau khi Unit được lắp hoàn chỉnh và đưa vào jig, dữ liệu đo trên jig được ghi nhận và gắn với đúng lot linh kiện đã sử dụng.</a:t>
            </a:r>
          </a:p>
          <a:p>
            <a:r>
              <a:rPr lang="vi-VN"/>
              <a:t>Bước ba, AI đối chiếu tương quan giữa thông số linh kiện của từng lot và biến đổi dữ liệu jig tương ứng, dựa trên tri thức kỹ thuật đã được học.</a:t>
            </a:r>
          </a:p>
          <a:p>
            <a:r>
              <a:rPr lang="vi-VN"/>
              <a:t>Bước bốn, khi dữ liệu jig có xu hướng dịch dần về mức NG, hệ thống đưa ra dự đoán và cảnh báo sớm cho lot đó.</a:t>
            </a:r>
          </a:p>
          <a:p>
            <a:r>
              <a:rPr lang="vi-VN"/>
              <a:t>Nhờ vậy, chúng ta có thể can thiệp trước khi hàng NG phát sinh, thay vì chỉ phát hiện sau khi đã kiểm tra xong.</a:t>
            </a:r>
            <a:endParaRPr lang="en-US"/>
          </a:p>
        </p:txBody>
      </p:sp>
      <p:sp>
        <p:nvSpPr>
          <p:cNvPr id="4" name="Slide Number Placeholder 3"/>
          <p:cNvSpPr>
            <a:spLocks noGrp="1"/>
          </p:cNvSpPr>
          <p:nvPr>
            <p:ph type="sldNum" sz="quarter" idx="5"/>
          </p:nvPr>
        </p:nvSpPr>
        <p:spPr/>
        <p:txBody>
          <a:bodyPr/>
          <a:lstStyle/>
          <a:p>
            <a:fld id="{0E1B736C-7E22-4286-9492-6D135922483F}" type="slidenum">
              <a:rPr kumimoji="1" lang="ja-JP" altLang="en-US" smtClean="0"/>
              <a:t>1</a:t>
            </a:fld>
            <a:endParaRPr kumimoji="1" lang="ja-JP" altLang="en-US"/>
          </a:p>
        </p:txBody>
      </p:sp>
    </p:spTree>
    <p:extLst>
      <p:ext uri="{BB962C8B-B14F-4D97-AF65-F5344CB8AC3E}">
        <p14:creationId xmlns:p14="http://schemas.microsoft.com/office/powerpoint/2010/main" val="35195699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E1B736C-7E22-4286-9492-6D135922483F}" type="slidenum">
              <a:rPr kumimoji="1" lang="ja-JP" altLang="en-US" smtClean="0"/>
              <a:t>2</a:t>
            </a:fld>
            <a:endParaRPr kumimoji="1" lang="ja-JP" altLang="en-US"/>
          </a:p>
        </p:txBody>
      </p:sp>
    </p:spTree>
    <p:extLst>
      <p:ext uri="{BB962C8B-B14F-4D97-AF65-F5344CB8AC3E}">
        <p14:creationId xmlns:p14="http://schemas.microsoft.com/office/powerpoint/2010/main" val="264754524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Bước 2 tập trung vào dữ liệu. Thông số linh kiện nhựa được đo và quản lý theo từng lot. Sau khi lắp ráp, dữ liệu kiểm tra trên jig được ghi nhận tự động và gắn với đúng lot linh kiện đã dùng. Nhờ liên kết này, mọi kết quả đo đều truy ngược được về nguồn gốc linh kiện.</a:t>
            </a:r>
            <a:endParaRPr lang="en-US"/>
          </a:p>
        </p:txBody>
      </p:sp>
      <p:sp>
        <p:nvSpPr>
          <p:cNvPr id="4" name="Slide Number Placeholder 3"/>
          <p:cNvSpPr>
            <a:spLocks noGrp="1"/>
          </p:cNvSpPr>
          <p:nvPr>
            <p:ph type="sldNum" sz="quarter" idx="5"/>
          </p:nvPr>
        </p:nvSpPr>
        <p:spPr/>
        <p:txBody>
          <a:bodyPr/>
          <a:lstStyle/>
          <a:p>
            <a:fld id="{0E1B736C-7E22-4286-9492-6D135922483F}" type="slidenum">
              <a:rPr kumimoji="1" lang="ja-JP" altLang="en-US" smtClean="0"/>
              <a:t>3</a:t>
            </a:fld>
            <a:endParaRPr kumimoji="1" lang="ja-JP" altLang="en-US"/>
          </a:p>
        </p:txBody>
      </p:sp>
    </p:spTree>
    <p:extLst>
      <p:ext uri="{BB962C8B-B14F-4D97-AF65-F5344CB8AC3E}">
        <p14:creationId xmlns:p14="http://schemas.microsoft.com/office/powerpoint/2010/main" val="34175286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Bước 3 là huấn luyện AI. Mô hình học tương quan giữa thông số linh kiện và biến động dữ liệu jig, từ đó thiết lập ngưỡng cảnh báo trước khi chạm mức NG. Mô hình được kiểm chứng lại trên dữ liệu lỗi trong quá khứ để đánh giá độ chính xác.</a:t>
            </a:r>
            <a:endParaRPr lang="en-US"/>
          </a:p>
        </p:txBody>
      </p:sp>
      <p:sp>
        <p:nvSpPr>
          <p:cNvPr id="4" name="Slide Number Placeholder 3"/>
          <p:cNvSpPr>
            <a:spLocks noGrp="1"/>
          </p:cNvSpPr>
          <p:nvPr>
            <p:ph type="sldNum" sz="quarter" idx="5"/>
          </p:nvPr>
        </p:nvSpPr>
        <p:spPr/>
        <p:txBody>
          <a:bodyPr/>
          <a:lstStyle/>
          <a:p>
            <a:fld id="{0E1B736C-7E22-4286-9492-6D135922483F}" type="slidenum">
              <a:rPr kumimoji="1" lang="ja-JP" altLang="en-US" smtClean="0"/>
              <a:t>4</a:t>
            </a:fld>
            <a:endParaRPr kumimoji="1" lang="ja-JP" altLang="en-US"/>
          </a:p>
        </p:txBody>
      </p:sp>
    </p:spTree>
    <p:extLst>
      <p:ext uri="{BB962C8B-B14F-4D97-AF65-F5344CB8AC3E}">
        <p14:creationId xmlns:p14="http://schemas.microsoft.com/office/powerpoint/2010/main" val="315977280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Bước 4 là chạy thử tại hiện trường. Hệ thống cảnh báo trên các lot đang sản xuất, kết quả cảnh báo được đối chiếu với kết quả đo thực tế. Dữ liệu mới tiếp tục được đưa vào để hiệu chỉnh ngưỡng, giúp mô hình ngày càng chính xác hơn.</a:t>
            </a:r>
            <a:endParaRPr lang="en-US"/>
          </a:p>
        </p:txBody>
      </p:sp>
      <p:sp>
        <p:nvSpPr>
          <p:cNvPr id="4" name="Slide Number Placeholder 3"/>
          <p:cNvSpPr>
            <a:spLocks noGrp="1"/>
          </p:cNvSpPr>
          <p:nvPr>
            <p:ph type="sldNum" sz="quarter" idx="5"/>
          </p:nvPr>
        </p:nvSpPr>
        <p:spPr/>
        <p:txBody>
          <a:bodyPr/>
          <a:lstStyle/>
          <a:p>
            <a:fld id="{0E1B736C-7E22-4286-9492-6D135922483F}" type="slidenum">
              <a:rPr kumimoji="1" lang="ja-JP" altLang="en-US" smtClean="0"/>
              <a:t>5</a:t>
            </a:fld>
            <a:endParaRPr kumimoji="1" lang="ja-JP" altLang="en-US"/>
          </a:p>
        </p:txBody>
      </p:sp>
    </p:spTree>
    <p:extLst>
      <p:ext uri="{BB962C8B-B14F-4D97-AF65-F5344CB8AC3E}">
        <p14:creationId xmlns:p14="http://schemas.microsoft.com/office/powerpoint/2010/main" val="284491607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白紙">
    <p:spTree>
      <p:nvGrpSpPr>
        <p:cNvPr id="1" name=""/>
        <p:cNvGrpSpPr/>
        <p:nvPr/>
      </p:nvGrpSpPr>
      <p:grpSpPr>
        <a:xfrm>
          <a:off x="0" y="0"/>
          <a:ext cx="0" cy="0"/>
          <a:chOff x="0" y="0"/>
          <a:chExt cx="0" cy="0"/>
        </a:xfrm>
      </p:grpSpPr>
      <p:pic>
        <p:nvPicPr>
          <p:cNvPr id="2" name="Picture 9">
            <a:extLst>
              <a:ext uri="{FF2B5EF4-FFF2-40B4-BE49-F238E27FC236}">
                <a16:creationId xmlns:a16="http://schemas.microsoft.com/office/drawing/2014/main" id="{F114BEFE-30F4-06E8-6BE0-619CDBC06F00}"/>
              </a:ext>
            </a:extLst>
          </p:cNvPr>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180327" y="6523613"/>
            <a:ext cx="1032653" cy="227114"/>
          </a:xfrm>
          <a:prstGeom prst="rect">
            <a:avLst/>
          </a:prstGeom>
          <a:noFill/>
          <a:ln>
            <a:noFill/>
          </a:ln>
        </p:spPr>
      </p:pic>
    </p:spTree>
    <p:extLst>
      <p:ext uri="{BB962C8B-B14F-4D97-AF65-F5344CB8AC3E}">
        <p14:creationId xmlns:p14="http://schemas.microsoft.com/office/powerpoint/2010/main" val="1580760372"/>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Title Placeholder 1"/>
          <p:cNvSpPr>
            <a:spLocks noGrp="1"/>
          </p:cNvSpPr>
          <p:nvPr>
            <p:ph type="title"/>
          </p:nvPr>
        </p:nvSpPr>
        <p:spPr>
          <a:xfrm>
            <a:off x="527999" y="11832"/>
            <a:ext cx="11160840" cy="423341"/>
          </a:xfrm>
          <a:prstGeom prst="rect">
            <a:avLst/>
          </a:prstGeom>
        </p:spPr>
        <p:txBody>
          <a:bodyPr vert="horz" lIns="0" tIns="0" rIns="0" bIns="0" rtlCol="0" anchor="t" anchorCtr="0">
            <a:noAutofit/>
          </a:bodyPr>
          <a:lstStyle/>
          <a:p>
            <a:r>
              <a:rPr lang="ja-JP" altLang="en-US"/>
              <a:t>マスター タイトルの書式設定</a:t>
            </a:r>
            <a:endParaRPr lang="en-GB"/>
          </a:p>
        </p:txBody>
      </p:sp>
      <p:sp>
        <p:nvSpPr>
          <p:cNvPr id="8" name="Text Placeholder 2"/>
          <p:cNvSpPr>
            <a:spLocks noGrp="1"/>
          </p:cNvSpPr>
          <p:nvPr>
            <p:ph type="body" idx="1"/>
          </p:nvPr>
        </p:nvSpPr>
        <p:spPr>
          <a:xfrm>
            <a:off x="528001" y="1588958"/>
            <a:ext cx="11160839" cy="4062543"/>
          </a:xfrm>
          <a:prstGeom prst="rect">
            <a:avLst/>
          </a:prstGeom>
        </p:spPr>
        <p:txBody>
          <a:bodyPr vert="horz" lIns="0" tIns="0" rIns="0" bIns="0" rtlCol="0">
            <a:no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GB"/>
          </a:p>
        </p:txBody>
      </p:sp>
      <p:sp>
        <p:nvSpPr>
          <p:cNvPr id="4" name="Slide Number Placeholder 5">
            <a:extLst>
              <a:ext uri="{FF2B5EF4-FFF2-40B4-BE49-F238E27FC236}">
                <a16:creationId xmlns:a16="http://schemas.microsoft.com/office/drawing/2014/main" id="{95723448-76E8-5A7D-4CE3-76075F2E9F20}"/>
              </a:ext>
            </a:extLst>
          </p:cNvPr>
          <p:cNvSpPr txBox="1">
            <a:spLocks/>
          </p:cNvSpPr>
          <p:nvPr userDrawn="1"/>
        </p:nvSpPr>
        <p:spPr>
          <a:xfrm>
            <a:off x="11358465" y="6505328"/>
            <a:ext cx="666276" cy="374975"/>
          </a:xfrm>
          <a:prstGeom prst="rect">
            <a:avLst/>
          </a:prstGeom>
        </p:spPr>
        <p:txBody>
          <a:bodyPr vert="horz" lIns="0" tIns="0" rIns="0" bIns="0" rtlCol="0" anchor="t" anchorCtr="0"/>
          <a:lstStyle>
            <a:defPPr>
              <a:defRPr lang="en-US"/>
            </a:defPPr>
            <a:lvl1pPr marL="0" algn="r"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A3381702-59A5-4643-AE93-D7BF7F78153B}" type="slidenum">
              <a:rPr lang="en-GB" sz="1800" smtClean="0">
                <a:solidFill>
                  <a:prstClr val="black"/>
                </a:solidFill>
                <a:latin typeface="Meiryo UI"/>
                <a:ea typeface="Meiryo UI"/>
              </a:rPr>
              <a:pPr/>
              <a:t>‹#›</a:t>
            </a:fld>
            <a:endParaRPr lang="en-GB" sz="1800">
              <a:solidFill>
                <a:prstClr val="black"/>
              </a:solidFill>
              <a:latin typeface="Meiryo UI"/>
              <a:ea typeface="Meiryo UI"/>
            </a:endParaRPr>
          </a:p>
        </p:txBody>
      </p:sp>
      <p:sp>
        <p:nvSpPr>
          <p:cNvPr id="5" name="Footer Placeholder 4">
            <a:extLst>
              <a:ext uri="{FF2B5EF4-FFF2-40B4-BE49-F238E27FC236}">
                <a16:creationId xmlns:a16="http://schemas.microsoft.com/office/drawing/2014/main" id="{A33C1039-6B15-6CA8-3AE4-652276463C67}"/>
              </a:ext>
            </a:extLst>
          </p:cNvPr>
          <p:cNvSpPr txBox="1">
            <a:spLocks/>
          </p:cNvSpPr>
          <p:nvPr userDrawn="1"/>
        </p:nvSpPr>
        <p:spPr>
          <a:xfrm>
            <a:off x="7635268" y="6575094"/>
            <a:ext cx="3837497" cy="216000"/>
          </a:xfrm>
          <a:prstGeom prst="rect">
            <a:avLst/>
          </a:prstGeom>
        </p:spPr>
        <p:txBody>
          <a:bodyPr vert="horz" lIns="0" tIns="0" rIns="0" bIns="0" rtlCol="0" anchor="ctr" anchorCtr="0"/>
          <a:lstStyle>
            <a:defPPr>
              <a:defRPr lang="en-US"/>
            </a:defPPr>
            <a:lvl1pPr marL="0" algn="r" defTabSz="457200" rtl="0" eaLnBrk="1" latinLnBrk="0" hangingPunct="1">
              <a:defRPr sz="7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fr-FR" altLang="ja-JP" sz="700">
                <a:solidFill>
                  <a:prstClr val="black"/>
                </a:solidFill>
                <a:latin typeface="Meiryo UI"/>
                <a:ea typeface="Meiryo UI"/>
              </a:rPr>
              <a:t>©20</a:t>
            </a:r>
            <a:r>
              <a:rPr lang="en-US" altLang="ja-JP" sz="700">
                <a:solidFill>
                  <a:prstClr val="black"/>
                </a:solidFill>
                <a:latin typeface="Meiryo UI"/>
                <a:ea typeface="Meiryo UI"/>
              </a:rPr>
              <a:t>26</a:t>
            </a:r>
            <a:r>
              <a:rPr lang="fr-FR" altLang="ja-JP" sz="700">
                <a:solidFill>
                  <a:prstClr val="black"/>
                </a:solidFill>
                <a:latin typeface="Meiryo UI"/>
                <a:ea typeface="Meiryo UI"/>
              </a:rPr>
              <a:t> KYOCERA Document Solutions Inc.</a:t>
            </a:r>
            <a:endParaRPr lang="en-GB" sz="700">
              <a:solidFill>
                <a:prstClr val="black"/>
              </a:solidFill>
              <a:latin typeface="Meiryo UI"/>
              <a:ea typeface="Meiryo UI"/>
            </a:endParaRPr>
          </a:p>
        </p:txBody>
      </p:sp>
    </p:spTree>
    <p:extLst>
      <p:ext uri="{BB962C8B-B14F-4D97-AF65-F5344CB8AC3E}">
        <p14:creationId xmlns:p14="http://schemas.microsoft.com/office/powerpoint/2010/main" val="2952492359"/>
      </p:ext>
    </p:extLst>
  </p:cSld>
  <p:clrMap bg1="lt1" tx1="dk1" bg2="lt2" tx2="dk2" accent1="accent1" accent2="accent2" accent3="accent3" accent4="accent4" accent5="accent5" accent6="accent6" hlink="hlink" folHlink="folHlink"/>
  <p:sldLayoutIdLst>
    <p:sldLayoutId id="2147483689" r:id="rId1"/>
  </p:sldLayoutIdLst>
  <p:hf hdr="0" dt="0"/>
  <p:txStyles>
    <p:titleStyle>
      <a:lvl1pPr algn="ctr" defTabSz="914400" rtl="0" eaLnBrk="1" latinLnBrk="0" hangingPunct="1">
        <a:lnSpc>
          <a:spcPct val="90000"/>
        </a:lnSpc>
        <a:spcBef>
          <a:spcPct val="0"/>
        </a:spcBef>
        <a:buNone/>
        <a:defRPr kumimoji="1" sz="24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1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16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7"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15.jpeg"/><Relationship Id="rId5" Type="http://schemas.openxmlformats.org/officeDocument/2006/relationships/image" Target="../media/image14.png"/><Relationship Id="rId4" Type="http://schemas.openxmlformats.org/officeDocument/2006/relationships/image" Target="../media/image13.png"/></Relationships>
</file>

<file path=ppt/slides/_rels/slide4.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9.jpeg"/><Relationship Id="rId5" Type="http://schemas.openxmlformats.org/officeDocument/2006/relationships/image" Target="../media/image18.png"/><Relationship Id="rId4" Type="http://schemas.openxmlformats.org/officeDocument/2006/relationships/image" Target="../media/image17.png"/></Relationships>
</file>

<file path=ppt/slides/_rels/slide5.xml.rels><?xml version="1.0" encoding="UTF-8" standalone="yes"?>
<Relationships xmlns="http://schemas.openxmlformats.org/package/2006/relationships"><Relationship Id="rId3" Type="http://schemas.openxmlformats.org/officeDocument/2006/relationships/image" Target="../media/image20.png"/><Relationship Id="rId7"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23.jpeg"/><Relationship Id="rId5" Type="http://schemas.openxmlformats.org/officeDocument/2006/relationships/image" Target="../media/image22.png"/><Relationship Id="rId4" Type="http://schemas.openxmlformats.org/officeDocument/2006/relationships/image" Target="../media/image2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4"/>
          <p:cNvSpPr txBox="1"/>
          <p:nvPr/>
        </p:nvSpPr>
        <p:spPr>
          <a:xfrm>
            <a:off x="290285" y="1057860"/>
            <a:ext cx="11400000" cy="520000"/>
          </a:xfrm>
          <a:prstGeom prst="roundRect">
            <a:avLst>
              <a:gd name="adj" fmla="val 22000"/>
            </a:avLst>
          </a:prstGeom>
          <a:gradFill rotWithShape="1">
            <a:gsLst>
              <a:gs pos="0">
                <a:srgbClr val="1B1464"/>
              </a:gs>
              <a:gs pos="100000">
                <a:srgbClr val="3C2BC8"/>
              </a:gs>
            </a:gsLst>
            <a:lin ang="0" scaled="0"/>
          </a:gradFill>
        </p:spPr>
        <p:txBody>
          <a:bodyPr wrap="square" lIns="228600" tIns="0" rIns="114300" bIns="0" anchor="ctr">
            <a:normAutofit/>
          </a:bodyPr>
          <a:lstStyle/>
          <a:p>
            <a:pPr algn="l">
              <a:lnSpc>
                <a:spcPct val="100000"/>
              </a:lnSpc>
              <a:spcBef>
                <a:spcPts val="0"/>
              </a:spcBef>
            </a:pPr>
            <a:r>
              <a:rPr lang="vi-VN" sz="1600" b="1">
                <a:solidFill>
                  <a:srgbClr val="FFFFFF"/>
                </a:solidFill>
              </a:rPr>
              <a:t>Mô hình hoạt động: AI đối chiếu thông số linh kiện theo lot với dữ liệu jig để cảnh báo sớm nguy cơ NG</a:t>
            </a:r>
          </a:p>
        </p:txBody>
      </p:sp>
      <p:sp>
        <p:nvSpPr>
          <p:cNvPr id="300" name="Arrow0"/>
          <p:cNvSpPr/>
          <p:nvPr/>
        </p:nvSpPr>
        <p:spPr>
          <a:xfrm>
            <a:off x="880000" y="2450000"/>
            <a:ext cx="260000" cy="400000"/>
          </a:xfrm>
          <a:prstGeom prst="downArrow">
            <a:avLst>
              <a:gd name="adj1" fmla="val 50000"/>
              <a:gd name="adj2" fmla="val 50000"/>
            </a:avLst>
          </a:prstGeom>
          <a:solidFill>
            <a:srgbClr val="B9B4E0"/>
          </a:solidFill>
          <a:ln>
            <a:noFill/>
          </a:ln>
        </p:spPr>
        <p:txBody>
          <a:bodyPr/>
          <a:lstStyle/>
          <a:p>
            <a:endParaRPr lang="vi-VN"/>
          </a:p>
        </p:txBody>
      </p:sp>
      <p:sp>
        <p:nvSpPr>
          <p:cNvPr id="301" name="Arrow1"/>
          <p:cNvSpPr/>
          <p:nvPr/>
        </p:nvSpPr>
        <p:spPr>
          <a:xfrm>
            <a:off x="880000" y="3530000"/>
            <a:ext cx="260000" cy="400000"/>
          </a:xfrm>
          <a:prstGeom prst="downArrow">
            <a:avLst>
              <a:gd name="adj1" fmla="val 50000"/>
              <a:gd name="adj2" fmla="val 50000"/>
            </a:avLst>
          </a:prstGeom>
          <a:solidFill>
            <a:srgbClr val="B9B4E0"/>
          </a:solidFill>
          <a:ln>
            <a:noFill/>
          </a:ln>
        </p:spPr>
        <p:txBody>
          <a:bodyPr/>
          <a:lstStyle/>
          <a:p>
            <a:endParaRPr lang="vi-VN"/>
          </a:p>
        </p:txBody>
      </p:sp>
      <p:sp>
        <p:nvSpPr>
          <p:cNvPr id="302" name="Arrow2"/>
          <p:cNvSpPr/>
          <p:nvPr/>
        </p:nvSpPr>
        <p:spPr>
          <a:xfrm>
            <a:off x="880000" y="4610000"/>
            <a:ext cx="260000" cy="400000"/>
          </a:xfrm>
          <a:prstGeom prst="downArrow">
            <a:avLst>
              <a:gd name="adj1" fmla="val 50000"/>
              <a:gd name="adj2" fmla="val 50000"/>
            </a:avLst>
          </a:prstGeom>
          <a:solidFill>
            <a:srgbClr val="B9B4E0"/>
          </a:solidFill>
          <a:ln>
            <a:noFill/>
          </a:ln>
        </p:spPr>
        <p:txBody>
          <a:bodyPr/>
          <a:lstStyle/>
          <a:p>
            <a:endParaRPr lang="vi-VN"/>
          </a:p>
        </p:txBody>
      </p:sp>
      <p:sp>
        <p:nvSpPr>
          <p:cNvPr id="100" name="S100"/>
          <p:cNvSpPr/>
          <p:nvPr/>
        </p:nvSpPr>
        <p:spPr>
          <a:xfrm>
            <a:off x="1400000" y="1650000"/>
            <a:ext cx="7600000" cy="920000"/>
          </a:xfrm>
          <a:prstGeom prst="roundRect">
            <a:avLst>
              <a:gd name="adj" fmla="val 9000"/>
            </a:avLst>
          </a:prstGeom>
          <a:solidFill>
            <a:srgbClr val="FFFFFF"/>
          </a:solidFill>
          <a:ln w="9525">
            <a:solidFill>
              <a:srgbClr val="DCDEF2"/>
            </a:solidFill>
          </a:ln>
        </p:spPr>
        <p:txBody>
          <a:bodyPr/>
          <a:lstStyle/>
          <a:p>
            <a:endParaRPr lang="vi-VN"/>
          </a:p>
        </p:txBody>
      </p:sp>
      <p:pic>
        <p:nvPicPr>
          <p:cNvPr id="101" name="I101"/>
          <p:cNvPicPr>
            <a:picLocks noChangeAspect="1"/>
          </p:cNvPicPr>
          <p:nvPr/>
        </p:nvPicPr>
        <p:blipFill>
          <a:blip r:embed="rId3"/>
          <a:stretch>
            <a:fillRect/>
          </a:stretch>
        </p:blipFill>
        <p:spPr>
          <a:xfrm>
            <a:off x="1620000" y="1800000"/>
            <a:ext cx="620000" cy="620000"/>
          </a:xfrm>
          <a:prstGeom prst="rect">
            <a:avLst/>
          </a:prstGeom>
        </p:spPr>
      </p:pic>
      <p:sp>
        <p:nvSpPr>
          <p:cNvPr id="102" name="T102"/>
          <p:cNvSpPr txBox="1">
            <a:spLocks/>
          </p:cNvSpPr>
          <p:nvPr/>
        </p:nvSpPr>
        <p:spPr>
          <a:xfrm>
            <a:off x="2420000" y="1800000"/>
            <a:ext cx="3000000" cy="620000"/>
          </a:xfrm>
          <a:prstGeom prst="rect">
            <a:avLst/>
          </a:prstGeom>
          <a:noFill/>
        </p:spPr>
        <p:txBody>
          <a:bodyPr wrap="square" lIns="0" tIns="0" rIns="0" bIns="0" anchor="ctr">
            <a:normAutofit/>
          </a:bodyPr>
          <a:lstStyle/>
          <a:p>
            <a:pPr algn="l">
              <a:lnSpc>
                <a:spcPct val="100000"/>
              </a:lnSpc>
              <a:spcBef>
                <a:spcPts val="0"/>
              </a:spcBef>
            </a:pPr>
            <a:r>
              <a:rPr lang="vi-VN" sz="1300" b="1" dirty="0">
                <a:solidFill>
                  <a:srgbClr val="2E1C9E"/>
                </a:solidFill>
              </a:rPr>
              <a:t>Đầu vào</a:t>
            </a:r>
          </a:p>
        </p:txBody>
      </p:sp>
      <p:sp>
        <p:nvSpPr>
          <p:cNvPr id="103" name="T103"/>
          <p:cNvSpPr txBox="1"/>
          <p:nvPr/>
        </p:nvSpPr>
        <p:spPr>
          <a:xfrm>
            <a:off x="5600000" y="1800000"/>
            <a:ext cx="3300000" cy="620000"/>
          </a:xfrm>
          <a:prstGeom prst="rect">
            <a:avLst/>
          </a:prstGeom>
          <a:noFill/>
        </p:spPr>
        <p:txBody>
          <a:bodyPr wrap="square" lIns="0" tIns="0" rIns="0" bIns="0" anchor="ctr">
            <a:normAutofit/>
          </a:bodyPr>
          <a:lstStyle/>
          <a:p>
            <a:pPr algn="l">
              <a:lnSpc>
                <a:spcPct val="100000"/>
              </a:lnSpc>
              <a:spcBef>
                <a:spcPts val="0"/>
              </a:spcBef>
            </a:pPr>
            <a:r>
              <a:rPr lang="vi-VN" sz="1300" b="0" dirty="0">
                <a:solidFill>
                  <a:srgbClr val="505050"/>
                </a:solidFill>
              </a:rPr>
              <a:t>Thông số linh kiện nhựa theo lot và dữ liệu check jig ứng với từng lot</a:t>
            </a:r>
          </a:p>
        </p:txBody>
      </p:sp>
      <p:sp>
        <p:nvSpPr>
          <p:cNvPr id="104" name="B01"/>
          <p:cNvSpPr>
            <a:spLocks/>
          </p:cNvSpPr>
          <p:nvPr/>
        </p:nvSpPr>
        <p:spPr>
          <a:xfrm>
            <a:off x="730000" y="1830000"/>
            <a:ext cx="560000" cy="560000"/>
          </a:xfrm>
          <a:prstGeom prst="ellipse">
            <a:avLst/>
          </a:prstGeom>
          <a:solidFill>
            <a:srgbClr val="2E1C9E"/>
          </a:solidFill>
          <a:ln w="38100">
            <a:solidFill>
              <a:srgbClr val="FFFFFF"/>
            </a:solidFill>
          </a:ln>
        </p:spPr>
        <p:txBody>
          <a:bodyPr wrap="none" anchor="ctr"/>
          <a:lstStyle/>
          <a:p>
            <a:pPr algn="ctr"/>
            <a:r>
              <a:rPr lang="en-US" sz="1400" b="1" dirty="0">
                <a:solidFill>
                  <a:srgbClr val="FFFFFF"/>
                </a:solidFill>
              </a:rPr>
              <a:t>01</a:t>
            </a:r>
          </a:p>
        </p:txBody>
      </p:sp>
      <p:sp>
        <p:nvSpPr>
          <p:cNvPr id="105" name="S105"/>
          <p:cNvSpPr/>
          <p:nvPr/>
        </p:nvSpPr>
        <p:spPr>
          <a:xfrm>
            <a:off x="1400000" y="2730000"/>
            <a:ext cx="7600000" cy="920000"/>
          </a:xfrm>
          <a:prstGeom prst="roundRect">
            <a:avLst>
              <a:gd name="adj" fmla="val 9000"/>
            </a:avLst>
          </a:prstGeom>
          <a:solidFill>
            <a:srgbClr val="FFFFFF"/>
          </a:solidFill>
          <a:ln w="9525">
            <a:solidFill>
              <a:srgbClr val="DCDEF2"/>
            </a:solidFill>
          </a:ln>
        </p:spPr>
        <p:txBody>
          <a:bodyPr/>
          <a:lstStyle/>
          <a:p>
            <a:endParaRPr lang="vi-VN"/>
          </a:p>
        </p:txBody>
      </p:sp>
      <p:pic>
        <p:nvPicPr>
          <p:cNvPr id="106" name="I106"/>
          <p:cNvPicPr>
            <a:picLocks noChangeAspect="1"/>
          </p:cNvPicPr>
          <p:nvPr/>
        </p:nvPicPr>
        <p:blipFill>
          <a:blip r:embed="rId4"/>
          <a:stretch>
            <a:fillRect/>
          </a:stretch>
        </p:blipFill>
        <p:spPr>
          <a:xfrm>
            <a:off x="1620000" y="2880000"/>
            <a:ext cx="620000" cy="620000"/>
          </a:xfrm>
          <a:prstGeom prst="rect">
            <a:avLst/>
          </a:prstGeom>
        </p:spPr>
      </p:pic>
      <p:sp>
        <p:nvSpPr>
          <p:cNvPr id="107" name="T107"/>
          <p:cNvSpPr txBox="1">
            <a:spLocks/>
          </p:cNvSpPr>
          <p:nvPr/>
        </p:nvSpPr>
        <p:spPr>
          <a:xfrm>
            <a:off x="2420000" y="2880000"/>
            <a:ext cx="3000000" cy="620000"/>
          </a:xfrm>
          <a:prstGeom prst="rect">
            <a:avLst/>
          </a:prstGeom>
          <a:noFill/>
        </p:spPr>
        <p:txBody>
          <a:bodyPr wrap="square" lIns="0" tIns="0" rIns="0" bIns="0" anchor="ctr">
            <a:normAutofit/>
          </a:bodyPr>
          <a:lstStyle/>
          <a:p>
            <a:pPr algn="l">
              <a:lnSpc>
                <a:spcPct val="100000"/>
              </a:lnSpc>
              <a:spcBef>
                <a:spcPts val="0"/>
              </a:spcBef>
            </a:pPr>
            <a:r>
              <a:rPr lang="vi-VN" sz="1300" b="1" dirty="0">
                <a:solidFill>
                  <a:srgbClr val="2E1C9E"/>
                </a:solidFill>
              </a:rPr>
              <a:t>Tra cứu và phân tích</a:t>
            </a:r>
          </a:p>
        </p:txBody>
      </p:sp>
      <p:sp>
        <p:nvSpPr>
          <p:cNvPr id="108" name="T108"/>
          <p:cNvSpPr txBox="1"/>
          <p:nvPr/>
        </p:nvSpPr>
        <p:spPr>
          <a:xfrm>
            <a:off x="5600000" y="2880000"/>
            <a:ext cx="3300000" cy="620000"/>
          </a:xfrm>
          <a:prstGeom prst="rect">
            <a:avLst/>
          </a:prstGeom>
          <a:noFill/>
        </p:spPr>
        <p:txBody>
          <a:bodyPr wrap="square" lIns="0" tIns="0" rIns="0" bIns="0" anchor="ctr">
            <a:normAutofit/>
          </a:bodyPr>
          <a:lstStyle/>
          <a:p>
            <a:pPr algn="l">
              <a:lnSpc>
                <a:spcPct val="100000"/>
              </a:lnSpc>
              <a:spcBef>
                <a:spcPts val="0"/>
              </a:spcBef>
            </a:pPr>
            <a:r>
              <a:rPr lang="vi-VN" sz="1300" b="0" dirty="0">
                <a:solidFill>
                  <a:srgbClr val="505050"/>
                </a:solidFill>
              </a:rPr>
              <a:t>AI đối chiếu tương quan giữa thông số linh kiện và biến đổi dữ liệu trên jig</a:t>
            </a:r>
          </a:p>
        </p:txBody>
      </p:sp>
      <p:sp>
        <p:nvSpPr>
          <p:cNvPr id="109" name="B02"/>
          <p:cNvSpPr>
            <a:spLocks/>
          </p:cNvSpPr>
          <p:nvPr/>
        </p:nvSpPr>
        <p:spPr>
          <a:xfrm>
            <a:off x="730000" y="2910000"/>
            <a:ext cx="560000" cy="560000"/>
          </a:xfrm>
          <a:prstGeom prst="ellipse">
            <a:avLst/>
          </a:prstGeom>
          <a:solidFill>
            <a:srgbClr val="11A0D8"/>
          </a:solidFill>
          <a:ln w="38100">
            <a:solidFill>
              <a:srgbClr val="FFFFFF"/>
            </a:solidFill>
          </a:ln>
        </p:spPr>
        <p:txBody>
          <a:bodyPr wrap="none" anchor="ctr"/>
          <a:lstStyle/>
          <a:p>
            <a:pPr algn="ctr"/>
            <a:r>
              <a:rPr lang="en-US" sz="1400" b="1" dirty="0">
                <a:solidFill>
                  <a:srgbClr val="FFFFFF"/>
                </a:solidFill>
              </a:rPr>
              <a:t>02</a:t>
            </a:r>
          </a:p>
        </p:txBody>
      </p:sp>
      <p:sp>
        <p:nvSpPr>
          <p:cNvPr id="110" name="S110"/>
          <p:cNvSpPr/>
          <p:nvPr/>
        </p:nvSpPr>
        <p:spPr>
          <a:xfrm>
            <a:off x="1400000" y="3810000"/>
            <a:ext cx="7600000" cy="920000"/>
          </a:xfrm>
          <a:prstGeom prst="roundRect">
            <a:avLst>
              <a:gd name="adj" fmla="val 9000"/>
            </a:avLst>
          </a:prstGeom>
          <a:solidFill>
            <a:srgbClr val="FFFFFF"/>
          </a:solidFill>
          <a:ln w="9525">
            <a:solidFill>
              <a:srgbClr val="DCDEF2"/>
            </a:solidFill>
          </a:ln>
        </p:spPr>
        <p:txBody>
          <a:bodyPr/>
          <a:lstStyle/>
          <a:p>
            <a:endParaRPr lang="vi-VN"/>
          </a:p>
        </p:txBody>
      </p:sp>
      <p:pic>
        <p:nvPicPr>
          <p:cNvPr id="111" name="I111"/>
          <p:cNvPicPr>
            <a:picLocks noChangeAspect="1"/>
          </p:cNvPicPr>
          <p:nvPr/>
        </p:nvPicPr>
        <p:blipFill>
          <a:blip r:embed="rId5"/>
          <a:stretch>
            <a:fillRect/>
          </a:stretch>
        </p:blipFill>
        <p:spPr>
          <a:xfrm>
            <a:off x="1620000" y="3960000"/>
            <a:ext cx="620000" cy="620000"/>
          </a:xfrm>
          <a:prstGeom prst="rect">
            <a:avLst/>
          </a:prstGeom>
        </p:spPr>
      </p:pic>
      <p:sp>
        <p:nvSpPr>
          <p:cNvPr id="112" name="T112"/>
          <p:cNvSpPr txBox="1">
            <a:spLocks/>
          </p:cNvSpPr>
          <p:nvPr/>
        </p:nvSpPr>
        <p:spPr>
          <a:xfrm>
            <a:off x="2420000" y="3960000"/>
            <a:ext cx="3000000" cy="620000"/>
          </a:xfrm>
          <a:prstGeom prst="rect">
            <a:avLst/>
          </a:prstGeom>
          <a:noFill/>
        </p:spPr>
        <p:txBody>
          <a:bodyPr wrap="square" lIns="0" tIns="0" rIns="0" bIns="0" anchor="ctr">
            <a:normAutofit/>
          </a:bodyPr>
          <a:lstStyle/>
          <a:p>
            <a:pPr algn="l">
              <a:lnSpc>
                <a:spcPct val="100000"/>
              </a:lnSpc>
              <a:spcBef>
                <a:spcPts val="0"/>
              </a:spcBef>
            </a:pPr>
            <a:r>
              <a:rPr lang="vi-VN" sz="1300" b="1" dirty="0">
                <a:solidFill>
                  <a:srgbClr val="2E1C9E"/>
                </a:solidFill>
              </a:rPr>
              <a:t>Phản hồi dựa trên dữ liệu</a:t>
            </a:r>
          </a:p>
        </p:txBody>
      </p:sp>
      <p:sp>
        <p:nvSpPr>
          <p:cNvPr id="113" name="T113"/>
          <p:cNvSpPr txBox="1"/>
          <p:nvPr/>
        </p:nvSpPr>
        <p:spPr>
          <a:xfrm>
            <a:off x="5600000" y="3960000"/>
            <a:ext cx="3300000" cy="620000"/>
          </a:xfrm>
          <a:prstGeom prst="rect">
            <a:avLst/>
          </a:prstGeom>
          <a:noFill/>
        </p:spPr>
        <p:txBody>
          <a:bodyPr wrap="square" lIns="0" tIns="0" rIns="0" bIns="0" anchor="ctr">
            <a:normAutofit/>
          </a:bodyPr>
          <a:lstStyle/>
          <a:p>
            <a:pPr algn="l">
              <a:lnSpc>
                <a:spcPct val="100000"/>
              </a:lnSpc>
              <a:spcBef>
                <a:spcPts val="0"/>
              </a:spcBef>
            </a:pPr>
            <a:r>
              <a:rPr lang="vi-VN" sz="1300" b="0" dirty="0">
                <a:solidFill>
                  <a:srgbClr val="505050"/>
                </a:solidFill>
              </a:rPr>
              <a:t>Dựa theo tri thức đã học và dữ liệu thực tế để dự đoán, cảnh báo sớm khi tiến gần mức NG</a:t>
            </a:r>
          </a:p>
        </p:txBody>
      </p:sp>
      <p:sp>
        <p:nvSpPr>
          <p:cNvPr id="114" name="B03"/>
          <p:cNvSpPr>
            <a:spLocks/>
          </p:cNvSpPr>
          <p:nvPr/>
        </p:nvSpPr>
        <p:spPr>
          <a:xfrm>
            <a:off x="730000" y="3990000"/>
            <a:ext cx="560000" cy="560000"/>
          </a:xfrm>
          <a:prstGeom prst="ellipse">
            <a:avLst/>
          </a:prstGeom>
          <a:solidFill>
            <a:srgbClr val="00B050"/>
          </a:solidFill>
          <a:ln w="38100">
            <a:solidFill>
              <a:srgbClr val="FFFFFF"/>
            </a:solidFill>
          </a:ln>
        </p:spPr>
        <p:txBody>
          <a:bodyPr wrap="none" anchor="ctr"/>
          <a:lstStyle/>
          <a:p>
            <a:pPr algn="ctr"/>
            <a:r>
              <a:rPr lang="en-US" sz="1400" b="1" dirty="0">
                <a:solidFill>
                  <a:srgbClr val="FFFFFF"/>
                </a:solidFill>
              </a:rPr>
              <a:t>03</a:t>
            </a:r>
          </a:p>
        </p:txBody>
      </p:sp>
      <p:sp>
        <p:nvSpPr>
          <p:cNvPr id="115" name="S115"/>
          <p:cNvSpPr/>
          <p:nvPr/>
        </p:nvSpPr>
        <p:spPr>
          <a:xfrm>
            <a:off x="1400000" y="4890000"/>
            <a:ext cx="7600000" cy="920000"/>
          </a:xfrm>
          <a:prstGeom prst="roundRect">
            <a:avLst>
              <a:gd name="adj" fmla="val 9000"/>
            </a:avLst>
          </a:prstGeom>
          <a:solidFill>
            <a:srgbClr val="FFFFFF"/>
          </a:solidFill>
          <a:ln w="9525">
            <a:solidFill>
              <a:srgbClr val="DCDEF2"/>
            </a:solidFill>
          </a:ln>
        </p:spPr>
        <p:txBody>
          <a:bodyPr/>
          <a:lstStyle/>
          <a:p>
            <a:endParaRPr lang="vi-VN"/>
          </a:p>
        </p:txBody>
      </p:sp>
      <p:pic>
        <p:nvPicPr>
          <p:cNvPr id="116" name="I116"/>
          <p:cNvPicPr>
            <a:picLocks noChangeAspect="1"/>
          </p:cNvPicPr>
          <p:nvPr/>
        </p:nvPicPr>
        <p:blipFill>
          <a:blip r:embed="rId6"/>
          <a:stretch>
            <a:fillRect/>
          </a:stretch>
        </p:blipFill>
        <p:spPr>
          <a:xfrm>
            <a:off x="1620000" y="5040000"/>
            <a:ext cx="620000" cy="620000"/>
          </a:xfrm>
          <a:prstGeom prst="rect">
            <a:avLst/>
          </a:prstGeom>
        </p:spPr>
      </p:pic>
      <p:sp>
        <p:nvSpPr>
          <p:cNvPr id="117" name="T117"/>
          <p:cNvSpPr txBox="1">
            <a:spLocks/>
          </p:cNvSpPr>
          <p:nvPr/>
        </p:nvSpPr>
        <p:spPr>
          <a:xfrm>
            <a:off x="2420000" y="5040000"/>
            <a:ext cx="3000000" cy="620000"/>
          </a:xfrm>
          <a:prstGeom prst="rect">
            <a:avLst/>
          </a:prstGeom>
          <a:noFill/>
        </p:spPr>
        <p:txBody>
          <a:bodyPr wrap="square" lIns="0" tIns="0" rIns="0" bIns="0" anchor="ctr">
            <a:normAutofit/>
          </a:bodyPr>
          <a:lstStyle/>
          <a:p>
            <a:pPr algn="l">
              <a:lnSpc>
                <a:spcPct val="100000"/>
              </a:lnSpc>
              <a:spcBef>
                <a:spcPts val="0"/>
              </a:spcBef>
            </a:pPr>
            <a:r>
              <a:rPr lang="vi-VN" sz="1300" b="1" dirty="0">
                <a:solidFill>
                  <a:srgbClr val="2E1C9E"/>
                </a:solidFill>
              </a:rPr>
              <a:t>Đối chiếu / Kiểm tra</a:t>
            </a:r>
          </a:p>
        </p:txBody>
      </p:sp>
      <p:sp>
        <p:nvSpPr>
          <p:cNvPr id="118" name="T118"/>
          <p:cNvSpPr txBox="1"/>
          <p:nvPr/>
        </p:nvSpPr>
        <p:spPr>
          <a:xfrm>
            <a:off x="5600000" y="5040000"/>
            <a:ext cx="3300000" cy="620000"/>
          </a:xfrm>
          <a:prstGeom prst="rect">
            <a:avLst/>
          </a:prstGeom>
          <a:noFill/>
        </p:spPr>
        <p:txBody>
          <a:bodyPr wrap="square" lIns="0" tIns="0" rIns="0" bIns="0" anchor="ctr">
            <a:normAutofit/>
          </a:bodyPr>
          <a:lstStyle/>
          <a:p>
            <a:pPr algn="l">
              <a:lnSpc>
                <a:spcPct val="100000"/>
              </a:lnSpc>
              <a:spcBef>
                <a:spcPts val="0"/>
              </a:spcBef>
            </a:pPr>
            <a:r>
              <a:rPr lang="vi-VN" sz="1300" b="0" dirty="0">
                <a:solidFill>
                  <a:srgbClr val="505050"/>
                </a:solidFill>
              </a:rPr>
              <a:t>Tham chiếu kết quả dự đoán với kết quả đo thực tế để hiệu chỉnh và học tiếp</a:t>
            </a:r>
          </a:p>
        </p:txBody>
      </p:sp>
      <p:sp>
        <p:nvSpPr>
          <p:cNvPr id="119" name="B04"/>
          <p:cNvSpPr>
            <a:spLocks/>
          </p:cNvSpPr>
          <p:nvPr/>
        </p:nvSpPr>
        <p:spPr>
          <a:xfrm>
            <a:off x="730000" y="5070000"/>
            <a:ext cx="560000" cy="560000"/>
          </a:xfrm>
          <a:prstGeom prst="ellipse">
            <a:avLst/>
          </a:prstGeom>
          <a:solidFill>
            <a:schemeClr val="accent5">
              <a:lumMod val="60000"/>
              <a:lumOff val="40000"/>
            </a:schemeClr>
          </a:solidFill>
          <a:ln w="38100">
            <a:solidFill>
              <a:srgbClr val="FFFFFF"/>
            </a:solidFill>
          </a:ln>
        </p:spPr>
        <p:txBody>
          <a:bodyPr wrap="none" anchor="ctr"/>
          <a:lstStyle/>
          <a:p>
            <a:pPr algn="ctr"/>
            <a:r>
              <a:rPr lang="en-US" sz="1400" b="1" dirty="0">
                <a:solidFill>
                  <a:srgbClr val="FFFFFF"/>
                </a:solidFill>
              </a:rPr>
              <a:t>04</a:t>
            </a:r>
          </a:p>
        </p:txBody>
      </p:sp>
      <p:sp>
        <p:nvSpPr>
          <p:cNvPr id="120" name="S120"/>
          <p:cNvSpPr/>
          <p:nvPr/>
        </p:nvSpPr>
        <p:spPr>
          <a:xfrm>
            <a:off x="9080000" y="3730001"/>
            <a:ext cx="2937829" cy="2080000"/>
          </a:xfrm>
          <a:prstGeom prst="roundRect">
            <a:avLst>
              <a:gd name="adj" fmla="val 9000"/>
            </a:avLst>
          </a:prstGeom>
          <a:solidFill>
            <a:srgbClr val="F2F1FB"/>
          </a:solidFill>
          <a:ln>
            <a:noFill/>
          </a:ln>
        </p:spPr>
        <p:txBody>
          <a:bodyPr/>
          <a:lstStyle/>
          <a:p>
            <a:endParaRPr lang="vi-VN" sz="1300"/>
          </a:p>
        </p:txBody>
      </p:sp>
      <p:pic>
        <p:nvPicPr>
          <p:cNvPr id="121" name="I121"/>
          <p:cNvPicPr>
            <a:picLocks noChangeAspect="1"/>
          </p:cNvPicPr>
          <p:nvPr/>
        </p:nvPicPr>
        <p:blipFill>
          <a:blip r:embed="rId7"/>
          <a:stretch>
            <a:fillRect/>
          </a:stretch>
        </p:blipFill>
        <p:spPr>
          <a:xfrm>
            <a:off x="10079713" y="3748629"/>
            <a:ext cx="793563" cy="793563"/>
          </a:xfrm>
          <a:prstGeom prst="rect">
            <a:avLst/>
          </a:prstGeom>
        </p:spPr>
      </p:pic>
      <p:sp>
        <p:nvSpPr>
          <p:cNvPr id="122" name="T122"/>
          <p:cNvSpPr txBox="1"/>
          <p:nvPr/>
        </p:nvSpPr>
        <p:spPr>
          <a:xfrm>
            <a:off x="9201972" y="4055590"/>
            <a:ext cx="2815857" cy="1908819"/>
          </a:xfrm>
          <a:prstGeom prst="rect">
            <a:avLst/>
          </a:prstGeom>
          <a:noFill/>
        </p:spPr>
        <p:txBody>
          <a:bodyPr wrap="square" lIns="0" tIns="0" rIns="0" bIns="0" anchor="ctr">
            <a:normAutofit/>
          </a:bodyPr>
          <a:lstStyle/>
          <a:p>
            <a:pPr algn="l">
              <a:lnSpc>
                <a:spcPct val="100000"/>
              </a:lnSpc>
              <a:spcBef>
                <a:spcPts val="0"/>
              </a:spcBef>
            </a:pPr>
            <a:r>
              <a:rPr lang="vi-VN" sz="1300" b="1" dirty="0">
                <a:solidFill>
                  <a:srgbClr val="2E1C9E"/>
                </a:solidFill>
              </a:rPr>
              <a:t>Kết quả: phát hiện sớm nguy cơ NG ngay từ khâu linh kiện và kiểm tra jig, giảm </a:t>
            </a:r>
            <a:r>
              <a:rPr lang="en-US" sz="1300" b="1" dirty="0" err="1">
                <a:solidFill>
                  <a:srgbClr val="2E1C9E"/>
                </a:solidFill>
              </a:rPr>
              <a:t>tỉ</a:t>
            </a:r>
            <a:r>
              <a:rPr lang="en-US" sz="1300" b="1" dirty="0">
                <a:solidFill>
                  <a:srgbClr val="2E1C9E"/>
                </a:solidFill>
              </a:rPr>
              <a:t> </a:t>
            </a:r>
            <a:r>
              <a:rPr lang="en-US" sz="1300" b="1" dirty="0" err="1">
                <a:solidFill>
                  <a:srgbClr val="2E1C9E"/>
                </a:solidFill>
              </a:rPr>
              <a:t>lệ</a:t>
            </a:r>
            <a:r>
              <a:rPr lang="vi-VN" sz="1300" b="1" dirty="0">
                <a:solidFill>
                  <a:srgbClr val="2E1C9E"/>
                </a:solidFill>
              </a:rPr>
              <a:t> lỗi và giảm thời gian phân tích nguyên nhân</a:t>
            </a:r>
          </a:p>
        </p:txBody>
      </p:sp>
      <p:grpSp>
        <p:nvGrpSpPr>
          <p:cNvPr id="15" name="Group 14">
            <a:extLst>
              <a:ext uri="{FF2B5EF4-FFF2-40B4-BE49-F238E27FC236}">
                <a16:creationId xmlns:a16="http://schemas.microsoft.com/office/drawing/2014/main" id="{8367B92D-7A12-1BB7-8654-997A662D373D}"/>
              </a:ext>
            </a:extLst>
          </p:cNvPr>
          <p:cNvGrpSpPr/>
          <p:nvPr/>
        </p:nvGrpSpPr>
        <p:grpSpPr>
          <a:xfrm>
            <a:off x="2878176" y="102888"/>
            <a:ext cx="5890516" cy="526026"/>
            <a:chOff x="9603893" y="430511"/>
            <a:chExt cx="5890516" cy="605842"/>
          </a:xfrm>
        </p:grpSpPr>
        <p:sp>
          <p:nvSpPr>
            <p:cNvPr id="16" name="Google Shape;3112;p169">
              <a:extLst>
                <a:ext uri="{FF2B5EF4-FFF2-40B4-BE49-F238E27FC236}">
                  <a16:creationId xmlns:a16="http://schemas.microsoft.com/office/drawing/2014/main" id="{86132B67-5FCD-4970-5FB4-D932192794A0}"/>
                </a:ext>
              </a:extLst>
            </p:cNvPr>
            <p:cNvSpPr/>
            <p:nvPr/>
          </p:nvSpPr>
          <p:spPr>
            <a:xfrm>
              <a:off x="10050805" y="457775"/>
              <a:ext cx="2983199" cy="568501"/>
            </a:xfrm>
            <a:custGeom>
              <a:avLst/>
              <a:gdLst/>
              <a:ahLst/>
              <a:cxnLst/>
              <a:rect l="l" t="t" r="r" b="b"/>
              <a:pathLst>
                <a:path w="29842" h="8403" extrusionOk="0">
                  <a:moveTo>
                    <a:pt x="1" y="1"/>
                  </a:moveTo>
                  <a:lnTo>
                    <a:pt x="6072" y="8402"/>
                  </a:lnTo>
                  <a:lnTo>
                    <a:pt x="28591" y="8402"/>
                  </a:lnTo>
                  <a:cubicBezTo>
                    <a:pt x="29280" y="8402"/>
                    <a:pt x="29842" y="7851"/>
                    <a:pt x="29842" y="7163"/>
                  </a:cubicBezTo>
                  <a:lnTo>
                    <a:pt x="29842" y="1252"/>
                  </a:lnTo>
                  <a:cubicBezTo>
                    <a:pt x="29842" y="563"/>
                    <a:pt x="29280" y="1"/>
                    <a:pt x="28591" y="1"/>
                  </a:cubicBezTo>
                  <a:close/>
                </a:path>
              </a:pathLst>
            </a:custGeom>
            <a:solidFill>
              <a:schemeClr val="bg1">
                <a:lumMod val="85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 name="Group 16">
              <a:extLst>
                <a:ext uri="{FF2B5EF4-FFF2-40B4-BE49-F238E27FC236}">
                  <a16:creationId xmlns:a16="http://schemas.microsoft.com/office/drawing/2014/main" id="{C330133F-F1F2-06DB-0C77-F68149E8C116}"/>
                </a:ext>
              </a:extLst>
            </p:cNvPr>
            <p:cNvGrpSpPr/>
            <p:nvPr/>
          </p:nvGrpSpPr>
          <p:grpSpPr>
            <a:xfrm>
              <a:off x="9603893" y="430511"/>
              <a:ext cx="5890516" cy="605842"/>
              <a:chOff x="9680198" y="256226"/>
              <a:chExt cx="5767917" cy="690195"/>
            </a:xfrm>
          </p:grpSpPr>
          <p:grpSp>
            <p:nvGrpSpPr>
              <p:cNvPr id="18" name="Google Shape;3110;p169">
                <a:extLst>
                  <a:ext uri="{FF2B5EF4-FFF2-40B4-BE49-F238E27FC236}">
                    <a16:creationId xmlns:a16="http://schemas.microsoft.com/office/drawing/2014/main" id="{331D47AC-F508-3BF4-B5DC-2526160AF655}"/>
                  </a:ext>
                </a:extLst>
              </p:cNvPr>
              <p:cNvGrpSpPr/>
              <p:nvPr/>
            </p:nvGrpSpPr>
            <p:grpSpPr>
              <a:xfrm>
                <a:off x="9680198" y="256226"/>
                <a:ext cx="5767917" cy="690195"/>
                <a:chOff x="3099239" y="3615343"/>
                <a:chExt cx="1651576" cy="184687"/>
              </a:xfrm>
            </p:grpSpPr>
            <p:sp>
              <p:nvSpPr>
                <p:cNvPr id="21" name="Google Shape;3111;p169">
                  <a:extLst>
                    <a:ext uri="{FF2B5EF4-FFF2-40B4-BE49-F238E27FC236}">
                      <a16:creationId xmlns:a16="http://schemas.microsoft.com/office/drawing/2014/main" id="{56286025-1890-2302-A73E-8769DEDA9800}"/>
                    </a:ext>
                  </a:extLst>
                </p:cNvPr>
                <p:cNvSpPr/>
                <p:nvPr/>
              </p:nvSpPr>
              <p:spPr>
                <a:xfrm>
                  <a:off x="3327296" y="3788725"/>
                  <a:ext cx="22611" cy="11305"/>
                </a:xfrm>
                <a:custGeom>
                  <a:avLst/>
                  <a:gdLst/>
                  <a:ahLst/>
                  <a:cxnLst/>
                  <a:rect l="l" t="t" r="r" b="b"/>
                  <a:pathLst>
                    <a:path w="1172" h="586" extrusionOk="0">
                      <a:moveTo>
                        <a:pt x="1" y="0"/>
                      </a:moveTo>
                      <a:lnTo>
                        <a:pt x="586" y="585"/>
                      </a:lnTo>
                      <a:lnTo>
                        <a:pt x="1171" y="0"/>
                      </a:lnTo>
                      <a:close/>
                    </a:path>
                  </a:pathLst>
                </a:custGeom>
                <a:solidFill>
                  <a:srgbClr val="448C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3112;p169">
                  <a:extLst>
                    <a:ext uri="{FF2B5EF4-FFF2-40B4-BE49-F238E27FC236}">
                      <a16:creationId xmlns:a16="http://schemas.microsoft.com/office/drawing/2014/main" id="{A1308ABE-F363-3E10-B1A7-6147E5FF7B5A}"/>
                    </a:ext>
                  </a:extLst>
                </p:cNvPr>
                <p:cNvSpPr/>
                <p:nvPr/>
              </p:nvSpPr>
              <p:spPr>
                <a:xfrm>
                  <a:off x="3213258" y="3626628"/>
                  <a:ext cx="799671" cy="170352"/>
                </a:xfrm>
                <a:custGeom>
                  <a:avLst/>
                  <a:gdLst/>
                  <a:ahLst/>
                  <a:cxnLst/>
                  <a:rect l="l" t="t" r="r" b="b"/>
                  <a:pathLst>
                    <a:path w="29842" h="8403" extrusionOk="0">
                      <a:moveTo>
                        <a:pt x="1" y="1"/>
                      </a:moveTo>
                      <a:lnTo>
                        <a:pt x="6072" y="8402"/>
                      </a:lnTo>
                      <a:lnTo>
                        <a:pt x="28591" y="8402"/>
                      </a:lnTo>
                      <a:cubicBezTo>
                        <a:pt x="29280" y="8402"/>
                        <a:pt x="29842" y="7851"/>
                        <a:pt x="29842" y="7163"/>
                      </a:cubicBezTo>
                      <a:lnTo>
                        <a:pt x="29842" y="1252"/>
                      </a:lnTo>
                      <a:cubicBezTo>
                        <a:pt x="29842" y="563"/>
                        <a:pt x="29280" y="1"/>
                        <a:pt x="28591" y="1"/>
                      </a:cubicBezTo>
                      <a:close/>
                    </a:path>
                  </a:pathLst>
                </a:custGeom>
                <a:solidFill>
                  <a:schemeClr val="bg1">
                    <a:lumMod val="85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3113;p169">
                  <a:extLst>
                    <a:ext uri="{FF2B5EF4-FFF2-40B4-BE49-F238E27FC236}">
                      <a16:creationId xmlns:a16="http://schemas.microsoft.com/office/drawing/2014/main" id="{19BC03DF-B5B3-AFD5-5E7D-3B1E53A4B7D0}"/>
                    </a:ext>
                  </a:extLst>
                </p:cNvPr>
                <p:cNvSpPr/>
                <p:nvPr/>
              </p:nvSpPr>
              <p:spPr>
                <a:xfrm>
                  <a:off x="3165220" y="3626629"/>
                  <a:ext cx="165202" cy="162115"/>
                </a:xfrm>
                <a:custGeom>
                  <a:avLst/>
                  <a:gdLst/>
                  <a:ahLst/>
                  <a:cxnLst/>
                  <a:rect l="l" t="t" r="r" b="b"/>
                  <a:pathLst>
                    <a:path w="8563" h="8403" extrusionOk="0">
                      <a:moveTo>
                        <a:pt x="0" y="1"/>
                      </a:moveTo>
                      <a:lnTo>
                        <a:pt x="8402" y="8402"/>
                      </a:lnTo>
                      <a:lnTo>
                        <a:pt x="8562" y="8402"/>
                      </a:lnTo>
                      <a:lnTo>
                        <a:pt x="2491" y="1"/>
                      </a:lnTo>
                      <a:close/>
                    </a:path>
                  </a:pathLst>
                </a:custGeom>
                <a:solidFill>
                  <a:schemeClr val="accent1">
                    <a:lumMod val="40000"/>
                    <a:lumOff val="60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3114;p169">
                  <a:extLst>
                    <a:ext uri="{FF2B5EF4-FFF2-40B4-BE49-F238E27FC236}">
                      <a16:creationId xmlns:a16="http://schemas.microsoft.com/office/drawing/2014/main" id="{AF3D6225-1F7B-DFD4-7E64-C84B41453E13}"/>
                    </a:ext>
                  </a:extLst>
                </p:cNvPr>
                <p:cNvSpPr/>
                <p:nvPr/>
              </p:nvSpPr>
              <p:spPr>
                <a:xfrm>
                  <a:off x="3099239" y="3615343"/>
                  <a:ext cx="239381" cy="184687"/>
                </a:xfrm>
                <a:custGeom>
                  <a:avLst/>
                  <a:gdLst/>
                  <a:ahLst/>
                  <a:cxnLst/>
                  <a:rect l="l" t="t" r="r" b="b"/>
                  <a:pathLst>
                    <a:path w="12408" h="9573" extrusionOk="0">
                      <a:moveTo>
                        <a:pt x="1240" y="0"/>
                      </a:moveTo>
                      <a:cubicBezTo>
                        <a:pt x="563" y="0"/>
                        <a:pt x="0" y="551"/>
                        <a:pt x="12" y="1240"/>
                      </a:cubicBezTo>
                      <a:lnTo>
                        <a:pt x="12" y="8344"/>
                      </a:lnTo>
                      <a:cubicBezTo>
                        <a:pt x="12" y="9022"/>
                        <a:pt x="563" y="9572"/>
                        <a:pt x="1240" y="9572"/>
                      </a:cubicBezTo>
                      <a:lnTo>
                        <a:pt x="12407" y="9572"/>
                      </a:lnTo>
                      <a:lnTo>
                        <a:pt x="11822" y="8987"/>
                      </a:lnTo>
                      <a:lnTo>
                        <a:pt x="3420" y="586"/>
                      </a:lnTo>
                      <a:lnTo>
                        <a:pt x="283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3112;p169">
                  <a:extLst>
                    <a:ext uri="{FF2B5EF4-FFF2-40B4-BE49-F238E27FC236}">
                      <a16:creationId xmlns:a16="http://schemas.microsoft.com/office/drawing/2014/main" id="{2B680158-5CC3-026B-87C0-025A2B359542}"/>
                    </a:ext>
                  </a:extLst>
                </p:cNvPr>
                <p:cNvSpPr/>
                <p:nvPr/>
              </p:nvSpPr>
              <p:spPr>
                <a:xfrm>
                  <a:off x="3229068" y="3626367"/>
                  <a:ext cx="1521747" cy="170352"/>
                </a:xfrm>
                <a:custGeom>
                  <a:avLst/>
                  <a:gdLst/>
                  <a:ahLst/>
                  <a:cxnLst/>
                  <a:rect l="l" t="t" r="r" b="b"/>
                  <a:pathLst>
                    <a:path w="29842" h="8403" extrusionOk="0">
                      <a:moveTo>
                        <a:pt x="1" y="1"/>
                      </a:moveTo>
                      <a:lnTo>
                        <a:pt x="6072" y="8402"/>
                      </a:lnTo>
                      <a:lnTo>
                        <a:pt x="28591" y="8402"/>
                      </a:lnTo>
                      <a:cubicBezTo>
                        <a:pt x="29280" y="8402"/>
                        <a:pt x="29842" y="7851"/>
                        <a:pt x="29842" y="7163"/>
                      </a:cubicBezTo>
                      <a:lnTo>
                        <a:pt x="29842" y="1252"/>
                      </a:lnTo>
                      <a:cubicBezTo>
                        <a:pt x="29842" y="563"/>
                        <a:pt x="29280" y="1"/>
                        <a:pt x="28591" y="1"/>
                      </a:cubicBezTo>
                      <a:close/>
                    </a:path>
                  </a:pathLst>
                </a:custGeom>
                <a:solidFill>
                  <a:schemeClr val="bg1">
                    <a:lumMod val="85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9" name="タイトル 1">
                <a:extLst>
                  <a:ext uri="{FF2B5EF4-FFF2-40B4-BE49-F238E27FC236}">
                    <a16:creationId xmlns:a16="http://schemas.microsoft.com/office/drawing/2014/main" id="{B66BCF5E-7646-76C6-0215-CC5244D589F4}"/>
                  </a:ext>
                </a:extLst>
              </p:cNvPr>
              <p:cNvSpPr txBox="1">
                <a:spLocks/>
              </p:cNvSpPr>
              <p:nvPr/>
            </p:nvSpPr>
            <p:spPr>
              <a:xfrm>
                <a:off x="10683978" y="456244"/>
                <a:ext cx="2365292" cy="297885"/>
              </a:xfrm>
              <a:prstGeom prst="rect">
                <a:avLst/>
              </a:prstGeom>
            </p:spPr>
            <p:txBody>
              <a:bodyPr vert="horz" wrap="none" lIns="0" tIns="0" rIns="0" bIns="0" rtlCol="0" anchor="ctr" anchorCtr="0">
                <a:noAutofit/>
              </a:bodyPr>
              <a:lstStyle>
                <a:lvl1pPr algn="ctr" defTabSz="914400" rtl="0" eaLnBrk="1" latinLnBrk="0" hangingPunct="1">
                  <a:lnSpc>
                    <a:spcPct val="90000"/>
                  </a:lnSpc>
                  <a:spcBef>
                    <a:spcPct val="0"/>
                  </a:spcBef>
                  <a:buNone/>
                  <a:defRPr kumimoji="1" sz="2400" b="1" kern="1200">
                    <a:solidFill>
                      <a:schemeClr val="tx1"/>
                    </a:solidFill>
                    <a:latin typeface="Times New Roman"/>
                    <a:ea typeface="Times New Roman"/>
                    <a:cs typeface="Times New Roman"/>
                  </a:defRPr>
                </a:lvl1pPr>
              </a:lstStyle>
              <a:p>
                <a:pPr algn="l"/>
                <a:r>
                  <a:rPr lang="en-US" altLang="ja-JP" dirty="0">
                    <a:latin typeface="Times New Roman" panose="02020603050405020304" pitchFamily="18" charset="0"/>
                    <a:cs typeface="Times New Roman" panose="02020603050405020304" pitchFamily="18" charset="0"/>
                  </a:rPr>
                  <a:t>AI </a:t>
                </a:r>
                <a:r>
                  <a:rPr lang="en-US" altLang="ja-JP" dirty="0" err="1">
                    <a:latin typeface="Times New Roman" panose="02020603050405020304" pitchFamily="18" charset="0"/>
                    <a:cs typeface="Times New Roman" panose="02020603050405020304" pitchFamily="18" charset="0"/>
                  </a:rPr>
                  <a:t>dự</a:t>
                </a:r>
                <a:r>
                  <a:rPr lang="en-US" altLang="ja-JP" dirty="0">
                    <a:latin typeface="Times New Roman" panose="02020603050405020304" pitchFamily="18" charset="0"/>
                    <a:cs typeface="Times New Roman" panose="02020603050405020304" pitchFamily="18" charset="0"/>
                  </a:rPr>
                  <a:t> </a:t>
                </a:r>
                <a:r>
                  <a:rPr lang="en-US" altLang="ja-JP" dirty="0" err="1">
                    <a:latin typeface="Times New Roman" panose="02020603050405020304" pitchFamily="18" charset="0"/>
                    <a:cs typeface="Times New Roman" panose="02020603050405020304" pitchFamily="18" charset="0"/>
                  </a:rPr>
                  <a:t>đoán</a:t>
                </a:r>
                <a:r>
                  <a:rPr lang="en-US" altLang="ja-JP" dirty="0">
                    <a:latin typeface="Times New Roman" panose="02020603050405020304" pitchFamily="18" charset="0"/>
                    <a:cs typeface="Times New Roman" panose="02020603050405020304" pitchFamily="18" charset="0"/>
                  </a:rPr>
                  <a:t> </a:t>
                </a:r>
                <a:r>
                  <a:rPr lang="en-US" altLang="ja-JP" dirty="0" err="1">
                    <a:latin typeface="Times New Roman" panose="02020603050405020304" pitchFamily="18" charset="0"/>
                    <a:cs typeface="Times New Roman" panose="02020603050405020304" pitchFamily="18" charset="0"/>
                  </a:rPr>
                  <a:t>và</a:t>
                </a:r>
                <a:r>
                  <a:rPr lang="en-US" altLang="ja-JP" dirty="0">
                    <a:latin typeface="Times New Roman" panose="02020603050405020304" pitchFamily="18" charset="0"/>
                    <a:cs typeface="Times New Roman" panose="02020603050405020304" pitchFamily="18" charset="0"/>
                  </a:rPr>
                  <a:t> </a:t>
                </a:r>
                <a:r>
                  <a:rPr lang="en-US" altLang="ja-JP" dirty="0" err="1">
                    <a:latin typeface="Times New Roman" panose="02020603050405020304" pitchFamily="18" charset="0"/>
                    <a:cs typeface="Times New Roman" panose="02020603050405020304" pitchFamily="18" charset="0"/>
                  </a:rPr>
                  <a:t>cảnh</a:t>
                </a:r>
                <a:r>
                  <a:rPr lang="en-US" altLang="ja-JP" dirty="0">
                    <a:latin typeface="Times New Roman" panose="02020603050405020304" pitchFamily="18" charset="0"/>
                    <a:cs typeface="Times New Roman" panose="02020603050405020304" pitchFamily="18" charset="0"/>
                  </a:rPr>
                  <a:t> </a:t>
                </a:r>
                <a:r>
                  <a:rPr lang="en-US" altLang="ja-JP" dirty="0" err="1">
                    <a:latin typeface="Times New Roman" panose="02020603050405020304" pitchFamily="18" charset="0"/>
                    <a:cs typeface="Times New Roman" panose="02020603050405020304" pitchFamily="18" charset="0"/>
                  </a:rPr>
                  <a:t>báo</a:t>
                </a:r>
                <a:r>
                  <a:rPr lang="en-US" altLang="ja-JP" dirty="0">
                    <a:latin typeface="Times New Roman" panose="02020603050405020304" pitchFamily="18" charset="0"/>
                    <a:cs typeface="Times New Roman" panose="02020603050405020304" pitchFamily="18" charset="0"/>
                  </a:rPr>
                  <a:t> </a:t>
                </a:r>
                <a:r>
                  <a:rPr lang="en-US" altLang="ja-JP" dirty="0" err="1">
                    <a:latin typeface="Times New Roman" panose="02020603050405020304" pitchFamily="18" charset="0"/>
                    <a:cs typeface="Times New Roman" panose="02020603050405020304" pitchFamily="18" charset="0"/>
                  </a:rPr>
                  <a:t>lỗi</a:t>
                </a:r>
                <a:endParaRPr lang="en-US" altLang="ja-JP" dirty="0">
                  <a:latin typeface="Times New Roman" panose="02020603050405020304" pitchFamily="18" charset="0"/>
                  <a:cs typeface="Times New Roman" panose="02020603050405020304" pitchFamily="18" charset="0"/>
                </a:endParaRPr>
              </a:p>
            </p:txBody>
          </p:sp>
          <p:sp>
            <p:nvSpPr>
              <p:cNvPr id="20" name="タイトル 1">
                <a:extLst>
                  <a:ext uri="{FF2B5EF4-FFF2-40B4-BE49-F238E27FC236}">
                    <a16:creationId xmlns:a16="http://schemas.microsoft.com/office/drawing/2014/main" id="{2C8A31AA-54B2-7977-A67B-60094C11E334}"/>
                  </a:ext>
                </a:extLst>
              </p:cNvPr>
              <p:cNvSpPr txBox="1">
                <a:spLocks/>
              </p:cNvSpPr>
              <p:nvPr/>
            </p:nvSpPr>
            <p:spPr>
              <a:xfrm>
                <a:off x="9839575" y="531261"/>
                <a:ext cx="2365292" cy="297885"/>
              </a:xfrm>
              <a:prstGeom prst="rect">
                <a:avLst/>
              </a:prstGeom>
            </p:spPr>
            <p:txBody>
              <a:bodyPr vert="horz" wrap="none" lIns="0" tIns="0" rIns="0" bIns="0" rtlCol="0" anchor="ctr" anchorCtr="0">
                <a:noAutofit/>
              </a:bodyPr>
              <a:lstStyle>
                <a:lvl1pPr algn="ctr" defTabSz="914400" rtl="0" eaLnBrk="1" latinLnBrk="0" hangingPunct="1">
                  <a:lnSpc>
                    <a:spcPct val="90000"/>
                  </a:lnSpc>
                  <a:spcBef>
                    <a:spcPct val="0"/>
                  </a:spcBef>
                  <a:buNone/>
                  <a:defRPr kumimoji="1" sz="2400" b="1" kern="1200">
                    <a:solidFill>
                      <a:schemeClr val="tx1"/>
                    </a:solidFill>
                    <a:latin typeface="Times New Roman"/>
                    <a:ea typeface="Times New Roman"/>
                    <a:cs typeface="Times New Roman"/>
                  </a:defRPr>
                </a:lvl1pPr>
              </a:lstStyle>
              <a:p>
                <a:pPr algn="l"/>
                <a:endParaRPr lang="ja-JP" altLang="en-US" dirty="0">
                  <a:latin typeface="Times New Roman" panose="020F0502020204030204" pitchFamily="34" charset="0"/>
                  <a:cs typeface="Times New Roman" panose="020F0502020204030204" pitchFamily="34" charset="0"/>
                </a:endParaRPr>
              </a:p>
            </p:txBody>
          </p:sp>
        </p:grpSp>
      </p:grpSp>
      <p:pic>
        <p:nvPicPr>
          <p:cNvPr id="29" name="Picture 28">
            <a:extLst>
              <a:ext uri="{FF2B5EF4-FFF2-40B4-BE49-F238E27FC236}">
                <a16:creationId xmlns:a16="http://schemas.microsoft.com/office/drawing/2014/main" id="{13700CF1-EAC5-103A-8AB8-5A031870DD0C}"/>
              </a:ext>
            </a:extLst>
          </p:cNvPr>
          <p:cNvPicPr>
            <a:picLocks noChangeAspect="1"/>
          </p:cNvPicPr>
          <p:nvPr/>
        </p:nvPicPr>
        <p:blipFill>
          <a:blip r:embed="rId8"/>
          <a:stretch>
            <a:fillRect/>
          </a:stretch>
        </p:blipFill>
        <p:spPr>
          <a:xfrm>
            <a:off x="9572030" y="1639231"/>
            <a:ext cx="1808931" cy="210939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4"/>
          <p:cNvSpPr txBox="1"/>
          <p:nvPr/>
        </p:nvSpPr>
        <p:spPr>
          <a:xfrm>
            <a:off x="706482" y="950000"/>
            <a:ext cx="6600000" cy="520000"/>
          </a:xfrm>
          <a:prstGeom prst="roundRect">
            <a:avLst>
              <a:gd name="adj" fmla="val 22000"/>
            </a:avLst>
          </a:prstGeom>
          <a:gradFill rotWithShape="1">
            <a:gsLst>
              <a:gs pos="0">
                <a:srgbClr val="1B1464"/>
              </a:gs>
              <a:gs pos="100000">
                <a:srgbClr val="3C2BC8"/>
              </a:gs>
            </a:gsLst>
            <a:lin ang="0" scaled="0"/>
          </a:gradFill>
        </p:spPr>
        <p:txBody>
          <a:bodyPr wrap="square" lIns="228600" tIns="0" rIns="114300" bIns="0" anchor="ctr">
            <a:normAutofit/>
          </a:bodyPr>
          <a:lstStyle/>
          <a:p>
            <a:pPr algn="l">
              <a:lnSpc>
                <a:spcPct val="100000"/>
              </a:lnSpc>
              <a:spcBef>
                <a:spcPts val="0"/>
              </a:spcBef>
            </a:pPr>
            <a:r>
              <a:rPr lang="en-US" sz="1600" b="1" err="1">
                <a:solidFill>
                  <a:srgbClr val="FFFFFF"/>
                </a:solidFill>
              </a:rPr>
              <a:t>Bước</a:t>
            </a:r>
            <a:r>
              <a:rPr lang="en-US" sz="1600" b="1">
                <a:solidFill>
                  <a:srgbClr val="FFFFFF"/>
                </a:solidFill>
              </a:rPr>
              <a:t> 1: </a:t>
            </a:r>
            <a:r>
              <a:rPr lang="en-US" sz="1600" b="1" err="1">
                <a:solidFill>
                  <a:srgbClr val="FFFFFF"/>
                </a:solidFill>
              </a:rPr>
              <a:t>Tạo</a:t>
            </a:r>
            <a:r>
              <a:rPr lang="en-US" sz="1600" b="1">
                <a:solidFill>
                  <a:srgbClr val="FFFFFF"/>
                </a:solidFill>
              </a:rPr>
              <a:t> </a:t>
            </a:r>
            <a:r>
              <a:rPr lang="en-US" sz="1600" b="1" err="1">
                <a:solidFill>
                  <a:srgbClr val="FFFFFF"/>
                </a:solidFill>
              </a:rPr>
              <a:t>ra</a:t>
            </a:r>
            <a:r>
              <a:rPr lang="en-US" sz="1600" b="1">
                <a:solidFill>
                  <a:srgbClr val="FFFFFF"/>
                </a:solidFill>
              </a:rPr>
              <a:t> 1 AI </a:t>
            </a:r>
            <a:r>
              <a:rPr lang="en-US" sz="1600" b="1" err="1">
                <a:solidFill>
                  <a:srgbClr val="FFFFFF"/>
                </a:solidFill>
              </a:rPr>
              <a:t>chuyên</a:t>
            </a:r>
            <a:r>
              <a:rPr lang="en-US" sz="1600" b="1">
                <a:solidFill>
                  <a:srgbClr val="FFFFFF"/>
                </a:solidFill>
              </a:rPr>
              <a:t> </a:t>
            </a:r>
            <a:r>
              <a:rPr lang="en-US" sz="1600" b="1" err="1">
                <a:solidFill>
                  <a:srgbClr val="FFFFFF"/>
                </a:solidFill>
              </a:rPr>
              <a:t>gia</a:t>
            </a:r>
            <a:r>
              <a:rPr lang="en-US" sz="1600" b="1">
                <a:solidFill>
                  <a:srgbClr val="FFFFFF"/>
                </a:solidFill>
              </a:rPr>
              <a:t> </a:t>
            </a:r>
            <a:r>
              <a:rPr lang="en-US" sz="1600" b="1" err="1">
                <a:solidFill>
                  <a:srgbClr val="FFFFFF"/>
                </a:solidFill>
              </a:rPr>
              <a:t>về</a:t>
            </a:r>
            <a:r>
              <a:rPr lang="en-US" sz="1600" b="1">
                <a:solidFill>
                  <a:srgbClr val="FFFFFF"/>
                </a:solidFill>
              </a:rPr>
              <a:t> LSU Unit </a:t>
            </a:r>
            <a:endParaRPr lang="vi-VN" sz="1600" b="1">
              <a:solidFill>
                <a:srgbClr val="FFFFFF"/>
              </a:solidFill>
            </a:endParaRPr>
          </a:p>
        </p:txBody>
      </p:sp>
      <p:sp>
        <p:nvSpPr>
          <p:cNvPr id="7" name="T7"/>
          <p:cNvSpPr txBox="1"/>
          <p:nvPr/>
        </p:nvSpPr>
        <p:spPr>
          <a:xfrm>
            <a:off x="7950000" y="4950000"/>
            <a:ext cx="3335518" cy="700000"/>
          </a:xfrm>
          <a:prstGeom prst="rect">
            <a:avLst/>
          </a:prstGeom>
          <a:noFill/>
        </p:spPr>
        <p:txBody>
          <a:bodyPr wrap="square" lIns="0" tIns="0" rIns="0" bIns="0" anchor="t">
            <a:normAutofit/>
          </a:bodyPr>
          <a:lstStyle/>
          <a:p>
            <a:pPr algn="ctr">
              <a:lnSpc>
                <a:spcPct val="100000"/>
              </a:lnSpc>
              <a:spcBef>
                <a:spcPts val="0"/>
              </a:spcBef>
            </a:pPr>
            <a:r>
              <a:rPr lang="vi-VN" sz="1300" b="1" dirty="0"/>
              <a:t>AI CHUYÊN GIA LSU</a:t>
            </a:r>
          </a:p>
          <a:p>
            <a:pPr algn="ctr">
              <a:lnSpc>
                <a:spcPct val="100000"/>
              </a:lnSpc>
              <a:spcBef>
                <a:spcPts val="300"/>
              </a:spcBef>
            </a:pPr>
            <a:r>
              <a:rPr lang="en-US" sz="1300" b="0" dirty="0" err="1"/>
              <a:t>Hiểu</a:t>
            </a:r>
            <a:r>
              <a:rPr lang="en-US" sz="1300" b="0" dirty="0"/>
              <a:t> </a:t>
            </a:r>
            <a:r>
              <a:rPr lang="en-US" sz="1300" b="0" dirty="0" err="1"/>
              <a:t>biết</a:t>
            </a:r>
            <a:r>
              <a:rPr lang="en-US" sz="1300" b="0" dirty="0"/>
              <a:t> </a:t>
            </a:r>
            <a:r>
              <a:rPr lang="en-US" sz="1300" b="0" dirty="0" err="1"/>
              <a:t>chuyên</a:t>
            </a:r>
            <a:r>
              <a:rPr lang="en-US" sz="1300" b="0" dirty="0"/>
              <a:t> </a:t>
            </a:r>
            <a:r>
              <a:rPr lang="en-US" sz="1300" b="0" dirty="0" err="1"/>
              <a:t>sâu</a:t>
            </a:r>
            <a:r>
              <a:rPr lang="en-US" sz="1300" b="0" dirty="0"/>
              <a:t> </a:t>
            </a:r>
            <a:r>
              <a:rPr lang="en-US" sz="1300" b="0" dirty="0" err="1"/>
              <a:t>về</a:t>
            </a:r>
            <a:r>
              <a:rPr lang="en-US" sz="1300" b="0" dirty="0"/>
              <a:t> LSU Unit</a:t>
            </a:r>
            <a:endParaRPr lang="vi-VN" sz="1300" b="0" dirty="0"/>
          </a:p>
        </p:txBody>
      </p:sp>
      <p:sp>
        <p:nvSpPr>
          <p:cNvPr id="100" name="S100"/>
          <p:cNvSpPr/>
          <p:nvPr/>
        </p:nvSpPr>
        <p:spPr>
          <a:xfrm>
            <a:off x="706482" y="1600000"/>
            <a:ext cx="6300000" cy="1120000"/>
          </a:xfrm>
          <a:prstGeom prst="roundRect">
            <a:avLst>
              <a:gd name="adj" fmla="val 5000"/>
            </a:avLst>
          </a:prstGeom>
          <a:solidFill>
            <a:srgbClr val="FFFFFF"/>
          </a:solidFill>
          <a:ln w="9525">
            <a:solidFill>
              <a:srgbClr val="DCDEF2"/>
            </a:solidFill>
          </a:ln>
        </p:spPr>
        <p:txBody>
          <a:bodyPr/>
          <a:lstStyle/>
          <a:p>
            <a:endParaRPr lang="vi-VN"/>
          </a:p>
        </p:txBody>
      </p:sp>
      <p:sp>
        <p:nvSpPr>
          <p:cNvPr id="101" name="S101"/>
          <p:cNvSpPr/>
          <p:nvPr/>
        </p:nvSpPr>
        <p:spPr>
          <a:xfrm>
            <a:off x="706482" y="1600000"/>
            <a:ext cx="60000" cy="1120000"/>
          </a:xfrm>
          <a:prstGeom prst="rect">
            <a:avLst/>
          </a:prstGeom>
          <a:solidFill>
            <a:srgbClr val="2E1C9E"/>
          </a:solidFill>
          <a:ln>
            <a:noFill/>
          </a:ln>
        </p:spPr>
        <p:txBody>
          <a:bodyPr/>
          <a:lstStyle/>
          <a:p>
            <a:endParaRPr lang="vi-VN"/>
          </a:p>
        </p:txBody>
      </p:sp>
      <p:pic>
        <p:nvPicPr>
          <p:cNvPr id="102" name="I102"/>
          <p:cNvPicPr>
            <a:picLocks noChangeAspect="1"/>
          </p:cNvPicPr>
          <p:nvPr/>
        </p:nvPicPr>
        <p:blipFill>
          <a:blip r:embed="rId3"/>
          <a:stretch>
            <a:fillRect/>
          </a:stretch>
        </p:blipFill>
        <p:spPr>
          <a:xfrm>
            <a:off x="946482" y="1830000"/>
            <a:ext cx="660000" cy="660000"/>
          </a:xfrm>
          <a:prstGeom prst="rect">
            <a:avLst/>
          </a:prstGeom>
        </p:spPr>
      </p:pic>
      <p:sp>
        <p:nvSpPr>
          <p:cNvPr id="103" name="T103"/>
          <p:cNvSpPr txBox="1"/>
          <p:nvPr/>
        </p:nvSpPr>
        <p:spPr>
          <a:xfrm>
            <a:off x="1766482" y="1780000"/>
            <a:ext cx="4300000" cy="340000"/>
          </a:xfrm>
          <a:prstGeom prst="rect">
            <a:avLst/>
          </a:prstGeom>
          <a:noFill/>
        </p:spPr>
        <p:txBody>
          <a:bodyPr wrap="square" lIns="0" tIns="0" rIns="0" bIns="0" anchor="ctr">
            <a:normAutofit/>
          </a:bodyPr>
          <a:lstStyle/>
          <a:p>
            <a:pPr algn="l">
              <a:lnSpc>
                <a:spcPct val="100000"/>
              </a:lnSpc>
              <a:spcBef>
                <a:spcPts val="0"/>
              </a:spcBef>
            </a:pPr>
            <a:r>
              <a:rPr lang="vi-VN" sz="1300" b="1" dirty="0">
                <a:solidFill>
                  <a:srgbClr val="2E1C9E"/>
                </a:solidFill>
              </a:rPr>
              <a:t>01  |  Tài liệu kỹ thuật LSU Unit</a:t>
            </a:r>
          </a:p>
        </p:txBody>
      </p:sp>
      <p:sp>
        <p:nvSpPr>
          <p:cNvPr id="104" name="T104"/>
          <p:cNvSpPr txBox="1"/>
          <p:nvPr/>
        </p:nvSpPr>
        <p:spPr>
          <a:xfrm>
            <a:off x="1766482" y="2160000"/>
            <a:ext cx="4950000" cy="420000"/>
          </a:xfrm>
          <a:prstGeom prst="rect">
            <a:avLst/>
          </a:prstGeom>
          <a:noFill/>
        </p:spPr>
        <p:txBody>
          <a:bodyPr wrap="square" lIns="0" tIns="0" rIns="0" bIns="0" anchor="t">
            <a:normAutofit/>
          </a:bodyPr>
          <a:lstStyle/>
          <a:p>
            <a:pPr algn="l">
              <a:lnSpc>
                <a:spcPct val="100000"/>
              </a:lnSpc>
              <a:spcBef>
                <a:spcPts val="0"/>
              </a:spcBef>
            </a:pPr>
            <a:r>
              <a:rPr lang="vi-VN" sz="1300" b="0" dirty="0">
                <a:solidFill>
                  <a:srgbClr val="505050"/>
                </a:solidFill>
              </a:rPr>
              <a:t>Bản vẽ, tiêu chuẩn, hướng dẫn lắp ráp và kiểm tra</a:t>
            </a:r>
          </a:p>
        </p:txBody>
      </p:sp>
      <p:sp>
        <p:nvSpPr>
          <p:cNvPr id="105" name="S105"/>
          <p:cNvSpPr/>
          <p:nvPr/>
        </p:nvSpPr>
        <p:spPr>
          <a:xfrm>
            <a:off x="7096482" y="2070000"/>
            <a:ext cx="700000" cy="180000"/>
          </a:xfrm>
          <a:prstGeom prst="rightArrow">
            <a:avLst/>
          </a:prstGeom>
          <a:solidFill>
            <a:srgbClr val="C9C5E8"/>
          </a:solidFill>
          <a:ln>
            <a:noFill/>
          </a:ln>
        </p:spPr>
        <p:txBody>
          <a:bodyPr/>
          <a:lstStyle/>
          <a:p>
            <a:endParaRPr lang="vi-VN" sz="1300"/>
          </a:p>
        </p:txBody>
      </p:sp>
      <p:sp>
        <p:nvSpPr>
          <p:cNvPr id="106" name="S106"/>
          <p:cNvSpPr/>
          <p:nvPr/>
        </p:nvSpPr>
        <p:spPr>
          <a:xfrm>
            <a:off x="706482" y="2900000"/>
            <a:ext cx="6300000" cy="1120000"/>
          </a:xfrm>
          <a:prstGeom prst="roundRect">
            <a:avLst>
              <a:gd name="adj" fmla="val 5000"/>
            </a:avLst>
          </a:prstGeom>
          <a:solidFill>
            <a:srgbClr val="FFFFFF"/>
          </a:solidFill>
          <a:ln w="9525">
            <a:solidFill>
              <a:srgbClr val="DCDEF2"/>
            </a:solidFill>
          </a:ln>
        </p:spPr>
        <p:txBody>
          <a:bodyPr/>
          <a:lstStyle/>
          <a:p>
            <a:endParaRPr lang="vi-VN" sz="1300"/>
          </a:p>
        </p:txBody>
      </p:sp>
      <p:sp>
        <p:nvSpPr>
          <p:cNvPr id="107" name="S107"/>
          <p:cNvSpPr/>
          <p:nvPr/>
        </p:nvSpPr>
        <p:spPr>
          <a:xfrm>
            <a:off x="706482" y="2900000"/>
            <a:ext cx="60000" cy="1120000"/>
          </a:xfrm>
          <a:prstGeom prst="rect">
            <a:avLst/>
          </a:prstGeom>
          <a:solidFill>
            <a:srgbClr val="2E1C9E"/>
          </a:solidFill>
          <a:ln>
            <a:noFill/>
          </a:ln>
        </p:spPr>
        <p:txBody>
          <a:bodyPr/>
          <a:lstStyle/>
          <a:p>
            <a:endParaRPr lang="vi-VN" sz="1300"/>
          </a:p>
        </p:txBody>
      </p:sp>
      <p:pic>
        <p:nvPicPr>
          <p:cNvPr id="108" name="I108"/>
          <p:cNvPicPr>
            <a:picLocks noChangeAspect="1"/>
          </p:cNvPicPr>
          <p:nvPr/>
        </p:nvPicPr>
        <p:blipFill>
          <a:blip r:embed="rId4"/>
          <a:stretch>
            <a:fillRect/>
          </a:stretch>
        </p:blipFill>
        <p:spPr>
          <a:xfrm>
            <a:off x="946482" y="3130000"/>
            <a:ext cx="660000" cy="660000"/>
          </a:xfrm>
          <a:prstGeom prst="rect">
            <a:avLst/>
          </a:prstGeom>
        </p:spPr>
      </p:pic>
      <p:sp>
        <p:nvSpPr>
          <p:cNvPr id="109" name="T109"/>
          <p:cNvSpPr txBox="1"/>
          <p:nvPr/>
        </p:nvSpPr>
        <p:spPr>
          <a:xfrm>
            <a:off x="1766482" y="3080000"/>
            <a:ext cx="4300000" cy="340000"/>
          </a:xfrm>
          <a:prstGeom prst="rect">
            <a:avLst/>
          </a:prstGeom>
          <a:noFill/>
        </p:spPr>
        <p:txBody>
          <a:bodyPr wrap="square" lIns="0" tIns="0" rIns="0" bIns="0" anchor="ctr">
            <a:normAutofit/>
          </a:bodyPr>
          <a:lstStyle/>
          <a:p>
            <a:pPr algn="l">
              <a:lnSpc>
                <a:spcPct val="100000"/>
              </a:lnSpc>
              <a:spcBef>
                <a:spcPts val="0"/>
              </a:spcBef>
            </a:pPr>
            <a:r>
              <a:rPr lang="vi-VN" sz="1300" b="1" dirty="0">
                <a:solidFill>
                  <a:srgbClr val="2E1C9E"/>
                </a:solidFill>
              </a:rPr>
              <a:t>02  |  Kinh nghiệm chuyên gia</a:t>
            </a:r>
          </a:p>
        </p:txBody>
      </p:sp>
      <p:sp>
        <p:nvSpPr>
          <p:cNvPr id="110" name="T110"/>
          <p:cNvSpPr txBox="1">
            <a:spLocks/>
          </p:cNvSpPr>
          <p:nvPr/>
        </p:nvSpPr>
        <p:spPr>
          <a:xfrm>
            <a:off x="1766482" y="3460000"/>
            <a:ext cx="4950000" cy="420000"/>
          </a:xfrm>
          <a:prstGeom prst="rect">
            <a:avLst/>
          </a:prstGeom>
          <a:noFill/>
        </p:spPr>
        <p:txBody>
          <a:bodyPr wrap="square" lIns="0" tIns="0" rIns="0" bIns="0" anchor="t">
            <a:normAutofit/>
          </a:bodyPr>
          <a:lstStyle/>
          <a:p>
            <a:pPr algn="l">
              <a:lnSpc>
                <a:spcPct val="100000"/>
              </a:lnSpc>
              <a:spcBef>
                <a:spcPts val="0"/>
              </a:spcBef>
            </a:pPr>
            <a:r>
              <a:rPr lang="vi-VN" sz="1300" b="0" dirty="0">
                <a:solidFill>
                  <a:srgbClr val="505050"/>
                </a:solidFill>
              </a:rPr>
              <a:t>AI tự đặt câu hỏi cho chuyên gia LSU để thu thập tri thức thực tế</a:t>
            </a:r>
          </a:p>
        </p:txBody>
      </p:sp>
      <p:sp>
        <p:nvSpPr>
          <p:cNvPr id="111" name="S111"/>
          <p:cNvSpPr/>
          <p:nvPr/>
        </p:nvSpPr>
        <p:spPr>
          <a:xfrm>
            <a:off x="7096482" y="3370000"/>
            <a:ext cx="700000" cy="180000"/>
          </a:xfrm>
          <a:prstGeom prst="rightArrow">
            <a:avLst/>
          </a:prstGeom>
          <a:solidFill>
            <a:srgbClr val="C9C5E8"/>
          </a:solidFill>
          <a:ln>
            <a:noFill/>
          </a:ln>
        </p:spPr>
        <p:txBody>
          <a:bodyPr/>
          <a:lstStyle/>
          <a:p>
            <a:endParaRPr lang="vi-VN" sz="1300"/>
          </a:p>
        </p:txBody>
      </p:sp>
      <p:sp>
        <p:nvSpPr>
          <p:cNvPr id="112" name="S112"/>
          <p:cNvSpPr/>
          <p:nvPr/>
        </p:nvSpPr>
        <p:spPr>
          <a:xfrm>
            <a:off x="706482" y="4200000"/>
            <a:ext cx="6300000" cy="1120000"/>
          </a:xfrm>
          <a:prstGeom prst="roundRect">
            <a:avLst>
              <a:gd name="adj" fmla="val 5000"/>
            </a:avLst>
          </a:prstGeom>
          <a:solidFill>
            <a:srgbClr val="FFFFFF"/>
          </a:solidFill>
          <a:ln w="9525">
            <a:solidFill>
              <a:srgbClr val="DCDEF2"/>
            </a:solidFill>
          </a:ln>
        </p:spPr>
        <p:txBody>
          <a:bodyPr/>
          <a:lstStyle/>
          <a:p>
            <a:endParaRPr lang="vi-VN" sz="1300"/>
          </a:p>
        </p:txBody>
      </p:sp>
      <p:sp>
        <p:nvSpPr>
          <p:cNvPr id="113" name="S113"/>
          <p:cNvSpPr>
            <a:spLocks/>
          </p:cNvSpPr>
          <p:nvPr/>
        </p:nvSpPr>
        <p:spPr>
          <a:xfrm>
            <a:off x="706482" y="4200000"/>
            <a:ext cx="60000" cy="1120000"/>
          </a:xfrm>
          <a:prstGeom prst="rect">
            <a:avLst/>
          </a:prstGeom>
          <a:solidFill>
            <a:srgbClr val="2E1C9E"/>
          </a:solidFill>
          <a:ln>
            <a:noFill/>
          </a:ln>
        </p:spPr>
        <p:txBody>
          <a:bodyPr/>
          <a:lstStyle/>
          <a:p>
            <a:endParaRPr lang="vi-VN" sz="1300"/>
          </a:p>
        </p:txBody>
      </p:sp>
      <p:pic>
        <p:nvPicPr>
          <p:cNvPr id="114" name="I114"/>
          <p:cNvPicPr>
            <a:picLocks noChangeAspect="1"/>
          </p:cNvPicPr>
          <p:nvPr/>
        </p:nvPicPr>
        <p:blipFill>
          <a:blip r:embed="rId5"/>
          <a:stretch>
            <a:fillRect/>
          </a:stretch>
        </p:blipFill>
        <p:spPr>
          <a:xfrm>
            <a:off x="946482" y="4430000"/>
            <a:ext cx="660000" cy="660000"/>
          </a:xfrm>
          <a:prstGeom prst="rect">
            <a:avLst/>
          </a:prstGeom>
        </p:spPr>
      </p:pic>
      <p:sp>
        <p:nvSpPr>
          <p:cNvPr id="115" name="T115"/>
          <p:cNvSpPr txBox="1">
            <a:spLocks/>
          </p:cNvSpPr>
          <p:nvPr/>
        </p:nvSpPr>
        <p:spPr>
          <a:xfrm>
            <a:off x="1766482" y="4380000"/>
            <a:ext cx="4300000" cy="340000"/>
          </a:xfrm>
          <a:prstGeom prst="rect">
            <a:avLst/>
          </a:prstGeom>
          <a:noFill/>
        </p:spPr>
        <p:txBody>
          <a:bodyPr wrap="square" lIns="0" tIns="0" rIns="0" bIns="0" anchor="ctr">
            <a:normAutofit/>
          </a:bodyPr>
          <a:lstStyle/>
          <a:p>
            <a:pPr algn="l">
              <a:lnSpc>
                <a:spcPct val="100000"/>
              </a:lnSpc>
              <a:spcBef>
                <a:spcPts val="0"/>
              </a:spcBef>
            </a:pPr>
            <a:r>
              <a:rPr lang="vi-VN" sz="1300" b="1" dirty="0">
                <a:solidFill>
                  <a:srgbClr val="2E1C9E"/>
                </a:solidFill>
              </a:rPr>
              <a:t>03  |  Dữ liệu lịch sử lỗi</a:t>
            </a:r>
          </a:p>
        </p:txBody>
      </p:sp>
      <p:sp>
        <p:nvSpPr>
          <p:cNvPr id="116" name="T116"/>
          <p:cNvSpPr txBox="1"/>
          <p:nvPr/>
        </p:nvSpPr>
        <p:spPr>
          <a:xfrm>
            <a:off x="1766482" y="4760000"/>
            <a:ext cx="4950000" cy="420000"/>
          </a:xfrm>
          <a:prstGeom prst="rect">
            <a:avLst/>
          </a:prstGeom>
          <a:noFill/>
        </p:spPr>
        <p:txBody>
          <a:bodyPr wrap="square" lIns="0" tIns="0" rIns="0" bIns="0" anchor="t">
            <a:normAutofit/>
          </a:bodyPr>
          <a:lstStyle/>
          <a:p>
            <a:pPr algn="l">
              <a:lnSpc>
                <a:spcPct val="100000"/>
              </a:lnSpc>
              <a:spcBef>
                <a:spcPts val="0"/>
              </a:spcBef>
            </a:pPr>
            <a:r>
              <a:rPr lang="vi-VN" sz="1300" b="0" dirty="0">
                <a:solidFill>
                  <a:srgbClr val="505050"/>
                </a:solidFill>
              </a:rPr>
              <a:t>Phân tích toàn bộ lỗi trong quá khứ để tìm quy luật lặp lại</a:t>
            </a:r>
          </a:p>
        </p:txBody>
      </p:sp>
      <p:sp>
        <p:nvSpPr>
          <p:cNvPr id="117" name="S117"/>
          <p:cNvSpPr/>
          <p:nvPr/>
        </p:nvSpPr>
        <p:spPr>
          <a:xfrm>
            <a:off x="7096482" y="4670000"/>
            <a:ext cx="700000" cy="180000"/>
          </a:xfrm>
          <a:prstGeom prst="rightArrow">
            <a:avLst/>
          </a:prstGeom>
          <a:solidFill>
            <a:srgbClr val="C9C5E8"/>
          </a:solidFill>
          <a:ln>
            <a:noFill/>
          </a:ln>
        </p:spPr>
        <p:txBody>
          <a:bodyPr/>
          <a:lstStyle/>
          <a:p>
            <a:endParaRPr lang="vi-VN" sz="1300"/>
          </a:p>
        </p:txBody>
      </p:sp>
      <p:sp>
        <p:nvSpPr>
          <p:cNvPr id="118" name="S118"/>
          <p:cNvSpPr/>
          <p:nvPr/>
        </p:nvSpPr>
        <p:spPr>
          <a:xfrm>
            <a:off x="706482" y="5540000"/>
            <a:ext cx="10779036" cy="620000"/>
          </a:xfrm>
          <a:prstGeom prst="roundRect">
            <a:avLst>
              <a:gd name="adj" fmla="val 9000"/>
            </a:avLst>
          </a:prstGeom>
          <a:solidFill>
            <a:srgbClr val="F2F1FB"/>
          </a:solidFill>
          <a:ln>
            <a:noFill/>
          </a:ln>
        </p:spPr>
        <p:txBody>
          <a:bodyPr/>
          <a:lstStyle/>
          <a:p>
            <a:endParaRPr lang="vi-VN" sz="1300"/>
          </a:p>
        </p:txBody>
      </p:sp>
      <p:sp>
        <p:nvSpPr>
          <p:cNvPr id="119" name="T119"/>
          <p:cNvSpPr txBox="1"/>
          <p:nvPr/>
        </p:nvSpPr>
        <p:spPr>
          <a:xfrm>
            <a:off x="1006482" y="5540000"/>
            <a:ext cx="10179036" cy="620000"/>
          </a:xfrm>
          <a:prstGeom prst="rect">
            <a:avLst/>
          </a:prstGeom>
          <a:noFill/>
        </p:spPr>
        <p:txBody>
          <a:bodyPr wrap="square" lIns="0" tIns="0" rIns="0" bIns="0" anchor="ctr">
            <a:normAutofit/>
          </a:bodyPr>
          <a:lstStyle/>
          <a:p>
            <a:pPr algn="ctr">
              <a:lnSpc>
                <a:spcPct val="100000"/>
              </a:lnSpc>
              <a:spcBef>
                <a:spcPts val="0"/>
              </a:spcBef>
            </a:pPr>
            <a:r>
              <a:rPr lang="vi-VN" sz="1300" b="1" dirty="0">
                <a:solidFill>
                  <a:srgbClr val="2E1C9E"/>
                </a:solidFill>
              </a:rPr>
              <a:t>AI </a:t>
            </a:r>
            <a:r>
              <a:rPr lang="vi-VN" sz="1600" b="1" dirty="0">
                <a:solidFill>
                  <a:srgbClr val="2E1C9E"/>
                </a:solidFill>
              </a:rPr>
              <a:t>hiểu</a:t>
            </a:r>
            <a:r>
              <a:rPr lang="vi-VN" sz="1300" b="1" dirty="0">
                <a:solidFill>
                  <a:srgbClr val="2E1C9E"/>
                </a:solidFill>
              </a:rPr>
              <a:t> sâu LSU Unit — kết hợp tri thức kỹ thuật, kinh nghiệm chuyên gia và dữ liệu lỗi thực tế</a:t>
            </a:r>
          </a:p>
        </p:txBody>
      </p:sp>
      <p:pic>
        <p:nvPicPr>
          <p:cNvPr id="14" name="Picture 13">
            <a:extLst>
              <a:ext uri="{FF2B5EF4-FFF2-40B4-BE49-F238E27FC236}">
                <a16:creationId xmlns:a16="http://schemas.microsoft.com/office/drawing/2014/main" id="{6F05006E-A016-E356-F08B-C50264BECFE9}"/>
              </a:ext>
            </a:extLst>
          </p:cNvPr>
          <p:cNvPicPr>
            <a:picLocks noChangeAspect="1"/>
          </p:cNvPicPr>
          <p:nvPr/>
        </p:nvPicPr>
        <p:blipFill>
          <a:blip r:embed="rId6" cstate="print">
            <a:extLst>
              <a:ext uri="{28A0092B-C50C-407E-A947-70E740481C1C}">
                <a14:useLocalDpi xmlns:a14="http://schemas.microsoft.com/office/drawing/2010/main" val="0"/>
              </a:ext>
            </a:extLst>
          </a:blip>
          <a:srcRect/>
          <a:stretch/>
        </p:blipFill>
        <p:spPr>
          <a:xfrm>
            <a:off x="7006482" y="1584280"/>
            <a:ext cx="5143500" cy="3429000"/>
          </a:xfrm>
          <a:prstGeom prst="rect">
            <a:avLst/>
          </a:prstGeom>
        </p:spPr>
      </p:pic>
      <p:sp>
        <p:nvSpPr>
          <p:cNvPr id="16" name="Freeform: Shape 15">
            <a:extLst>
              <a:ext uri="{FF2B5EF4-FFF2-40B4-BE49-F238E27FC236}">
                <a16:creationId xmlns:a16="http://schemas.microsoft.com/office/drawing/2014/main" id="{07C52F18-41A7-0BF1-76B3-27C39B60E9B8}"/>
              </a:ext>
            </a:extLst>
          </p:cNvPr>
          <p:cNvSpPr/>
          <p:nvPr/>
        </p:nvSpPr>
        <p:spPr>
          <a:xfrm>
            <a:off x="10082664" y="2518010"/>
            <a:ext cx="144010" cy="143436"/>
          </a:xfrm>
          <a:custGeom>
            <a:avLst/>
            <a:gdLst>
              <a:gd name="csX0" fmla="*/ 457200 w 918056"/>
              <a:gd name="csY0" fmla="*/ 914400 h 914400"/>
              <a:gd name="csX1" fmla="*/ 0 w 918056"/>
              <a:gd name="csY1" fmla="*/ 457200 h 914400"/>
              <a:gd name="csX2" fmla="*/ 3656 w 918056"/>
              <a:gd name="csY2" fmla="*/ 457200 h 914400"/>
              <a:gd name="csX3" fmla="*/ 460856 w 918056"/>
              <a:gd name="csY3" fmla="*/ 0 h 914400"/>
              <a:gd name="csX4" fmla="*/ 918056 w 918056"/>
              <a:gd name="csY4" fmla="*/ 457200 h 914400"/>
              <a:gd name="csX5" fmla="*/ 914400 w 918056"/>
              <a:gd name="csY5" fmla="*/ 457200 h 914400"/>
              <a:gd name="csX6" fmla="*/ 457200 w 918056"/>
              <a:gd name="csY6" fmla="*/ 914400 h 9144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918056" h="914400">
                <a:moveTo>
                  <a:pt x="457200" y="914400"/>
                </a:moveTo>
                <a:cubicBezTo>
                  <a:pt x="457200" y="661895"/>
                  <a:pt x="252505" y="457200"/>
                  <a:pt x="0" y="457200"/>
                </a:cubicBezTo>
                <a:lnTo>
                  <a:pt x="3656" y="457200"/>
                </a:lnTo>
                <a:cubicBezTo>
                  <a:pt x="256161" y="457200"/>
                  <a:pt x="460856" y="252505"/>
                  <a:pt x="460856" y="0"/>
                </a:cubicBezTo>
                <a:cubicBezTo>
                  <a:pt x="460856" y="252505"/>
                  <a:pt x="665551" y="457200"/>
                  <a:pt x="918056" y="457200"/>
                </a:cubicBezTo>
                <a:lnTo>
                  <a:pt x="914400" y="457200"/>
                </a:lnTo>
                <a:cubicBezTo>
                  <a:pt x="661895" y="457200"/>
                  <a:pt x="457200" y="661895"/>
                  <a:pt x="457200" y="914400"/>
                </a:cubicBezTo>
                <a:close/>
              </a:path>
            </a:pathLst>
          </a:custGeom>
          <a:gradFill>
            <a:gsLst>
              <a:gs pos="0">
                <a:srgbClr val="0849DA"/>
              </a:gs>
              <a:gs pos="100000">
                <a:srgbClr val="7030A0"/>
              </a:gs>
            </a:gsLst>
            <a:lin ang="5400000" scaled="1"/>
          </a:gradFill>
          <a:ln w="31750" cap="rnd">
            <a:gradFill>
              <a:gsLst>
                <a:gs pos="0">
                  <a:srgbClr val="0849DA"/>
                </a:gs>
                <a:gs pos="100000">
                  <a:srgbClr val="7030A0"/>
                </a:gs>
              </a:gsLst>
              <a:lin ang="5400000" scaled="1"/>
            </a:gradFill>
            <a:round/>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300"/>
          </a:p>
        </p:txBody>
      </p:sp>
      <p:sp>
        <p:nvSpPr>
          <p:cNvPr id="18" name="Freeform: Shape 17">
            <a:extLst>
              <a:ext uri="{FF2B5EF4-FFF2-40B4-BE49-F238E27FC236}">
                <a16:creationId xmlns:a16="http://schemas.microsoft.com/office/drawing/2014/main" id="{70DBF4B0-968A-2B75-1992-1B2848AD22AC}"/>
              </a:ext>
            </a:extLst>
          </p:cNvPr>
          <p:cNvSpPr/>
          <p:nvPr/>
        </p:nvSpPr>
        <p:spPr>
          <a:xfrm>
            <a:off x="10046661" y="2715046"/>
            <a:ext cx="72005" cy="71718"/>
          </a:xfrm>
          <a:custGeom>
            <a:avLst/>
            <a:gdLst>
              <a:gd name="csX0" fmla="*/ 457200 w 918056"/>
              <a:gd name="csY0" fmla="*/ 914400 h 914400"/>
              <a:gd name="csX1" fmla="*/ 0 w 918056"/>
              <a:gd name="csY1" fmla="*/ 457200 h 914400"/>
              <a:gd name="csX2" fmla="*/ 3656 w 918056"/>
              <a:gd name="csY2" fmla="*/ 457200 h 914400"/>
              <a:gd name="csX3" fmla="*/ 460856 w 918056"/>
              <a:gd name="csY3" fmla="*/ 0 h 914400"/>
              <a:gd name="csX4" fmla="*/ 918056 w 918056"/>
              <a:gd name="csY4" fmla="*/ 457200 h 914400"/>
              <a:gd name="csX5" fmla="*/ 914400 w 918056"/>
              <a:gd name="csY5" fmla="*/ 457200 h 914400"/>
              <a:gd name="csX6" fmla="*/ 457200 w 918056"/>
              <a:gd name="csY6" fmla="*/ 914400 h 9144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918056" h="914400">
                <a:moveTo>
                  <a:pt x="457200" y="914400"/>
                </a:moveTo>
                <a:cubicBezTo>
                  <a:pt x="457200" y="661895"/>
                  <a:pt x="252505" y="457200"/>
                  <a:pt x="0" y="457200"/>
                </a:cubicBezTo>
                <a:lnTo>
                  <a:pt x="3656" y="457200"/>
                </a:lnTo>
                <a:cubicBezTo>
                  <a:pt x="256161" y="457200"/>
                  <a:pt x="460856" y="252505"/>
                  <a:pt x="460856" y="0"/>
                </a:cubicBezTo>
                <a:cubicBezTo>
                  <a:pt x="460856" y="252505"/>
                  <a:pt x="665551" y="457200"/>
                  <a:pt x="918056" y="457200"/>
                </a:cubicBezTo>
                <a:lnTo>
                  <a:pt x="914400" y="457200"/>
                </a:lnTo>
                <a:cubicBezTo>
                  <a:pt x="661895" y="457200"/>
                  <a:pt x="457200" y="661895"/>
                  <a:pt x="457200" y="914400"/>
                </a:cubicBezTo>
                <a:close/>
              </a:path>
            </a:pathLst>
          </a:custGeom>
          <a:gradFill>
            <a:gsLst>
              <a:gs pos="0">
                <a:srgbClr val="0849DA">
                  <a:lumMod val="97000"/>
                </a:srgbClr>
              </a:gs>
              <a:gs pos="100000">
                <a:srgbClr val="7030A0"/>
              </a:gs>
            </a:gsLst>
            <a:lin ang="5400000" scaled="1"/>
          </a:gradFill>
          <a:ln w="15875" cap="rnd">
            <a:gradFill>
              <a:gsLst>
                <a:gs pos="0">
                  <a:srgbClr val="0849DA"/>
                </a:gs>
                <a:gs pos="100000">
                  <a:srgbClr val="7030A0"/>
                </a:gs>
              </a:gsLst>
              <a:lin ang="5400000" scaled="1"/>
            </a:gradFill>
            <a:round/>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300"/>
          </a:p>
        </p:txBody>
      </p:sp>
      <p:pic>
        <p:nvPicPr>
          <p:cNvPr id="97" name="I121">
            <a:extLst>
              <a:ext uri="{FF2B5EF4-FFF2-40B4-BE49-F238E27FC236}">
                <a16:creationId xmlns:a16="http://schemas.microsoft.com/office/drawing/2014/main" id="{668E8057-34C6-2F8E-C03F-EC118337A314}"/>
              </a:ext>
            </a:extLst>
          </p:cNvPr>
          <p:cNvPicPr>
            <a:picLocks noChangeAspect="1"/>
          </p:cNvPicPr>
          <p:nvPr/>
        </p:nvPicPr>
        <p:blipFill>
          <a:blip r:embed="rId7"/>
          <a:stretch>
            <a:fillRect/>
          </a:stretch>
        </p:blipFill>
        <p:spPr>
          <a:xfrm>
            <a:off x="946482" y="5500000"/>
            <a:ext cx="660000" cy="660000"/>
          </a:xfrm>
          <a:prstGeom prst="rect">
            <a:avLst/>
          </a:prstGeom>
        </p:spPr>
      </p:pic>
      <p:grpSp>
        <p:nvGrpSpPr>
          <p:cNvPr id="2" name="Group 1">
            <a:extLst>
              <a:ext uri="{FF2B5EF4-FFF2-40B4-BE49-F238E27FC236}">
                <a16:creationId xmlns:a16="http://schemas.microsoft.com/office/drawing/2014/main" id="{0E439116-7DD2-74CB-C994-A84CCDD4698F}"/>
              </a:ext>
            </a:extLst>
          </p:cNvPr>
          <p:cNvGrpSpPr/>
          <p:nvPr/>
        </p:nvGrpSpPr>
        <p:grpSpPr>
          <a:xfrm>
            <a:off x="2878176" y="102888"/>
            <a:ext cx="5890516" cy="526026"/>
            <a:chOff x="9603893" y="430511"/>
            <a:chExt cx="5890516" cy="605842"/>
          </a:xfrm>
        </p:grpSpPr>
        <p:sp>
          <p:nvSpPr>
            <p:cNvPr id="5" name="Google Shape;3112;p169">
              <a:extLst>
                <a:ext uri="{FF2B5EF4-FFF2-40B4-BE49-F238E27FC236}">
                  <a16:creationId xmlns:a16="http://schemas.microsoft.com/office/drawing/2014/main" id="{C95AC16F-D266-30E1-F0A9-5714FD873965}"/>
                </a:ext>
              </a:extLst>
            </p:cNvPr>
            <p:cNvSpPr/>
            <p:nvPr/>
          </p:nvSpPr>
          <p:spPr>
            <a:xfrm>
              <a:off x="10050805" y="457775"/>
              <a:ext cx="2983199" cy="568501"/>
            </a:xfrm>
            <a:custGeom>
              <a:avLst/>
              <a:gdLst/>
              <a:ahLst/>
              <a:cxnLst/>
              <a:rect l="l" t="t" r="r" b="b"/>
              <a:pathLst>
                <a:path w="29842" h="8403" extrusionOk="0">
                  <a:moveTo>
                    <a:pt x="1" y="1"/>
                  </a:moveTo>
                  <a:lnTo>
                    <a:pt x="6072" y="8402"/>
                  </a:lnTo>
                  <a:lnTo>
                    <a:pt x="28591" y="8402"/>
                  </a:lnTo>
                  <a:cubicBezTo>
                    <a:pt x="29280" y="8402"/>
                    <a:pt x="29842" y="7851"/>
                    <a:pt x="29842" y="7163"/>
                  </a:cubicBezTo>
                  <a:lnTo>
                    <a:pt x="29842" y="1252"/>
                  </a:lnTo>
                  <a:cubicBezTo>
                    <a:pt x="29842" y="563"/>
                    <a:pt x="29280" y="1"/>
                    <a:pt x="28591" y="1"/>
                  </a:cubicBezTo>
                  <a:close/>
                </a:path>
              </a:pathLst>
            </a:custGeom>
            <a:solidFill>
              <a:schemeClr val="bg1">
                <a:lumMod val="85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 name="Group 5">
              <a:extLst>
                <a:ext uri="{FF2B5EF4-FFF2-40B4-BE49-F238E27FC236}">
                  <a16:creationId xmlns:a16="http://schemas.microsoft.com/office/drawing/2014/main" id="{67FF6175-1D67-859F-532D-77F212A959B2}"/>
                </a:ext>
              </a:extLst>
            </p:cNvPr>
            <p:cNvGrpSpPr/>
            <p:nvPr/>
          </p:nvGrpSpPr>
          <p:grpSpPr>
            <a:xfrm>
              <a:off x="9603893" y="430511"/>
              <a:ext cx="5890516" cy="605842"/>
              <a:chOff x="9680198" y="256226"/>
              <a:chExt cx="5767917" cy="690195"/>
            </a:xfrm>
          </p:grpSpPr>
          <p:grpSp>
            <p:nvGrpSpPr>
              <p:cNvPr id="8" name="Google Shape;3110;p169">
                <a:extLst>
                  <a:ext uri="{FF2B5EF4-FFF2-40B4-BE49-F238E27FC236}">
                    <a16:creationId xmlns:a16="http://schemas.microsoft.com/office/drawing/2014/main" id="{4C3836A4-023D-37CD-0AEC-75B1E2065EDA}"/>
                  </a:ext>
                </a:extLst>
              </p:cNvPr>
              <p:cNvGrpSpPr/>
              <p:nvPr/>
            </p:nvGrpSpPr>
            <p:grpSpPr>
              <a:xfrm>
                <a:off x="9680198" y="256226"/>
                <a:ext cx="5767917" cy="690195"/>
                <a:chOff x="3099239" y="3615343"/>
                <a:chExt cx="1651576" cy="184687"/>
              </a:xfrm>
            </p:grpSpPr>
            <p:sp>
              <p:nvSpPr>
                <p:cNvPr id="11" name="Google Shape;3111;p169">
                  <a:extLst>
                    <a:ext uri="{FF2B5EF4-FFF2-40B4-BE49-F238E27FC236}">
                      <a16:creationId xmlns:a16="http://schemas.microsoft.com/office/drawing/2014/main" id="{0F8036CF-6933-F6E1-FD03-02E4A71355E4}"/>
                    </a:ext>
                  </a:extLst>
                </p:cNvPr>
                <p:cNvSpPr/>
                <p:nvPr/>
              </p:nvSpPr>
              <p:spPr>
                <a:xfrm>
                  <a:off x="3327296" y="3788725"/>
                  <a:ext cx="22611" cy="11305"/>
                </a:xfrm>
                <a:custGeom>
                  <a:avLst/>
                  <a:gdLst/>
                  <a:ahLst/>
                  <a:cxnLst/>
                  <a:rect l="l" t="t" r="r" b="b"/>
                  <a:pathLst>
                    <a:path w="1172" h="586" extrusionOk="0">
                      <a:moveTo>
                        <a:pt x="1" y="0"/>
                      </a:moveTo>
                      <a:lnTo>
                        <a:pt x="586" y="585"/>
                      </a:lnTo>
                      <a:lnTo>
                        <a:pt x="1171" y="0"/>
                      </a:lnTo>
                      <a:close/>
                    </a:path>
                  </a:pathLst>
                </a:custGeom>
                <a:solidFill>
                  <a:srgbClr val="448C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3112;p169">
                  <a:extLst>
                    <a:ext uri="{FF2B5EF4-FFF2-40B4-BE49-F238E27FC236}">
                      <a16:creationId xmlns:a16="http://schemas.microsoft.com/office/drawing/2014/main" id="{C6201319-4E1E-D91C-2F09-34E0DC087FC0}"/>
                    </a:ext>
                  </a:extLst>
                </p:cNvPr>
                <p:cNvSpPr/>
                <p:nvPr/>
              </p:nvSpPr>
              <p:spPr>
                <a:xfrm>
                  <a:off x="3213258" y="3626628"/>
                  <a:ext cx="799671" cy="170352"/>
                </a:xfrm>
                <a:custGeom>
                  <a:avLst/>
                  <a:gdLst/>
                  <a:ahLst/>
                  <a:cxnLst/>
                  <a:rect l="l" t="t" r="r" b="b"/>
                  <a:pathLst>
                    <a:path w="29842" h="8403" extrusionOk="0">
                      <a:moveTo>
                        <a:pt x="1" y="1"/>
                      </a:moveTo>
                      <a:lnTo>
                        <a:pt x="6072" y="8402"/>
                      </a:lnTo>
                      <a:lnTo>
                        <a:pt x="28591" y="8402"/>
                      </a:lnTo>
                      <a:cubicBezTo>
                        <a:pt x="29280" y="8402"/>
                        <a:pt x="29842" y="7851"/>
                        <a:pt x="29842" y="7163"/>
                      </a:cubicBezTo>
                      <a:lnTo>
                        <a:pt x="29842" y="1252"/>
                      </a:lnTo>
                      <a:cubicBezTo>
                        <a:pt x="29842" y="563"/>
                        <a:pt x="29280" y="1"/>
                        <a:pt x="28591" y="1"/>
                      </a:cubicBezTo>
                      <a:close/>
                    </a:path>
                  </a:pathLst>
                </a:custGeom>
                <a:solidFill>
                  <a:schemeClr val="bg1">
                    <a:lumMod val="85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3113;p169">
                  <a:extLst>
                    <a:ext uri="{FF2B5EF4-FFF2-40B4-BE49-F238E27FC236}">
                      <a16:creationId xmlns:a16="http://schemas.microsoft.com/office/drawing/2014/main" id="{9E312253-24BC-DFD3-B04F-68D132238176}"/>
                    </a:ext>
                  </a:extLst>
                </p:cNvPr>
                <p:cNvSpPr/>
                <p:nvPr/>
              </p:nvSpPr>
              <p:spPr>
                <a:xfrm>
                  <a:off x="3165220" y="3626629"/>
                  <a:ext cx="165202" cy="162115"/>
                </a:xfrm>
                <a:custGeom>
                  <a:avLst/>
                  <a:gdLst/>
                  <a:ahLst/>
                  <a:cxnLst/>
                  <a:rect l="l" t="t" r="r" b="b"/>
                  <a:pathLst>
                    <a:path w="8563" h="8403" extrusionOk="0">
                      <a:moveTo>
                        <a:pt x="0" y="1"/>
                      </a:moveTo>
                      <a:lnTo>
                        <a:pt x="8402" y="8402"/>
                      </a:lnTo>
                      <a:lnTo>
                        <a:pt x="8562" y="8402"/>
                      </a:lnTo>
                      <a:lnTo>
                        <a:pt x="2491" y="1"/>
                      </a:lnTo>
                      <a:close/>
                    </a:path>
                  </a:pathLst>
                </a:custGeom>
                <a:solidFill>
                  <a:schemeClr val="accent1">
                    <a:lumMod val="40000"/>
                    <a:lumOff val="60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3114;p169">
                  <a:extLst>
                    <a:ext uri="{FF2B5EF4-FFF2-40B4-BE49-F238E27FC236}">
                      <a16:creationId xmlns:a16="http://schemas.microsoft.com/office/drawing/2014/main" id="{997B47E4-08D6-147B-994D-C37F7A00487E}"/>
                    </a:ext>
                  </a:extLst>
                </p:cNvPr>
                <p:cNvSpPr/>
                <p:nvPr/>
              </p:nvSpPr>
              <p:spPr>
                <a:xfrm>
                  <a:off x="3099239" y="3615343"/>
                  <a:ext cx="239381" cy="184687"/>
                </a:xfrm>
                <a:custGeom>
                  <a:avLst/>
                  <a:gdLst/>
                  <a:ahLst/>
                  <a:cxnLst/>
                  <a:rect l="l" t="t" r="r" b="b"/>
                  <a:pathLst>
                    <a:path w="12408" h="9573" extrusionOk="0">
                      <a:moveTo>
                        <a:pt x="1240" y="0"/>
                      </a:moveTo>
                      <a:cubicBezTo>
                        <a:pt x="563" y="0"/>
                        <a:pt x="0" y="551"/>
                        <a:pt x="12" y="1240"/>
                      </a:cubicBezTo>
                      <a:lnTo>
                        <a:pt x="12" y="8344"/>
                      </a:lnTo>
                      <a:cubicBezTo>
                        <a:pt x="12" y="9022"/>
                        <a:pt x="563" y="9572"/>
                        <a:pt x="1240" y="9572"/>
                      </a:cubicBezTo>
                      <a:lnTo>
                        <a:pt x="12407" y="9572"/>
                      </a:lnTo>
                      <a:lnTo>
                        <a:pt x="11822" y="8987"/>
                      </a:lnTo>
                      <a:lnTo>
                        <a:pt x="3420" y="586"/>
                      </a:lnTo>
                      <a:lnTo>
                        <a:pt x="283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3112;p169">
                  <a:extLst>
                    <a:ext uri="{FF2B5EF4-FFF2-40B4-BE49-F238E27FC236}">
                      <a16:creationId xmlns:a16="http://schemas.microsoft.com/office/drawing/2014/main" id="{D00F00F5-941D-8581-C220-D6F6606F7351}"/>
                    </a:ext>
                  </a:extLst>
                </p:cNvPr>
                <p:cNvSpPr/>
                <p:nvPr/>
              </p:nvSpPr>
              <p:spPr>
                <a:xfrm>
                  <a:off x="3229068" y="3626367"/>
                  <a:ext cx="1521747" cy="170352"/>
                </a:xfrm>
                <a:custGeom>
                  <a:avLst/>
                  <a:gdLst/>
                  <a:ahLst/>
                  <a:cxnLst/>
                  <a:rect l="l" t="t" r="r" b="b"/>
                  <a:pathLst>
                    <a:path w="29842" h="8403" extrusionOk="0">
                      <a:moveTo>
                        <a:pt x="1" y="1"/>
                      </a:moveTo>
                      <a:lnTo>
                        <a:pt x="6072" y="8402"/>
                      </a:lnTo>
                      <a:lnTo>
                        <a:pt x="28591" y="8402"/>
                      </a:lnTo>
                      <a:cubicBezTo>
                        <a:pt x="29280" y="8402"/>
                        <a:pt x="29842" y="7851"/>
                        <a:pt x="29842" y="7163"/>
                      </a:cubicBezTo>
                      <a:lnTo>
                        <a:pt x="29842" y="1252"/>
                      </a:lnTo>
                      <a:cubicBezTo>
                        <a:pt x="29842" y="563"/>
                        <a:pt x="29280" y="1"/>
                        <a:pt x="28591" y="1"/>
                      </a:cubicBezTo>
                      <a:close/>
                    </a:path>
                  </a:pathLst>
                </a:custGeom>
                <a:solidFill>
                  <a:schemeClr val="bg1">
                    <a:lumMod val="85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 name="タイトル 1">
                <a:extLst>
                  <a:ext uri="{FF2B5EF4-FFF2-40B4-BE49-F238E27FC236}">
                    <a16:creationId xmlns:a16="http://schemas.microsoft.com/office/drawing/2014/main" id="{7A9B8225-27EF-A7B2-8B70-C2E5E54F859A}"/>
                  </a:ext>
                </a:extLst>
              </p:cNvPr>
              <p:cNvSpPr txBox="1">
                <a:spLocks/>
              </p:cNvSpPr>
              <p:nvPr/>
            </p:nvSpPr>
            <p:spPr>
              <a:xfrm>
                <a:off x="10683978" y="456244"/>
                <a:ext cx="2365292" cy="297885"/>
              </a:xfrm>
              <a:prstGeom prst="rect">
                <a:avLst/>
              </a:prstGeom>
            </p:spPr>
            <p:txBody>
              <a:bodyPr vert="horz" wrap="none" lIns="0" tIns="0" rIns="0" bIns="0" rtlCol="0" anchor="ctr" anchorCtr="0">
                <a:noAutofit/>
              </a:bodyPr>
              <a:lstStyle>
                <a:lvl1pPr algn="ctr" defTabSz="914400" rtl="0" eaLnBrk="1" latinLnBrk="0" hangingPunct="1">
                  <a:lnSpc>
                    <a:spcPct val="90000"/>
                  </a:lnSpc>
                  <a:spcBef>
                    <a:spcPct val="0"/>
                  </a:spcBef>
                  <a:buNone/>
                  <a:defRPr kumimoji="1" sz="2400" b="1" kern="1200">
                    <a:solidFill>
                      <a:schemeClr val="tx1"/>
                    </a:solidFill>
                    <a:latin typeface="Times New Roman"/>
                    <a:ea typeface="Times New Roman"/>
                    <a:cs typeface="Times New Roman"/>
                  </a:defRPr>
                </a:lvl1pPr>
              </a:lstStyle>
              <a:p>
                <a:pPr algn="l"/>
                <a:r>
                  <a:rPr lang="en-US" altLang="ja-JP" dirty="0">
                    <a:latin typeface="Times New Roman" panose="02020603050405020304" pitchFamily="18" charset="0"/>
                    <a:cs typeface="Times New Roman" panose="02020603050405020304" pitchFamily="18" charset="0"/>
                  </a:rPr>
                  <a:t>AI </a:t>
                </a:r>
                <a:r>
                  <a:rPr lang="en-US" altLang="ja-JP" dirty="0" err="1">
                    <a:latin typeface="Times New Roman" panose="02020603050405020304" pitchFamily="18" charset="0"/>
                    <a:cs typeface="Times New Roman" panose="02020603050405020304" pitchFamily="18" charset="0"/>
                  </a:rPr>
                  <a:t>dự</a:t>
                </a:r>
                <a:r>
                  <a:rPr lang="en-US" altLang="ja-JP" dirty="0">
                    <a:latin typeface="Times New Roman" panose="02020603050405020304" pitchFamily="18" charset="0"/>
                    <a:cs typeface="Times New Roman" panose="02020603050405020304" pitchFamily="18" charset="0"/>
                  </a:rPr>
                  <a:t> </a:t>
                </a:r>
                <a:r>
                  <a:rPr lang="en-US" altLang="ja-JP" dirty="0" err="1">
                    <a:latin typeface="Times New Roman" panose="02020603050405020304" pitchFamily="18" charset="0"/>
                    <a:cs typeface="Times New Roman" panose="02020603050405020304" pitchFamily="18" charset="0"/>
                  </a:rPr>
                  <a:t>đoán</a:t>
                </a:r>
                <a:r>
                  <a:rPr lang="en-US" altLang="ja-JP" dirty="0">
                    <a:latin typeface="Times New Roman" panose="02020603050405020304" pitchFamily="18" charset="0"/>
                    <a:cs typeface="Times New Roman" panose="02020603050405020304" pitchFamily="18" charset="0"/>
                  </a:rPr>
                  <a:t> </a:t>
                </a:r>
                <a:r>
                  <a:rPr lang="en-US" altLang="ja-JP" dirty="0" err="1">
                    <a:latin typeface="Times New Roman" panose="02020603050405020304" pitchFamily="18" charset="0"/>
                    <a:cs typeface="Times New Roman" panose="02020603050405020304" pitchFamily="18" charset="0"/>
                  </a:rPr>
                  <a:t>và</a:t>
                </a:r>
                <a:r>
                  <a:rPr lang="en-US" altLang="ja-JP" dirty="0">
                    <a:latin typeface="Times New Roman" panose="02020603050405020304" pitchFamily="18" charset="0"/>
                    <a:cs typeface="Times New Roman" panose="02020603050405020304" pitchFamily="18" charset="0"/>
                  </a:rPr>
                  <a:t> </a:t>
                </a:r>
                <a:r>
                  <a:rPr lang="en-US" altLang="ja-JP" dirty="0" err="1">
                    <a:latin typeface="Times New Roman" panose="02020603050405020304" pitchFamily="18" charset="0"/>
                    <a:cs typeface="Times New Roman" panose="02020603050405020304" pitchFamily="18" charset="0"/>
                  </a:rPr>
                  <a:t>cảnh</a:t>
                </a:r>
                <a:r>
                  <a:rPr lang="en-US" altLang="ja-JP" dirty="0">
                    <a:latin typeface="Times New Roman" panose="02020603050405020304" pitchFamily="18" charset="0"/>
                    <a:cs typeface="Times New Roman" panose="02020603050405020304" pitchFamily="18" charset="0"/>
                  </a:rPr>
                  <a:t> </a:t>
                </a:r>
                <a:r>
                  <a:rPr lang="en-US" altLang="ja-JP" dirty="0" err="1">
                    <a:latin typeface="Times New Roman" panose="02020603050405020304" pitchFamily="18" charset="0"/>
                    <a:cs typeface="Times New Roman" panose="02020603050405020304" pitchFamily="18" charset="0"/>
                  </a:rPr>
                  <a:t>báo</a:t>
                </a:r>
                <a:r>
                  <a:rPr lang="en-US" altLang="ja-JP" dirty="0">
                    <a:latin typeface="Times New Roman" panose="02020603050405020304" pitchFamily="18" charset="0"/>
                    <a:cs typeface="Times New Roman" panose="02020603050405020304" pitchFamily="18" charset="0"/>
                  </a:rPr>
                  <a:t> </a:t>
                </a:r>
                <a:r>
                  <a:rPr lang="en-US" altLang="ja-JP" dirty="0" err="1">
                    <a:latin typeface="Times New Roman" panose="02020603050405020304" pitchFamily="18" charset="0"/>
                    <a:cs typeface="Times New Roman" panose="02020603050405020304" pitchFamily="18" charset="0"/>
                  </a:rPr>
                  <a:t>lỗi</a:t>
                </a:r>
                <a:endParaRPr lang="en-US" altLang="ja-JP" dirty="0">
                  <a:latin typeface="Times New Roman" panose="02020603050405020304" pitchFamily="18" charset="0"/>
                  <a:cs typeface="Times New Roman" panose="02020603050405020304" pitchFamily="18" charset="0"/>
                </a:endParaRPr>
              </a:p>
            </p:txBody>
          </p:sp>
          <p:sp>
            <p:nvSpPr>
              <p:cNvPr id="10" name="タイトル 1">
                <a:extLst>
                  <a:ext uri="{FF2B5EF4-FFF2-40B4-BE49-F238E27FC236}">
                    <a16:creationId xmlns:a16="http://schemas.microsoft.com/office/drawing/2014/main" id="{FC60CC8B-2E78-2FEA-A654-7DA0E200A0BE}"/>
                  </a:ext>
                </a:extLst>
              </p:cNvPr>
              <p:cNvSpPr txBox="1">
                <a:spLocks/>
              </p:cNvSpPr>
              <p:nvPr/>
            </p:nvSpPr>
            <p:spPr>
              <a:xfrm>
                <a:off x="9839575" y="531261"/>
                <a:ext cx="2365292" cy="297885"/>
              </a:xfrm>
              <a:prstGeom prst="rect">
                <a:avLst/>
              </a:prstGeom>
            </p:spPr>
            <p:txBody>
              <a:bodyPr vert="horz" wrap="none" lIns="0" tIns="0" rIns="0" bIns="0" rtlCol="0" anchor="ctr" anchorCtr="0">
                <a:noAutofit/>
              </a:bodyPr>
              <a:lstStyle>
                <a:lvl1pPr algn="ctr" defTabSz="914400" rtl="0" eaLnBrk="1" latinLnBrk="0" hangingPunct="1">
                  <a:lnSpc>
                    <a:spcPct val="90000"/>
                  </a:lnSpc>
                  <a:spcBef>
                    <a:spcPct val="0"/>
                  </a:spcBef>
                  <a:buNone/>
                  <a:defRPr kumimoji="1" sz="2400" b="1" kern="1200">
                    <a:solidFill>
                      <a:schemeClr val="tx1"/>
                    </a:solidFill>
                    <a:latin typeface="Times New Roman"/>
                    <a:ea typeface="Times New Roman"/>
                    <a:cs typeface="Times New Roman"/>
                  </a:defRPr>
                </a:lvl1pPr>
              </a:lstStyle>
              <a:p>
                <a:pPr algn="l"/>
                <a:endParaRPr lang="ja-JP" altLang="en-US" dirty="0">
                  <a:latin typeface="Times New Roman" panose="020F0502020204030204" pitchFamily="34" charset="0"/>
                  <a:cs typeface="Times New Roman" panose="020F0502020204030204" pitchFamily="34" charset="0"/>
                </a:endParaRPr>
              </a:p>
            </p:txBody>
          </p:sp>
        </p:gr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4"/>
          <p:cNvSpPr txBox="1"/>
          <p:nvPr/>
        </p:nvSpPr>
        <p:spPr>
          <a:xfrm>
            <a:off x="706482" y="950000"/>
            <a:ext cx="6600000" cy="520000"/>
          </a:xfrm>
          <a:prstGeom prst="roundRect">
            <a:avLst>
              <a:gd name="adj" fmla="val 22000"/>
            </a:avLst>
          </a:prstGeom>
          <a:gradFill rotWithShape="1">
            <a:gsLst>
              <a:gs pos="0">
                <a:srgbClr val="1B1464"/>
              </a:gs>
              <a:gs pos="100000">
                <a:srgbClr val="3C2BC8"/>
              </a:gs>
            </a:gsLst>
            <a:lin ang="0" scaled="0"/>
          </a:gradFill>
        </p:spPr>
        <p:txBody>
          <a:bodyPr wrap="square" lIns="228600" tIns="0" rIns="114300" bIns="0" anchor="ctr">
            <a:normAutofit/>
          </a:bodyPr>
          <a:lstStyle/>
          <a:p>
            <a:pPr algn="l">
              <a:lnSpc>
                <a:spcPct val="100000"/>
              </a:lnSpc>
              <a:spcBef>
                <a:spcPts val="0"/>
              </a:spcBef>
            </a:pPr>
            <a:r>
              <a:rPr lang="vi-VN" sz="1600" b="1">
                <a:solidFill>
                  <a:srgbClr val="FFFFFF"/>
                </a:solidFill>
              </a:rPr>
              <a:t>Bước 2: Thu thập và liên kết dữ liệu theo lot</a:t>
            </a:r>
          </a:p>
        </p:txBody>
      </p:sp>
      <p:sp>
        <p:nvSpPr>
          <p:cNvPr id="7" name="T7"/>
          <p:cNvSpPr txBox="1"/>
          <p:nvPr/>
        </p:nvSpPr>
        <p:spPr>
          <a:xfrm>
            <a:off x="8549640" y="3840480"/>
            <a:ext cx="3383280" cy="685800"/>
          </a:xfrm>
          <a:prstGeom prst="rect">
            <a:avLst/>
          </a:prstGeom>
          <a:noFill/>
        </p:spPr>
        <p:txBody>
          <a:bodyPr wrap="square" lIns="0" tIns="0" rIns="0" bIns="0" anchor="t">
            <a:normAutofit/>
          </a:bodyPr>
          <a:lstStyle/>
          <a:p>
            <a:pPr algn="ctr">
              <a:lnSpc>
                <a:spcPct val="100000"/>
              </a:lnSpc>
              <a:spcBef>
                <a:spcPts val="0"/>
              </a:spcBef>
            </a:pPr>
            <a:r>
              <a:rPr lang="vi-VN" sz="1300" b="1"/>
              <a:t>DỮ LIỆU LOT</a:t>
            </a:r>
          </a:p>
          <a:p>
            <a:pPr algn="ctr">
              <a:lnSpc>
                <a:spcPct val="100000"/>
              </a:lnSpc>
              <a:spcBef>
                <a:spcPts val="0"/>
              </a:spcBef>
            </a:pPr>
            <a:r>
              <a:rPr lang="vi-VN" sz="1300" b="1"/>
              <a:t>Liên kết lot – Unit – jig</a:t>
            </a:r>
            <a:endParaRPr lang="vi-VN" sz="1300" b="0"/>
          </a:p>
        </p:txBody>
      </p:sp>
      <p:sp>
        <p:nvSpPr>
          <p:cNvPr id="100" name="S100"/>
          <p:cNvSpPr/>
          <p:nvPr/>
        </p:nvSpPr>
        <p:spPr>
          <a:xfrm>
            <a:off x="685800" y="3310128"/>
            <a:ext cx="2377440" cy="1691640"/>
          </a:xfrm>
          <a:prstGeom prst="roundRect">
            <a:avLst>
              <a:gd name="adj" fmla="val 9000"/>
            </a:avLst>
          </a:prstGeom>
          <a:gradFill rotWithShape="1">
            <a:gsLst>
              <a:gs pos="0">
                <a:srgbClr val="FFFFFF"/>
              </a:gs>
              <a:gs pos="100000">
                <a:srgbClr val="F2F4FF"/>
              </a:gs>
            </a:gsLst>
            <a:lin ang="2700000" scaled="0"/>
          </a:gradFill>
          <a:ln w="12700">
            <a:solidFill>
              <a:srgbClr val="C7CEF5"/>
            </a:solidFill>
          </a:ln>
          <a:effectLst>
            <a:outerShdw blurRad="140000" dist="38000" dir="5400000" algn="t" rotWithShape="0">
              <a:srgbClr val="1B1464">
                <a:alpha val="13000"/>
              </a:srgbClr>
            </a:outerShdw>
          </a:effectLst>
        </p:spPr>
        <p:txBody>
          <a:bodyPr/>
          <a:lstStyle/>
          <a:p>
            <a:endParaRPr lang="vi-VN"/>
          </a:p>
        </p:txBody>
      </p:sp>
      <p:sp>
        <p:nvSpPr>
          <p:cNvPr id="101" name="S101"/>
          <p:cNvSpPr/>
          <p:nvPr/>
        </p:nvSpPr>
        <p:spPr>
          <a:xfrm>
            <a:off x="685800" y="2852928"/>
            <a:ext cx="7726680" cy="45720"/>
          </a:xfrm>
          <a:prstGeom prst="rect">
            <a:avLst/>
          </a:prstGeom>
          <a:gradFill rotWithShape="1">
            <a:gsLst>
              <a:gs pos="0">
                <a:srgbClr val="2E1C9E"/>
              </a:gs>
              <a:gs pos="100000">
                <a:srgbClr val="00C2FF"/>
              </a:gs>
            </a:gsLst>
            <a:lin ang="5400000" scaled="0"/>
          </a:gradFill>
          <a:ln>
            <a:noFill/>
          </a:ln>
        </p:spPr>
        <p:txBody>
          <a:bodyPr/>
          <a:lstStyle/>
          <a:p>
            <a:endParaRPr lang="vi-VN"/>
          </a:p>
        </p:txBody>
      </p:sp>
      <p:pic>
        <p:nvPicPr>
          <p:cNvPr id="102" name="I102"/>
          <p:cNvPicPr>
            <a:picLocks noChangeAspect="1"/>
          </p:cNvPicPr>
          <p:nvPr/>
        </p:nvPicPr>
        <p:blipFill>
          <a:blip r:embed="rId3"/>
          <a:stretch>
            <a:fillRect/>
          </a:stretch>
        </p:blipFill>
        <p:spPr>
          <a:xfrm>
            <a:off x="1545336" y="1938528"/>
            <a:ext cx="658368" cy="658368"/>
          </a:xfrm>
          <a:prstGeom prst="rect">
            <a:avLst/>
          </a:prstGeom>
        </p:spPr>
      </p:pic>
      <p:sp>
        <p:nvSpPr>
          <p:cNvPr id="103" name="T103"/>
          <p:cNvSpPr txBox="1"/>
          <p:nvPr/>
        </p:nvSpPr>
        <p:spPr>
          <a:xfrm>
            <a:off x="822960" y="3493008"/>
            <a:ext cx="2103120" cy="340157"/>
          </a:xfrm>
          <a:prstGeom prst="rect">
            <a:avLst/>
          </a:prstGeom>
          <a:noFill/>
        </p:spPr>
        <p:txBody>
          <a:bodyPr wrap="square" lIns="0" tIns="0" rIns="0" bIns="0" anchor="ctr">
            <a:normAutofit fontScale="92500" lnSpcReduction="10000"/>
          </a:bodyPr>
          <a:lstStyle/>
          <a:p>
            <a:pPr algn="l">
              <a:lnSpc>
                <a:spcPct val="100000"/>
              </a:lnSpc>
              <a:spcBef>
                <a:spcPts val="0"/>
              </a:spcBef>
            </a:pPr>
            <a:r>
              <a:rPr lang="vi-VN" sz="1300" b="1">
                <a:solidFill>
                  <a:srgbClr val="2E1C9E"/>
                </a:solidFill>
              </a:rPr>
              <a:t>01  |  Thông số linh kiện nhựa</a:t>
            </a:r>
          </a:p>
        </p:txBody>
      </p:sp>
      <p:sp>
        <p:nvSpPr>
          <p:cNvPr id="104" name="T104"/>
          <p:cNvSpPr txBox="1"/>
          <p:nvPr/>
        </p:nvSpPr>
        <p:spPr>
          <a:xfrm>
            <a:off x="822960" y="3904488"/>
            <a:ext cx="2103120" cy="1188720"/>
          </a:xfrm>
          <a:prstGeom prst="rect">
            <a:avLst/>
          </a:prstGeom>
          <a:noFill/>
        </p:spPr>
        <p:txBody>
          <a:bodyPr wrap="square" lIns="0" tIns="0" rIns="0" bIns="0" anchor="t">
            <a:normAutofit/>
          </a:bodyPr>
          <a:lstStyle/>
          <a:p>
            <a:pPr algn="l">
              <a:lnSpc>
                <a:spcPct val="100000"/>
              </a:lnSpc>
              <a:spcBef>
                <a:spcPts val="0"/>
              </a:spcBef>
            </a:pPr>
            <a:r>
              <a:rPr lang="vi-VN" sz="1300" b="0">
                <a:solidFill>
                  <a:srgbClr val="505050"/>
                </a:solidFill>
              </a:rPr>
              <a:t>Đo và ghi nhận các kích thước trọng yếu theo từng lot trước khi lắp ráp</a:t>
            </a:r>
          </a:p>
        </p:txBody>
      </p:sp>
      <p:sp>
        <p:nvSpPr>
          <p:cNvPr id="106" name="S106"/>
          <p:cNvSpPr/>
          <p:nvPr/>
        </p:nvSpPr>
        <p:spPr>
          <a:xfrm>
            <a:off x="3383280" y="3310128"/>
            <a:ext cx="2377440" cy="1691640"/>
          </a:xfrm>
          <a:prstGeom prst="roundRect">
            <a:avLst>
              <a:gd name="adj" fmla="val 9000"/>
            </a:avLst>
          </a:prstGeom>
          <a:gradFill rotWithShape="1">
            <a:gsLst>
              <a:gs pos="0">
                <a:srgbClr val="FFFFFF"/>
              </a:gs>
              <a:gs pos="100000">
                <a:srgbClr val="F2F4FF"/>
              </a:gs>
            </a:gsLst>
            <a:lin ang="2700000" scaled="0"/>
          </a:gradFill>
          <a:ln w="12700">
            <a:solidFill>
              <a:srgbClr val="C7CEF5"/>
            </a:solidFill>
          </a:ln>
          <a:effectLst>
            <a:outerShdw blurRad="140000" dist="38000" dir="5400000" algn="t" rotWithShape="0">
              <a:srgbClr val="1B1464">
                <a:alpha val="13000"/>
              </a:srgbClr>
            </a:outerShdw>
          </a:effectLst>
        </p:spPr>
        <p:txBody>
          <a:bodyPr/>
          <a:lstStyle/>
          <a:p>
            <a:endParaRPr lang="vi-VN" sz="1300"/>
          </a:p>
        </p:txBody>
      </p:sp>
      <p:sp>
        <p:nvSpPr>
          <p:cNvPr id="107" name="S107"/>
          <p:cNvSpPr/>
          <p:nvPr/>
        </p:nvSpPr>
        <p:spPr>
          <a:xfrm>
            <a:off x="1741932" y="2743200"/>
            <a:ext cx="265176" cy="265176"/>
          </a:xfrm>
          <a:prstGeom prst="ellipse">
            <a:avLst/>
          </a:prstGeom>
          <a:gradFill rotWithShape="1">
            <a:gsLst>
              <a:gs pos="0">
                <a:srgbClr val="2E1C9E"/>
              </a:gs>
              <a:gs pos="100000">
                <a:srgbClr val="00C2FF"/>
              </a:gs>
            </a:gsLst>
            <a:lin ang="5400000" scaled="0"/>
          </a:gradFill>
          <a:ln w="19050">
            <a:solidFill>
              <a:srgbClr val="FFFFFF"/>
            </a:solidFill>
          </a:ln>
        </p:spPr>
        <p:txBody>
          <a:bodyPr/>
          <a:lstStyle/>
          <a:p>
            <a:pPr algn="ctr"/>
            <a:endParaRPr lang="vi-VN" sz="1300" dirty="0"/>
          </a:p>
        </p:txBody>
      </p:sp>
      <p:pic>
        <p:nvPicPr>
          <p:cNvPr id="108" name="I108"/>
          <p:cNvPicPr>
            <a:picLocks noChangeAspect="1"/>
          </p:cNvPicPr>
          <p:nvPr/>
        </p:nvPicPr>
        <p:blipFill>
          <a:blip r:embed="rId4"/>
          <a:stretch>
            <a:fillRect/>
          </a:stretch>
        </p:blipFill>
        <p:spPr>
          <a:xfrm>
            <a:off x="4242816" y="1938528"/>
            <a:ext cx="658368" cy="658368"/>
          </a:xfrm>
          <a:prstGeom prst="rect">
            <a:avLst/>
          </a:prstGeom>
        </p:spPr>
      </p:pic>
      <p:sp>
        <p:nvSpPr>
          <p:cNvPr id="109" name="T109"/>
          <p:cNvSpPr txBox="1"/>
          <p:nvPr/>
        </p:nvSpPr>
        <p:spPr>
          <a:xfrm>
            <a:off x="3520440" y="3493008"/>
            <a:ext cx="2103120" cy="340157"/>
          </a:xfrm>
          <a:prstGeom prst="rect">
            <a:avLst/>
          </a:prstGeom>
          <a:noFill/>
        </p:spPr>
        <p:txBody>
          <a:bodyPr wrap="square" lIns="0" tIns="0" rIns="0" bIns="0" anchor="ctr">
            <a:normAutofit fontScale="92500"/>
          </a:bodyPr>
          <a:lstStyle/>
          <a:p>
            <a:pPr algn="l">
              <a:lnSpc>
                <a:spcPct val="100000"/>
              </a:lnSpc>
              <a:spcBef>
                <a:spcPts val="0"/>
              </a:spcBef>
            </a:pPr>
            <a:r>
              <a:rPr lang="vi-VN" sz="1300" b="1">
                <a:solidFill>
                  <a:srgbClr val="2E1C9E"/>
                </a:solidFill>
              </a:rPr>
              <a:t>02  |  Dữ liệu kiểm tra jig</a:t>
            </a:r>
          </a:p>
        </p:txBody>
      </p:sp>
      <p:sp>
        <p:nvSpPr>
          <p:cNvPr id="110" name="T110"/>
          <p:cNvSpPr txBox="1">
            <a:spLocks/>
          </p:cNvSpPr>
          <p:nvPr/>
        </p:nvSpPr>
        <p:spPr>
          <a:xfrm>
            <a:off x="3520440" y="3904488"/>
            <a:ext cx="2103120" cy="1188720"/>
          </a:xfrm>
          <a:prstGeom prst="rect">
            <a:avLst/>
          </a:prstGeom>
          <a:noFill/>
        </p:spPr>
        <p:txBody>
          <a:bodyPr wrap="square" lIns="0" tIns="0" rIns="0" bIns="0" anchor="t">
            <a:normAutofit/>
          </a:bodyPr>
          <a:lstStyle/>
          <a:p>
            <a:pPr algn="l">
              <a:lnSpc>
                <a:spcPct val="100000"/>
              </a:lnSpc>
              <a:spcBef>
                <a:spcPts val="0"/>
              </a:spcBef>
            </a:pPr>
            <a:r>
              <a:rPr lang="vi-VN" sz="1300" b="0">
                <a:solidFill>
                  <a:srgbClr val="505050"/>
                </a:solidFill>
              </a:rPr>
              <a:t>Kết quả đo của Unit sau lắp ráp được ghi nhận tự động trên jig</a:t>
            </a:r>
          </a:p>
        </p:txBody>
      </p:sp>
      <p:sp>
        <p:nvSpPr>
          <p:cNvPr id="112" name="S112"/>
          <p:cNvSpPr/>
          <p:nvPr/>
        </p:nvSpPr>
        <p:spPr>
          <a:xfrm>
            <a:off x="6080760" y="3310128"/>
            <a:ext cx="2377440" cy="1691640"/>
          </a:xfrm>
          <a:prstGeom prst="roundRect">
            <a:avLst>
              <a:gd name="adj" fmla="val 9000"/>
            </a:avLst>
          </a:prstGeom>
          <a:gradFill rotWithShape="1">
            <a:gsLst>
              <a:gs pos="0">
                <a:srgbClr val="FFFFFF"/>
              </a:gs>
              <a:gs pos="100000">
                <a:srgbClr val="F2F4FF"/>
              </a:gs>
            </a:gsLst>
            <a:lin ang="2700000" scaled="0"/>
          </a:gradFill>
          <a:ln w="12700">
            <a:solidFill>
              <a:srgbClr val="C7CEF5"/>
            </a:solidFill>
          </a:ln>
          <a:effectLst>
            <a:outerShdw blurRad="140000" dist="38000" dir="5400000" algn="t" rotWithShape="0">
              <a:srgbClr val="1B1464">
                <a:alpha val="13000"/>
              </a:srgbClr>
            </a:outerShdw>
          </a:effectLst>
        </p:spPr>
        <p:txBody>
          <a:bodyPr/>
          <a:lstStyle/>
          <a:p>
            <a:endParaRPr lang="vi-VN" sz="1300"/>
          </a:p>
        </p:txBody>
      </p:sp>
      <p:sp>
        <p:nvSpPr>
          <p:cNvPr id="113" name="S113"/>
          <p:cNvSpPr>
            <a:spLocks/>
          </p:cNvSpPr>
          <p:nvPr/>
        </p:nvSpPr>
        <p:spPr>
          <a:xfrm>
            <a:off x="4439412" y="2743200"/>
            <a:ext cx="265176" cy="265176"/>
          </a:xfrm>
          <a:prstGeom prst="ellipse">
            <a:avLst/>
          </a:prstGeom>
          <a:gradFill rotWithShape="1">
            <a:gsLst>
              <a:gs pos="0">
                <a:srgbClr val="2E1C9E"/>
              </a:gs>
              <a:gs pos="100000">
                <a:srgbClr val="00C2FF"/>
              </a:gs>
            </a:gsLst>
            <a:lin ang="5400000" scaled="0"/>
          </a:gradFill>
          <a:ln w="19050">
            <a:solidFill>
              <a:srgbClr val="FFFFFF"/>
            </a:solidFill>
          </a:ln>
        </p:spPr>
        <p:txBody>
          <a:bodyPr/>
          <a:lstStyle/>
          <a:p>
            <a:endParaRPr lang="vi-VN" sz="1300"/>
          </a:p>
        </p:txBody>
      </p:sp>
      <p:pic>
        <p:nvPicPr>
          <p:cNvPr id="114" name="I114"/>
          <p:cNvPicPr>
            <a:picLocks noChangeAspect="1"/>
          </p:cNvPicPr>
          <p:nvPr/>
        </p:nvPicPr>
        <p:blipFill>
          <a:blip r:embed="rId5"/>
          <a:stretch>
            <a:fillRect/>
          </a:stretch>
        </p:blipFill>
        <p:spPr>
          <a:xfrm>
            <a:off x="6940296" y="1938528"/>
            <a:ext cx="658368" cy="658368"/>
          </a:xfrm>
          <a:prstGeom prst="rect">
            <a:avLst/>
          </a:prstGeom>
        </p:spPr>
      </p:pic>
      <p:sp>
        <p:nvSpPr>
          <p:cNvPr id="115" name="T115"/>
          <p:cNvSpPr txBox="1">
            <a:spLocks/>
          </p:cNvSpPr>
          <p:nvPr/>
        </p:nvSpPr>
        <p:spPr>
          <a:xfrm>
            <a:off x="6217920" y="3493008"/>
            <a:ext cx="2103120" cy="340157"/>
          </a:xfrm>
          <a:prstGeom prst="rect">
            <a:avLst/>
          </a:prstGeom>
          <a:noFill/>
        </p:spPr>
        <p:txBody>
          <a:bodyPr wrap="square" lIns="0" tIns="0" rIns="0" bIns="0" anchor="ctr">
            <a:normAutofit fontScale="92500" lnSpcReduction="10000"/>
          </a:bodyPr>
          <a:lstStyle/>
          <a:p>
            <a:pPr algn="l">
              <a:lnSpc>
                <a:spcPct val="100000"/>
              </a:lnSpc>
              <a:spcBef>
                <a:spcPts val="0"/>
              </a:spcBef>
            </a:pPr>
            <a:r>
              <a:rPr lang="vi-VN" sz="1300" b="1" dirty="0">
                <a:solidFill>
                  <a:srgbClr val="2E1C9E"/>
                </a:solidFill>
              </a:rPr>
              <a:t>03  |  Gắn liên kết lot – Unit</a:t>
            </a:r>
          </a:p>
        </p:txBody>
      </p:sp>
      <p:sp>
        <p:nvSpPr>
          <p:cNvPr id="116" name="T116"/>
          <p:cNvSpPr txBox="1"/>
          <p:nvPr/>
        </p:nvSpPr>
        <p:spPr>
          <a:xfrm>
            <a:off x="6217920" y="3904488"/>
            <a:ext cx="2103120" cy="1188720"/>
          </a:xfrm>
          <a:prstGeom prst="rect">
            <a:avLst/>
          </a:prstGeom>
          <a:noFill/>
        </p:spPr>
        <p:txBody>
          <a:bodyPr wrap="square" lIns="0" tIns="0" rIns="0" bIns="0" anchor="t">
            <a:normAutofit/>
          </a:bodyPr>
          <a:lstStyle/>
          <a:p>
            <a:pPr algn="l">
              <a:lnSpc>
                <a:spcPct val="100000"/>
              </a:lnSpc>
              <a:spcBef>
                <a:spcPts val="0"/>
              </a:spcBef>
            </a:pPr>
            <a:r>
              <a:rPr lang="vi-VN" sz="1300" b="0">
                <a:solidFill>
                  <a:srgbClr val="505050"/>
                </a:solidFill>
              </a:rPr>
              <a:t>Mỗi kết quả đo trên jig đều truy ngược được về lot linh kiện đã sử dụng</a:t>
            </a:r>
          </a:p>
        </p:txBody>
      </p:sp>
      <p:sp>
        <p:nvSpPr>
          <p:cNvPr id="118" name="S118"/>
          <p:cNvSpPr/>
          <p:nvPr/>
        </p:nvSpPr>
        <p:spPr>
          <a:xfrm>
            <a:off x="706482" y="5540000"/>
            <a:ext cx="10779036" cy="620000"/>
          </a:xfrm>
          <a:prstGeom prst="roundRect">
            <a:avLst>
              <a:gd name="adj" fmla="val 9000"/>
            </a:avLst>
          </a:prstGeom>
          <a:gradFill rotWithShape="1">
            <a:gsLst>
              <a:gs pos="0">
                <a:srgbClr val="EDEBFB"/>
              </a:gs>
              <a:gs pos="100000">
                <a:srgbClr val="E2F6FF"/>
              </a:gs>
            </a:gsLst>
            <a:lin ang="0" scaled="0"/>
          </a:gradFill>
          <a:ln>
            <a:noFill/>
          </a:ln>
        </p:spPr>
        <p:txBody>
          <a:bodyPr/>
          <a:lstStyle/>
          <a:p>
            <a:endParaRPr lang="vi-VN" sz="1300"/>
          </a:p>
        </p:txBody>
      </p:sp>
      <p:sp>
        <p:nvSpPr>
          <p:cNvPr id="119" name="T119"/>
          <p:cNvSpPr txBox="1"/>
          <p:nvPr/>
        </p:nvSpPr>
        <p:spPr>
          <a:xfrm>
            <a:off x="1006482" y="5540000"/>
            <a:ext cx="10179036" cy="620000"/>
          </a:xfrm>
          <a:prstGeom prst="rect">
            <a:avLst/>
          </a:prstGeom>
          <a:noFill/>
        </p:spPr>
        <p:txBody>
          <a:bodyPr wrap="square" lIns="0" tIns="0" rIns="0" bIns="0" anchor="ctr">
            <a:normAutofit/>
          </a:bodyPr>
          <a:lstStyle/>
          <a:p>
            <a:pPr algn="ctr">
              <a:lnSpc>
                <a:spcPct val="100000"/>
              </a:lnSpc>
              <a:spcBef>
                <a:spcPts val="0"/>
              </a:spcBef>
            </a:pPr>
            <a:r>
              <a:rPr lang="en-US" sz="1300" b="1" dirty="0" err="1">
                <a:solidFill>
                  <a:srgbClr val="2E1C9E"/>
                </a:solidFill>
              </a:rPr>
              <a:t>Có</a:t>
            </a:r>
            <a:r>
              <a:rPr lang="en-US" sz="1300" b="1" dirty="0">
                <a:solidFill>
                  <a:srgbClr val="2E1C9E"/>
                </a:solidFill>
              </a:rPr>
              <a:t> </a:t>
            </a:r>
            <a:r>
              <a:rPr lang="vi-VN" sz="1300" b="1" dirty="0">
                <a:solidFill>
                  <a:srgbClr val="2E1C9E"/>
                </a:solidFill>
              </a:rPr>
              <a:t>bộ dữ liệu sạch và liên kết đúng lot – Unit – jig, làm nền tảng cho AI phân tích</a:t>
            </a:r>
          </a:p>
        </p:txBody>
      </p:sp>
      <p:pic>
        <p:nvPicPr>
          <p:cNvPr id="14" name="Picture 13">
            <a:extLst>
              <a:ext uri="{FF2B5EF4-FFF2-40B4-BE49-F238E27FC236}">
                <a16:creationId xmlns:a16="http://schemas.microsoft.com/office/drawing/2014/main" id="{AEC4E1E4-ADC7-44C7-A1E0-F7570E3C27A6}"/>
              </a:ext>
            </a:extLst>
          </p:cNvPr>
          <p:cNvPicPr>
            <a:picLocks noChangeAspect="1"/>
          </p:cNvPicPr>
          <p:nvPr/>
        </p:nvPicPr>
        <p:blipFill>
          <a:blip r:embed="rId6" cstate="print">
            <a:extLst>
              <a:ext uri="{28A0092B-C50C-407E-A947-70E740481C1C}">
                <a14:useLocalDpi xmlns:a14="http://schemas.microsoft.com/office/drawing/2010/main" val="0"/>
              </a:ext>
            </a:extLst>
          </a:blip>
          <a:srcRect/>
          <a:stretch/>
        </p:blipFill>
        <p:spPr>
          <a:xfrm>
            <a:off x="8778240" y="1737360"/>
            <a:ext cx="2926080" cy="1947672"/>
          </a:xfrm>
          <a:prstGeom prst="rect">
            <a:avLst/>
          </a:prstGeom>
        </p:spPr>
      </p:pic>
      <p:sp>
        <p:nvSpPr>
          <p:cNvPr id="16" name="Freeform: Shape 15">
            <a:extLst>
              <a:ext uri="{FF2B5EF4-FFF2-40B4-BE49-F238E27FC236}">
                <a16:creationId xmlns:a16="http://schemas.microsoft.com/office/drawing/2014/main" id="{7C2E7097-76DA-45EB-8030-F6B88B0AC6D5}"/>
              </a:ext>
            </a:extLst>
          </p:cNvPr>
          <p:cNvSpPr/>
          <p:nvPr/>
        </p:nvSpPr>
        <p:spPr>
          <a:xfrm>
            <a:off x="10561320" y="2331720"/>
            <a:ext cx="82296" cy="82296"/>
          </a:xfrm>
          <a:custGeom>
            <a:avLst/>
            <a:gdLst>
              <a:gd name="csX0" fmla="*/ 457200 w 918056"/>
              <a:gd name="csY0" fmla="*/ 914400 h 914400"/>
              <a:gd name="csX1" fmla="*/ 0 w 918056"/>
              <a:gd name="csY1" fmla="*/ 457200 h 914400"/>
              <a:gd name="csX2" fmla="*/ 3656 w 918056"/>
              <a:gd name="csY2" fmla="*/ 457200 h 914400"/>
              <a:gd name="csX3" fmla="*/ 460856 w 918056"/>
              <a:gd name="csY3" fmla="*/ 0 h 914400"/>
              <a:gd name="csX4" fmla="*/ 918056 w 918056"/>
              <a:gd name="csY4" fmla="*/ 457200 h 914400"/>
              <a:gd name="csX5" fmla="*/ 914400 w 918056"/>
              <a:gd name="csY5" fmla="*/ 457200 h 914400"/>
              <a:gd name="csX6" fmla="*/ 457200 w 918056"/>
              <a:gd name="csY6" fmla="*/ 914400 h 9144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918056" h="914400">
                <a:moveTo>
                  <a:pt x="457200" y="914400"/>
                </a:moveTo>
                <a:cubicBezTo>
                  <a:pt x="457200" y="661895"/>
                  <a:pt x="252505" y="457200"/>
                  <a:pt x="0" y="457200"/>
                </a:cubicBezTo>
                <a:lnTo>
                  <a:pt x="3656" y="457200"/>
                </a:lnTo>
                <a:cubicBezTo>
                  <a:pt x="256161" y="457200"/>
                  <a:pt x="460856" y="252505"/>
                  <a:pt x="460856" y="0"/>
                </a:cubicBezTo>
                <a:cubicBezTo>
                  <a:pt x="460856" y="252505"/>
                  <a:pt x="665551" y="457200"/>
                  <a:pt x="918056" y="457200"/>
                </a:cubicBezTo>
                <a:lnTo>
                  <a:pt x="914400" y="457200"/>
                </a:lnTo>
                <a:cubicBezTo>
                  <a:pt x="661895" y="457200"/>
                  <a:pt x="457200" y="661895"/>
                  <a:pt x="457200" y="914400"/>
                </a:cubicBezTo>
                <a:close/>
              </a:path>
            </a:pathLst>
          </a:custGeom>
          <a:gradFill>
            <a:gsLst>
              <a:gs pos="0">
                <a:srgbClr val="0849DA"/>
              </a:gs>
              <a:gs pos="100000">
                <a:srgbClr val="7030A0"/>
              </a:gs>
            </a:gsLst>
            <a:lin ang="5400000" scaled="1"/>
          </a:gradFill>
          <a:ln w="31750" cap="rnd">
            <a:gradFill>
              <a:gsLst>
                <a:gs pos="0">
                  <a:srgbClr val="0849DA"/>
                </a:gs>
                <a:gs pos="100000">
                  <a:srgbClr val="7030A0"/>
                </a:gs>
              </a:gsLst>
              <a:lin ang="5400000" scaled="1"/>
            </a:gradFill>
            <a:round/>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300"/>
          </a:p>
        </p:txBody>
      </p:sp>
      <p:sp>
        <p:nvSpPr>
          <p:cNvPr id="18" name="Freeform: Shape 17">
            <a:extLst>
              <a:ext uri="{FF2B5EF4-FFF2-40B4-BE49-F238E27FC236}">
                <a16:creationId xmlns:a16="http://schemas.microsoft.com/office/drawing/2014/main" id="{6C006A07-FB74-4291-987E-267D72D8D1F5}"/>
              </a:ext>
            </a:extLst>
          </p:cNvPr>
          <p:cNvSpPr/>
          <p:nvPr/>
        </p:nvSpPr>
        <p:spPr>
          <a:xfrm>
            <a:off x="10543032" y="2487168"/>
            <a:ext cx="45720" cy="45720"/>
          </a:xfrm>
          <a:custGeom>
            <a:avLst/>
            <a:gdLst>
              <a:gd name="csX0" fmla="*/ 457200 w 918056"/>
              <a:gd name="csY0" fmla="*/ 914400 h 914400"/>
              <a:gd name="csX1" fmla="*/ 0 w 918056"/>
              <a:gd name="csY1" fmla="*/ 457200 h 914400"/>
              <a:gd name="csX2" fmla="*/ 3656 w 918056"/>
              <a:gd name="csY2" fmla="*/ 457200 h 914400"/>
              <a:gd name="csX3" fmla="*/ 460856 w 918056"/>
              <a:gd name="csY3" fmla="*/ 0 h 914400"/>
              <a:gd name="csX4" fmla="*/ 918056 w 918056"/>
              <a:gd name="csY4" fmla="*/ 457200 h 914400"/>
              <a:gd name="csX5" fmla="*/ 914400 w 918056"/>
              <a:gd name="csY5" fmla="*/ 457200 h 914400"/>
              <a:gd name="csX6" fmla="*/ 457200 w 918056"/>
              <a:gd name="csY6" fmla="*/ 914400 h 9144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918056" h="914400">
                <a:moveTo>
                  <a:pt x="457200" y="914400"/>
                </a:moveTo>
                <a:cubicBezTo>
                  <a:pt x="457200" y="661895"/>
                  <a:pt x="252505" y="457200"/>
                  <a:pt x="0" y="457200"/>
                </a:cubicBezTo>
                <a:lnTo>
                  <a:pt x="3656" y="457200"/>
                </a:lnTo>
                <a:cubicBezTo>
                  <a:pt x="256161" y="457200"/>
                  <a:pt x="460856" y="252505"/>
                  <a:pt x="460856" y="0"/>
                </a:cubicBezTo>
                <a:cubicBezTo>
                  <a:pt x="460856" y="252505"/>
                  <a:pt x="665551" y="457200"/>
                  <a:pt x="918056" y="457200"/>
                </a:cubicBezTo>
                <a:lnTo>
                  <a:pt x="914400" y="457200"/>
                </a:lnTo>
                <a:cubicBezTo>
                  <a:pt x="661895" y="457200"/>
                  <a:pt x="457200" y="661895"/>
                  <a:pt x="457200" y="914400"/>
                </a:cubicBezTo>
                <a:close/>
              </a:path>
            </a:pathLst>
          </a:custGeom>
          <a:gradFill>
            <a:gsLst>
              <a:gs pos="0">
                <a:srgbClr val="0849DA">
                  <a:lumMod val="97000"/>
                </a:srgbClr>
              </a:gs>
              <a:gs pos="100000">
                <a:srgbClr val="7030A0"/>
              </a:gs>
            </a:gsLst>
            <a:lin ang="5400000" scaled="1"/>
          </a:gradFill>
          <a:ln w="15875" cap="rnd">
            <a:gradFill>
              <a:gsLst>
                <a:gs pos="0">
                  <a:srgbClr val="0849DA"/>
                </a:gs>
                <a:gs pos="100000">
                  <a:srgbClr val="7030A0"/>
                </a:gs>
              </a:gsLst>
              <a:lin ang="5400000" scaled="1"/>
            </a:gradFill>
            <a:round/>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300"/>
          </a:p>
        </p:txBody>
      </p:sp>
      <p:pic>
        <p:nvPicPr>
          <p:cNvPr id="97" name="I121">
            <a:extLst>
              <a:ext uri="{FF2B5EF4-FFF2-40B4-BE49-F238E27FC236}">
                <a16:creationId xmlns:a16="http://schemas.microsoft.com/office/drawing/2014/main" id="{BD49DAC3-CAAB-468A-BE52-908B2FBB33A5}"/>
              </a:ext>
            </a:extLst>
          </p:cNvPr>
          <p:cNvPicPr>
            <a:picLocks noChangeAspect="1"/>
          </p:cNvPicPr>
          <p:nvPr/>
        </p:nvPicPr>
        <p:blipFill>
          <a:blip r:embed="rId7"/>
          <a:stretch>
            <a:fillRect/>
          </a:stretch>
        </p:blipFill>
        <p:spPr>
          <a:xfrm>
            <a:off x="1106482" y="5500000"/>
            <a:ext cx="660000" cy="660000"/>
          </a:xfrm>
          <a:prstGeom prst="rect">
            <a:avLst/>
          </a:prstGeom>
        </p:spPr>
      </p:pic>
      <p:grpSp>
        <p:nvGrpSpPr>
          <p:cNvPr id="2" name="Group 1">
            <a:extLst>
              <a:ext uri="{FF2B5EF4-FFF2-40B4-BE49-F238E27FC236}">
                <a16:creationId xmlns:a16="http://schemas.microsoft.com/office/drawing/2014/main" id="{F2424BF3-E9D2-B638-5F37-B885054307C1}"/>
              </a:ext>
            </a:extLst>
          </p:cNvPr>
          <p:cNvGrpSpPr/>
          <p:nvPr/>
        </p:nvGrpSpPr>
        <p:grpSpPr>
          <a:xfrm>
            <a:off x="2878176" y="102888"/>
            <a:ext cx="5890516" cy="526026"/>
            <a:chOff x="9603893" y="430511"/>
            <a:chExt cx="5890516" cy="605842"/>
          </a:xfrm>
        </p:grpSpPr>
        <p:sp>
          <p:nvSpPr>
            <p:cNvPr id="5" name="Google Shape;3112;p169">
              <a:extLst>
                <a:ext uri="{FF2B5EF4-FFF2-40B4-BE49-F238E27FC236}">
                  <a16:creationId xmlns:a16="http://schemas.microsoft.com/office/drawing/2014/main" id="{4551BB5F-83B5-1F11-AAA9-E3AA44C33BA3}"/>
                </a:ext>
              </a:extLst>
            </p:cNvPr>
            <p:cNvSpPr/>
            <p:nvPr/>
          </p:nvSpPr>
          <p:spPr>
            <a:xfrm>
              <a:off x="10050805" y="457775"/>
              <a:ext cx="2983199" cy="568501"/>
            </a:xfrm>
            <a:custGeom>
              <a:avLst/>
              <a:gdLst/>
              <a:ahLst/>
              <a:cxnLst/>
              <a:rect l="l" t="t" r="r" b="b"/>
              <a:pathLst>
                <a:path w="29842" h="8403" extrusionOk="0">
                  <a:moveTo>
                    <a:pt x="1" y="1"/>
                  </a:moveTo>
                  <a:lnTo>
                    <a:pt x="6072" y="8402"/>
                  </a:lnTo>
                  <a:lnTo>
                    <a:pt x="28591" y="8402"/>
                  </a:lnTo>
                  <a:cubicBezTo>
                    <a:pt x="29280" y="8402"/>
                    <a:pt x="29842" y="7851"/>
                    <a:pt x="29842" y="7163"/>
                  </a:cubicBezTo>
                  <a:lnTo>
                    <a:pt x="29842" y="1252"/>
                  </a:lnTo>
                  <a:cubicBezTo>
                    <a:pt x="29842" y="563"/>
                    <a:pt x="29280" y="1"/>
                    <a:pt x="28591" y="1"/>
                  </a:cubicBezTo>
                  <a:close/>
                </a:path>
              </a:pathLst>
            </a:custGeom>
            <a:solidFill>
              <a:schemeClr val="bg1">
                <a:lumMod val="85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 name="Group 5">
              <a:extLst>
                <a:ext uri="{FF2B5EF4-FFF2-40B4-BE49-F238E27FC236}">
                  <a16:creationId xmlns:a16="http://schemas.microsoft.com/office/drawing/2014/main" id="{9E746FF6-6145-9F49-B246-8F5E9C3DC146}"/>
                </a:ext>
              </a:extLst>
            </p:cNvPr>
            <p:cNvGrpSpPr/>
            <p:nvPr/>
          </p:nvGrpSpPr>
          <p:grpSpPr>
            <a:xfrm>
              <a:off x="9603893" y="430511"/>
              <a:ext cx="5890516" cy="605842"/>
              <a:chOff x="9680198" y="256226"/>
              <a:chExt cx="5767917" cy="690195"/>
            </a:xfrm>
          </p:grpSpPr>
          <p:grpSp>
            <p:nvGrpSpPr>
              <p:cNvPr id="8" name="Google Shape;3110;p169">
                <a:extLst>
                  <a:ext uri="{FF2B5EF4-FFF2-40B4-BE49-F238E27FC236}">
                    <a16:creationId xmlns:a16="http://schemas.microsoft.com/office/drawing/2014/main" id="{98622F0E-EEF8-F7B2-DDD2-57926DF9528E}"/>
                  </a:ext>
                </a:extLst>
              </p:cNvPr>
              <p:cNvGrpSpPr/>
              <p:nvPr/>
            </p:nvGrpSpPr>
            <p:grpSpPr>
              <a:xfrm>
                <a:off x="9680198" y="256226"/>
                <a:ext cx="5767917" cy="690195"/>
                <a:chOff x="3099239" y="3615343"/>
                <a:chExt cx="1651576" cy="184687"/>
              </a:xfrm>
            </p:grpSpPr>
            <p:sp>
              <p:nvSpPr>
                <p:cNvPr id="11" name="Google Shape;3111;p169">
                  <a:extLst>
                    <a:ext uri="{FF2B5EF4-FFF2-40B4-BE49-F238E27FC236}">
                      <a16:creationId xmlns:a16="http://schemas.microsoft.com/office/drawing/2014/main" id="{60872C7B-10A8-7602-E426-1A76B937163B}"/>
                    </a:ext>
                  </a:extLst>
                </p:cNvPr>
                <p:cNvSpPr/>
                <p:nvPr/>
              </p:nvSpPr>
              <p:spPr>
                <a:xfrm>
                  <a:off x="3327296" y="3788725"/>
                  <a:ext cx="22611" cy="11305"/>
                </a:xfrm>
                <a:custGeom>
                  <a:avLst/>
                  <a:gdLst/>
                  <a:ahLst/>
                  <a:cxnLst/>
                  <a:rect l="l" t="t" r="r" b="b"/>
                  <a:pathLst>
                    <a:path w="1172" h="586" extrusionOk="0">
                      <a:moveTo>
                        <a:pt x="1" y="0"/>
                      </a:moveTo>
                      <a:lnTo>
                        <a:pt x="586" y="585"/>
                      </a:lnTo>
                      <a:lnTo>
                        <a:pt x="1171" y="0"/>
                      </a:lnTo>
                      <a:close/>
                    </a:path>
                  </a:pathLst>
                </a:custGeom>
                <a:solidFill>
                  <a:srgbClr val="448C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3112;p169">
                  <a:extLst>
                    <a:ext uri="{FF2B5EF4-FFF2-40B4-BE49-F238E27FC236}">
                      <a16:creationId xmlns:a16="http://schemas.microsoft.com/office/drawing/2014/main" id="{602A0260-4F6F-8EB8-9539-51E7769E851C}"/>
                    </a:ext>
                  </a:extLst>
                </p:cNvPr>
                <p:cNvSpPr/>
                <p:nvPr/>
              </p:nvSpPr>
              <p:spPr>
                <a:xfrm>
                  <a:off x="3213258" y="3626628"/>
                  <a:ext cx="799671" cy="170352"/>
                </a:xfrm>
                <a:custGeom>
                  <a:avLst/>
                  <a:gdLst/>
                  <a:ahLst/>
                  <a:cxnLst/>
                  <a:rect l="l" t="t" r="r" b="b"/>
                  <a:pathLst>
                    <a:path w="29842" h="8403" extrusionOk="0">
                      <a:moveTo>
                        <a:pt x="1" y="1"/>
                      </a:moveTo>
                      <a:lnTo>
                        <a:pt x="6072" y="8402"/>
                      </a:lnTo>
                      <a:lnTo>
                        <a:pt x="28591" y="8402"/>
                      </a:lnTo>
                      <a:cubicBezTo>
                        <a:pt x="29280" y="8402"/>
                        <a:pt x="29842" y="7851"/>
                        <a:pt x="29842" y="7163"/>
                      </a:cubicBezTo>
                      <a:lnTo>
                        <a:pt x="29842" y="1252"/>
                      </a:lnTo>
                      <a:cubicBezTo>
                        <a:pt x="29842" y="563"/>
                        <a:pt x="29280" y="1"/>
                        <a:pt x="28591" y="1"/>
                      </a:cubicBezTo>
                      <a:close/>
                    </a:path>
                  </a:pathLst>
                </a:custGeom>
                <a:solidFill>
                  <a:schemeClr val="bg1">
                    <a:lumMod val="85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3113;p169">
                  <a:extLst>
                    <a:ext uri="{FF2B5EF4-FFF2-40B4-BE49-F238E27FC236}">
                      <a16:creationId xmlns:a16="http://schemas.microsoft.com/office/drawing/2014/main" id="{86370333-9466-023D-EDDF-5A49769B30C5}"/>
                    </a:ext>
                  </a:extLst>
                </p:cNvPr>
                <p:cNvSpPr/>
                <p:nvPr/>
              </p:nvSpPr>
              <p:spPr>
                <a:xfrm>
                  <a:off x="3165220" y="3626629"/>
                  <a:ext cx="165202" cy="162115"/>
                </a:xfrm>
                <a:custGeom>
                  <a:avLst/>
                  <a:gdLst/>
                  <a:ahLst/>
                  <a:cxnLst/>
                  <a:rect l="l" t="t" r="r" b="b"/>
                  <a:pathLst>
                    <a:path w="8563" h="8403" extrusionOk="0">
                      <a:moveTo>
                        <a:pt x="0" y="1"/>
                      </a:moveTo>
                      <a:lnTo>
                        <a:pt x="8402" y="8402"/>
                      </a:lnTo>
                      <a:lnTo>
                        <a:pt x="8562" y="8402"/>
                      </a:lnTo>
                      <a:lnTo>
                        <a:pt x="2491" y="1"/>
                      </a:lnTo>
                      <a:close/>
                    </a:path>
                  </a:pathLst>
                </a:custGeom>
                <a:solidFill>
                  <a:schemeClr val="accent1">
                    <a:lumMod val="40000"/>
                    <a:lumOff val="60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3114;p169">
                  <a:extLst>
                    <a:ext uri="{FF2B5EF4-FFF2-40B4-BE49-F238E27FC236}">
                      <a16:creationId xmlns:a16="http://schemas.microsoft.com/office/drawing/2014/main" id="{0B68B1B0-6E78-273D-E915-792BB2C807F5}"/>
                    </a:ext>
                  </a:extLst>
                </p:cNvPr>
                <p:cNvSpPr/>
                <p:nvPr/>
              </p:nvSpPr>
              <p:spPr>
                <a:xfrm>
                  <a:off x="3099239" y="3615343"/>
                  <a:ext cx="239381" cy="184687"/>
                </a:xfrm>
                <a:custGeom>
                  <a:avLst/>
                  <a:gdLst/>
                  <a:ahLst/>
                  <a:cxnLst/>
                  <a:rect l="l" t="t" r="r" b="b"/>
                  <a:pathLst>
                    <a:path w="12408" h="9573" extrusionOk="0">
                      <a:moveTo>
                        <a:pt x="1240" y="0"/>
                      </a:moveTo>
                      <a:cubicBezTo>
                        <a:pt x="563" y="0"/>
                        <a:pt x="0" y="551"/>
                        <a:pt x="12" y="1240"/>
                      </a:cubicBezTo>
                      <a:lnTo>
                        <a:pt x="12" y="8344"/>
                      </a:lnTo>
                      <a:cubicBezTo>
                        <a:pt x="12" y="9022"/>
                        <a:pt x="563" y="9572"/>
                        <a:pt x="1240" y="9572"/>
                      </a:cubicBezTo>
                      <a:lnTo>
                        <a:pt x="12407" y="9572"/>
                      </a:lnTo>
                      <a:lnTo>
                        <a:pt x="11822" y="8987"/>
                      </a:lnTo>
                      <a:lnTo>
                        <a:pt x="3420" y="586"/>
                      </a:lnTo>
                      <a:lnTo>
                        <a:pt x="283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3112;p169">
                  <a:extLst>
                    <a:ext uri="{FF2B5EF4-FFF2-40B4-BE49-F238E27FC236}">
                      <a16:creationId xmlns:a16="http://schemas.microsoft.com/office/drawing/2014/main" id="{F5A8B021-E70C-6138-5CD2-BEEE71BCD4B0}"/>
                    </a:ext>
                  </a:extLst>
                </p:cNvPr>
                <p:cNvSpPr/>
                <p:nvPr/>
              </p:nvSpPr>
              <p:spPr>
                <a:xfrm>
                  <a:off x="3229068" y="3626367"/>
                  <a:ext cx="1521747" cy="170352"/>
                </a:xfrm>
                <a:custGeom>
                  <a:avLst/>
                  <a:gdLst/>
                  <a:ahLst/>
                  <a:cxnLst/>
                  <a:rect l="l" t="t" r="r" b="b"/>
                  <a:pathLst>
                    <a:path w="29842" h="8403" extrusionOk="0">
                      <a:moveTo>
                        <a:pt x="1" y="1"/>
                      </a:moveTo>
                      <a:lnTo>
                        <a:pt x="6072" y="8402"/>
                      </a:lnTo>
                      <a:lnTo>
                        <a:pt x="28591" y="8402"/>
                      </a:lnTo>
                      <a:cubicBezTo>
                        <a:pt x="29280" y="8402"/>
                        <a:pt x="29842" y="7851"/>
                        <a:pt x="29842" y="7163"/>
                      </a:cubicBezTo>
                      <a:lnTo>
                        <a:pt x="29842" y="1252"/>
                      </a:lnTo>
                      <a:cubicBezTo>
                        <a:pt x="29842" y="563"/>
                        <a:pt x="29280" y="1"/>
                        <a:pt x="28591" y="1"/>
                      </a:cubicBezTo>
                      <a:close/>
                    </a:path>
                  </a:pathLst>
                </a:custGeom>
                <a:solidFill>
                  <a:schemeClr val="bg1">
                    <a:lumMod val="85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 name="タイトル 1">
                <a:extLst>
                  <a:ext uri="{FF2B5EF4-FFF2-40B4-BE49-F238E27FC236}">
                    <a16:creationId xmlns:a16="http://schemas.microsoft.com/office/drawing/2014/main" id="{5BDFBD54-BB70-CADE-DC4C-1F7711B55EB2}"/>
                  </a:ext>
                </a:extLst>
              </p:cNvPr>
              <p:cNvSpPr txBox="1">
                <a:spLocks/>
              </p:cNvSpPr>
              <p:nvPr/>
            </p:nvSpPr>
            <p:spPr>
              <a:xfrm>
                <a:off x="10683978" y="456244"/>
                <a:ext cx="2365292" cy="297885"/>
              </a:xfrm>
              <a:prstGeom prst="rect">
                <a:avLst/>
              </a:prstGeom>
            </p:spPr>
            <p:txBody>
              <a:bodyPr vert="horz" wrap="none" lIns="0" tIns="0" rIns="0" bIns="0" rtlCol="0" anchor="ctr" anchorCtr="0">
                <a:noAutofit/>
              </a:bodyPr>
              <a:lstStyle>
                <a:lvl1pPr algn="ctr" defTabSz="914400" rtl="0" eaLnBrk="1" latinLnBrk="0" hangingPunct="1">
                  <a:lnSpc>
                    <a:spcPct val="90000"/>
                  </a:lnSpc>
                  <a:spcBef>
                    <a:spcPct val="0"/>
                  </a:spcBef>
                  <a:buNone/>
                  <a:defRPr kumimoji="1" sz="2400" b="1" kern="1200">
                    <a:solidFill>
                      <a:schemeClr val="tx1"/>
                    </a:solidFill>
                    <a:latin typeface="Times New Roman"/>
                    <a:ea typeface="Times New Roman"/>
                    <a:cs typeface="Times New Roman"/>
                  </a:defRPr>
                </a:lvl1pPr>
              </a:lstStyle>
              <a:p>
                <a:pPr algn="l"/>
                <a:r>
                  <a:rPr lang="en-US" altLang="ja-JP" dirty="0">
                    <a:latin typeface="Times New Roman" panose="02020603050405020304" pitchFamily="18" charset="0"/>
                    <a:cs typeface="Times New Roman" panose="02020603050405020304" pitchFamily="18" charset="0"/>
                  </a:rPr>
                  <a:t>AI </a:t>
                </a:r>
                <a:r>
                  <a:rPr lang="en-US" altLang="ja-JP" dirty="0" err="1">
                    <a:latin typeface="Times New Roman" panose="02020603050405020304" pitchFamily="18" charset="0"/>
                    <a:cs typeface="Times New Roman" panose="02020603050405020304" pitchFamily="18" charset="0"/>
                  </a:rPr>
                  <a:t>dự</a:t>
                </a:r>
                <a:r>
                  <a:rPr lang="en-US" altLang="ja-JP" dirty="0">
                    <a:latin typeface="Times New Roman" panose="02020603050405020304" pitchFamily="18" charset="0"/>
                    <a:cs typeface="Times New Roman" panose="02020603050405020304" pitchFamily="18" charset="0"/>
                  </a:rPr>
                  <a:t> </a:t>
                </a:r>
                <a:r>
                  <a:rPr lang="en-US" altLang="ja-JP" dirty="0" err="1">
                    <a:latin typeface="Times New Roman" panose="02020603050405020304" pitchFamily="18" charset="0"/>
                    <a:cs typeface="Times New Roman" panose="02020603050405020304" pitchFamily="18" charset="0"/>
                  </a:rPr>
                  <a:t>đoán</a:t>
                </a:r>
                <a:r>
                  <a:rPr lang="en-US" altLang="ja-JP" dirty="0">
                    <a:latin typeface="Times New Roman" panose="02020603050405020304" pitchFamily="18" charset="0"/>
                    <a:cs typeface="Times New Roman" panose="02020603050405020304" pitchFamily="18" charset="0"/>
                  </a:rPr>
                  <a:t> </a:t>
                </a:r>
                <a:r>
                  <a:rPr lang="en-US" altLang="ja-JP" dirty="0" err="1">
                    <a:latin typeface="Times New Roman" panose="02020603050405020304" pitchFamily="18" charset="0"/>
                    <a:cs typeface="Times New Roman" panose="02020603050405020304" pitchFamily="18" charset="0"/>
                  </a:rPr>
                  <a:t>và</a:t>
                </a:r>
                <a:r>
                  <a:rPr lang="en-US" altLang="ja-JP" dirty="0">
                    <a:latin typeface="Times New Roman" panose="02020603050405020304" pitchFamily="18" charset="0"/>
                    <a:cs typeface="Times New Roman" panose="02020603050405020304" pitchFamily="18" charset="0"/>
                  </a:rPr>
                  <a:t> </a:t>
                </a:r>
                <a:r>
                  <a:rPr lang="en-US" altLang="ja-JP" dirty="0" err="1">
                    <a:latin typeface="Times New Roman" panose="02020603050405020304" pitchFamily="18" charset="0"/>
                    <a:cs typeface="Times New Roman" panose="02020603050405020304" pitchFamily="18" charset="0"/>
                  </a:rPr>
                  <a:t>cảnh</a:t>
                </a:r>
                <a:r>
                  <a:rPr lang="en-US" altLang="ja-JP" dirty="0">
                    <a:latin typeface="Times New Roman" panose="02020603050405020304" pitchFamily="18" charset="0"/>
                    <a:cs typeface="Times New Roman" panose="02020603050405020304" pitchFamily="18" charset="0"/>
                  </a:rPr>
                  <a:t> </a:t>
                </a:r>
                <a:r>
                  <a:rPr lang="en-US" altLang="ja-JP" dirty="0" err="1">
                    <a:latin typeface="Times New Roman" panose="02020603050405020304" pitchFamily="18" charset="0"/>
                    <a:cs typeface="Times New Roman" panose="02020603050405020304" pitchFamily="18" charset="0"/>
                  </a:rPr>
                  <a:t>báo</a:t>
                </a:r>
                <a:r>
                  <a:rPr lang="en-US" altLang="ja-JP" dirty="0">
                    <a:latin typeface="Times New Roman" panose="02020603050405020304" pitchFamily="18" charset="0"/>
                    <a:cs typeface="Times New Roman" panose="02020603050405020304" pitchFamily="18" charset="0"/>
                  </a:rPr>
                  <a:t> </a:t>
                </a:r>
                <a:r>
                  <a:rPr lang="en-US" altLang="ja-JP" dirty="0" err="1">
                    <a:latin typeface="Times New Roman" panose="02020603050405020304" pitchFamily="18" charset="0"/>
                    <a:cs typeface="Times New Roman" panose="02020603050405020304" pitchFamily="18" charset="0"/>
                  </a:rPr>
                  <a:t>lỗi</a:t>
                </a:r>
                <a:endParaRPr lang="en-US" altLang="ja-JP" dirty="0">
                  <a:latin typeface="Times New Roman" panose="02020603050405020304" pitchFamily="18" charset="0"/>
                  <a:cs typeface="Times New Roman" panose="02020603050405020304" pitchFamily="18" charset="0"/>
                </a:endParaRPr>
              </a:p>
            </p:txBody>
          </p:sp>
          <p:sp>
            <p:nvSpPr>
              <p:cNvPr id="10" name="タイトル 1">
                <a:extLst>
                  <a:ext uri="{FF2B5EF4-FFF2-40B4-BE49-F238E27FC236}">
                    <a16:creationId xmlns:a16="http://schemas.microsoft.com/office/drawing/2014/main" id="{35F0825E-82CD-5865-454F-DC2973328CD6}"/>
                  </a:ext>
                </a:extLst>
              </p:cNvPr>
              <p:cNvSpPr txBox="1">
                <a:spLocks/>
              </p:cNvSpPr>
              <p:nvPr/>
            </p:nvSpPr>
            <p:spPr>
              <a:xfrm>
                <a:off x="9839575" y="531261"/>
                <a:ext cx="2365292" cy="297885"/>
              </a:xfrm>
              <a:prstGeom prst="rect">
                <a:avLst/>
              </a:prstGeom>
            </p:spPr>
            <p:txBody>
              <a:bodyPr vert="horz" wrap="none" lIns="0" tIns="0" rIns="0" bIns="0" rtlCol="0" anchor="ctr" anchorCtr="0">
                <a:noAutofit/>
              </a:bodyPr>
              <a:lstStyle>
                <a:lvl1pPr algn="ctr" defTabSz="914400" rtl="0" eaLnBrk="1" latinLnBrk="0" hangingPunct="1">
                  <a:lnSpc>
                    <a:spcPct val="90000"/>
                  </a:lnSpc>
                  <a:spcBef>
                    <a:spcPct val="0"/>
                  </a:spcBef>
                  <a:buNone/>
                  <a:defRPr kumimoji="1" sz="2400" b="1" kern="1200">
                    <a:solidFill>
                      <a:schemeClr val="tx1"/>
                    </a:solidFill>
                    <a:latin typeface="Times New Roman"/>
                    <a:ea typeface="Times New Roman"/>
                    <a:cs typeface="Times New Roman"/>
                  </a:defRPr>
                </a:lvl1pPr>
              </a:lstStyle>
              <a:p>
                <a:pPr algn="l"/>
                <a:endParaRPr lang="ja-JP" altLang="en-US" dirty="0">
                  <a:latin typeface="Times New Roman" panose="020F0502020204030204" pitchFamily="34" charset="0"/>
                  <a:cs typeface="Times New Roman" panose="020F0502020204030204" pitchFamily="34" charset="0"/>
                </a:endParaRPr>
              </a:p>
            </p:txBody>
          </p:sp>
        </p:grpSp>
      </p:grpSp>
      <p:sp>
        <p:nvSpPr>
          <p:cNvPr id="140" name="N3"/>
          <p:cNvSpPr/>
          <p:nvPr/>
        </p:nvSpPr>
        <p:spPr>
          <a:xfrm>
            <a:off x="7136892" y="2743200"/>
            <a:ext cx="265176" cy="265176"/>
          </a:xfrm>
          <a:prstGeom prst="ellipse">
            <a:avLst/>
          </a:prstGeom>
          <a:solidFill>
            <a:srgbClr val="2E1C9E"/>
          </a:solidFill>
          <a:ln w="19050">
            <a:solidFill>
              <a:srgbClr val="FFFFFF"/>
            </a:solidFill>
          </a:ln>
        </p:spPr>
        <p:txBody>
          <a:bodyPr/>
          <a:lstStyle/>
          <a:p>
            <a:endParaRPr lang="vi-VN"/>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4"/>
          <p:cNvSpPr txBox="1"/>
          <p:nvPr/>
        </p:nvSpPr>
        <p:spPr>
          <a:xfrm>
            <a:off x="706482" y="950000"/>
            <a:ext cx="6600000" cy="520000"/>
          </a:xfrm>
          <a:prstGeom prst="roundRect">
            <a:avLst>
              <a:gd name="adj" fmla="val 22000"/>
            </a:avLst>
          </a:prstGeom>
          <a:gradFill rotWithShape="1">
            <a:gsLst>
              <a:gs pos="0">
                <a:srgbClr val="1B1464"/>
              </a:gs>
              <a:gs pos="100000">
                <a:srgbClr val="3C2BC8"/>
              </a:gs>
            </a:gsLst>
            <a:lin ang="0" scaled="0"/>
          </a:gradFill>
        </p:spPr>
        <p:txBody>
          <a:bodyPr wrap="square" lIns="228600" tIns="0" rIns="114300" bIns="0" anchor="ctr">
            <a:normAutofit/>
          </a:bodyPr>
          <a:lstStyle/>
          <a:p>
            <a:pPr algn="l">
              <a:lnSpc>
                <a:spcPct val="100000"/>
              </a:lnSpc>
              <a:spcBef>
                <a:spcPts val="0"/>
              </a:spcBef>
            </a:pPr>
            <a:r>
              <a:rPr lang="vi-VN" sz="1600" b="1">
                <a:solidFill>
                  <a:srgbClr val="FFFFFF"/>
                </a:solidFill>
              </a:rPr>
              <a:t>Bước 3: Huấn luyện AI và thiết lập ngưỡng cảnh báo</a:t>
            </a:r>
          </a:p>
        </p:txBody>
      </p:sp>
      <p:sp>
        <p:nvSpPr>
          <p:cNvPr id="7" name="T7"/>
          <p:cNvSpPr txBox="1"/>
          <p:nvPr/>
        </p:nvSpPr>
        <p:spPr>
          <a:xfrm>
            <a:off x="685800" y="4892040"/>
            <a:ext cx="4480560" cy="548640"/>
          </a:xfrm>
          <a:prstGeom prst="rect">
            <a:avLst/>
          </a:prstGeom>
          <a:noFill/>
        </p:spPr>
        <p:txBody>
          <a:bodyPr wrap="square" lIns="0" tIns="0" rIns="0" bIns="0" anchor="t">
            <a:normAutofit/>
          </a:bodyPr>
          <a:lstStyle/>
          <a:p>
            <a:pPr algn="ctr">
              <a:lnSpc>
                <a:spcPct val="100000"/>
              </a:lnSpc>
              <a:spcBef>
                <a:spcPts val="0"/>
              </a:spcBef>
            </a:pPr>
            <a:r>
              <a:rPr lang="vi-VN" sz="1300" b="1"/>
              <a:t>MÔ HÌNH AI</a:t>
            </a:r>
          </a:p>
          <a:p>
            <a:pPr algn="ctr">
              <a:lnSpc>
                <a:spcPct val="100000"/>
              </a:lnSpc>
              <a:spcBef>
                <a:spcPts val="0"/>
              </a:spcBef>
            </a:pPr>
            <a:r>
              <a:rPr lang="vi-VN" sz="1300" b="1"/>
              <a:t>Dự đoán nguy cơ NG</a:t>
            </a:r>
            <a:endParaRPr lang="vi-VN" sz="1300" b="0"/>
          </a:p>
        </p:txBody>
      </p:sp>
      <p:sp>
        <p:nvSpPr>
          <p:cNvPr id="100" name="S100"/>
          <p:cNvSpPr/>
          <p:nvPr/>
        </p:nvSpPr>
        <p:spPr>
          <a:xfrm>
            <a:off x="6446520" y="1783080"/>
            <a:ext cx="5074920" cy="960120"/>
          </a:xfrm>
          <a:prstGeom prst="roundRect">
            <a:avLst>
              <a:gd name="adj" fmla="val 9000"/>
            </a:avLst>
          </a:prstGeom>
          <a:gradFill rotWithShape="1">
            <a:gsLst>
              <a:gs pos="0">
                <a:srgbClr val="FFFFFF"/>
              </a:gs>
              <a:gs pos="100000">
                <a:srgbClr val="F2F4FF"/>
              </a:gs>
            </a:gsLst>
            <a:lin ang="2700000" scaled="0"/>
          </a:gradFill>
          <a:ln w="12700">
            <a:solidFill>
              <a:srgbClr val="C7CEF5"/>
            </a:solidFill>
          </a:ln>
          <a:effectLst>
            <a:outerShdw blurRad="140000" dist="38000" dir="5400000" algn="t" rotWithShape="0">
              <a:srgbClr val="1B1464">
                <a:alpha val="13000"/>
              </a:srgbClr>
            </a:outerShdw>
          </a:effectLst>
        </p:spPr>
        <p:txBody>
          <a:bodyPr/>
          <a:lstStyle/>
          <a:p>
            <a:endParaRPr lang="vi-VN"/>
          </a:p>
        </p:txBody>
      </p:sp>
      <p:sp>
        <p:nvSpPr>
          <p:cNvPr id="101" name="S101"/>
          <p:cNvSpPr/>
          <p:nvPr/>
        </p:nvSpPr>
        <p:spPr>
          <a:xfrm>
            <a:off x="5870448" y="1874520"/>
            <a:ext cx="45720" cy="3017520"/>
          </a:xfrm>
          <a:prstGeom prst="rect">
            <a:avLst/>
          </a:prstGeom>
          <a:gradFill rotWithShape="1">
            <a:gsLst>
              <a:gs pos="0">
                <a:srgbClr val="2E1C9E"/>
              </a:gs>
              <a:gs pos="100000">
                <a:srgbClr val="00C2FF"/>
              </a:gs>
            </a:gsLst>
            <a:lin ang="5400000" scaled="0"/>
          </a:gradFill>
          <a:ln>
            <a:noFill/>
          </a:ln>
        </p:spPr>
        <p:txBody>
          <a:bodyPr/>
          <a:lstStyle/>
          <a:p>
            <a:endParaRPr lang="vi-VN"/>
          </a:p>
        </p:txBody>
      </p:sp>
      <p:pic>
        <p:nvPicPr>
          <p:cNvPr id="102" name="I102"/>
          <p:cNvPicPr>
            <a:picLocks noChangeAspect="1"/>
          </p:cNvPicPr>
          <p:nvPr/>
        </p:nvPicPr>
        <p:blipFill>
          <a:blip r:embed="rId3"/>
          <a:stretch>
            <a:fillRect/>
          </a:stretch>
        </p:blipFill>
        <p:spPr>
          <a:xfrm>
            <a:off x="6629400" y="2039112"/>
            <a:ext cx="457200" cy="457200"/>
          </a:xfrm>
          <a:prstGeom prst="rect">
            <a:avLst/>
          </a:prstGeom>
        </p:spPr>
      </p:pic>
      <p:sp>
        <p:nvSpPr>
          <p:cNvPr id="103" name="T103"/>
          <p:cNvSpPr txBox="1"/>
          <p:nvPr/>
        </p:nvSpPr>
        <p:spPr>
          <a:xfrm>
            <a:off x="7269480" y="1874520"/>
            <a:ext cx="3657600" cy="340157"/>
          </a:xfrm>
          <a:prstGeom prst="rect">
            <a:avLst/>
          </a:prstGeom>
          <a:noFill/>
        </p:spPr>
        <p:txBody>
          <a:bodyPr wrap="square" lIns="0" tIns="0" rIns="0" bIns="0" anchor="ctr">
            <a:normAutofit/>
          </a:bodyPr>
          <a:lstStyle/>
          <a:p>
            <a:pPr algn="l">
              <a:lnSpc>
                <a:spcPct val="100000"/>
              </a:lnSpc>
              <a:spcBef>
                <a:spcPts val="0"/>
              </a:spcBef>
            </a:pPr>
            <a:r>
              <a:rPr lang="vi-VN" sz="1300" b="1">
                <a:solidFill>
                  <a:srgbClr val="2E1C9E"/>
                </a:solidFill>
              </a:rPr>
              <a:t>01  |  Học tương quan</a:t>
            </a:r>
          </a:p>
        </p:txBody>
      </p:sp>
      <p:sp>
        <p:nvSpPr>
          <p:cNvPr id="104" name="T104"/>
          <p:cNvSpPr txBox="1"/>
          <p:nvPr/>
        </p:nvSpPr>
        <p:spPr>
          <a:xfrm>
            <a:off x="7269480" y="2240280"/>
            <a:ext cx="3657600" cy="457200"/>
          </a:xfrm>
          <a:prstGeom prst="rect">
            <a:avLst/>
          </a:prstGeom>
          <a:noFill/>
        </p:spPr>
        <p:txBody>
          <a:bodyPr wrap="square" lIns="0" tIns="0" rIns="0" bIns="0" anchor="t">
            <a:normAutofit/>
          </a:bodyPr>
          <a:lstStyle/>
          <a:p>
            <a:pPr algn="l">
              <a:lnSpc>
                <a:spcPct val="100000"/>
              </a:lnSpc>
              <a:spcBef>
                <a:spcPts val="0"/>
              </a:spcBef>
            </a:pPr>
            <a:r>
              <a:rPr lang="vi-VN" sz="1300" b="0">
                <a:solidFill>
                  <a:srgbClr val="505050"/>
                </a:solidFill>
              </a:rPr>
              <a:t>AI tìm quy luật giữa thông số linh kiện và biến động dữ liệu trên jig</a:t>
            </a:r>
          </a:p>
        </p:txBody>
      </p:sp>
      <p:sp>
        <p:nvSpPr>
          <p:cNvPr id="105" name="S105"/>
          <p:cNvSpPr/>
          <p:nvPr/>
        </p:nvSpPr>
        <p:spPr>
          <a:xfrm>
            <a:off x="11109960" y="2167128"/>
            <a:ext cx="301752" cy="182880"/>
          </a:xfrm>
          <a:prstGeom prst="rightArrow">
            <a:avLst/>
          </a:prstGeom>
          <a:solidFill>
            <a:srgbClr val="C9C5E8"/>
          </a:solidFill>
          <a:ln>
            <a:noFill/>
          </a:ln>
        </p:spPr>
        <p:txBody>
          <a:bodyPr/>
          <a:lstStyle/>
          <a:p>
            <a:endParaRPr lang="vi-VN" sz="1300"/>
          </a:p>
        </p:txBody>
      </p:sp>
      <p:sp>
        <p:nvSpPr>
          <p:cNvPr id="106" name="S106"/>
          <p:cNvSpPr/>
          <p:nvPr/>
        </p:nvSpPr>
        <p:spPr>
          <a:xfrm>
            <a:off x="6446520" y="2880360"/>
            <a:ext cx="5074920" cy="960120"/>
          </a:xfrm>
          <a:prstGeom prst="roundRect">
            <a:avLst>
              <a:gd name="adj" fmla="val 9000"/>
            </a:avLst>
          </a:prstGeom>
          <a:gradFill rotWithShape="1">
            <a:gsLst>
              <a:gs pos="0">
                <a:srgbClr val="FFFFFF"/>
              </a:gs>
              <a:gs pos="100000">
                <a:srgbClr val="F2F4FF"/>
              </a:gs>
            </a:gsLst>
            <a:lin ang="2700000" scaled="0"/>
          </a:gradFill>
          <a:ln w="12700">
            <a:solidFill>
              <a:srgbClr val="C7CEF5"/>
            </a:solidFill>
          </a:ln>
          <a:effectLst>
            <a:outerShdw blurRad="140000" dist="38000" dir="5400000" algn="t" rotWithShape="0">
              <a:srgbClr val="1B1464">
                <a:alpha val="13000"/>
              </a:srgbClr>
            </a:outerShdw>
          </a:effectLst>
        </p:spPr>
        <p:txBody>
          <a:bodyPr/>
          <a:lstStyle/>
          <a:p>
            <a:endParaRPr lang="vi-VN" sz="1300"/>
          </a:p>
        </p:txBody>
      </p:sp>
      <p:sp>
        <p:nvSpPr>
          <p:cNvPr id="107" name="S107"/>
          <p:cNvSpPr/>
          <p:nvPr/>
        </p:nvSpPr>
        <p:spPr>
          <a:xfrm>
            <a:off x="5751576" y="2112264"/>
            <a:ext cx="256032" cy="256032"/>
          </a:xfrm>
          <a:prstGeom prst="ellipse">
            <a:avLst/>
          </a:prstGeom>
          <a:gradFill rotWithShape="1">
            <a:gsLst>
              <a:gs pos="0">
                <a:srgbClr val="2E1C9E"/>
              </a:gs>
              <a:gs pos="100000">
                <a:srgbClr val="00C2FF"/>
              </a:gs>
            </a:gsLst>
            <a:lin ang="5400000" scaled="0"/>
          </a:gradFill>
          <a:ln w="19050">
            <a:solidFill>
              <a:srgbClr val="FFFFFF"/>
            </a:solidFill>
          </a:ln>
        </p:spPr>
        <p:txBody>
          <a:bodyPr/>
          <a:lstStyle/>
          <a:p>
            <a:endParaRPr lang="vi-VN" sz="1300"/>
          </a:p>
        </p:txBody>
      </p:sp>
      <p:pic>
        <p:nvPicPr>
          <p:cNvPr id="108" name="I108"/>
          <p:cNvPicPr>
            <a:picLocks noChangeAspect="1"/>
          </p:cNvPicPr>
          <p:nvPr/>
        </p:nvPicPr>
        <p:blipFill>
          <a:blip r:embed="rId4"/>
          <a:stretch>
            <a:fillRect/>
          </a:stretch>
        </p:blipFill>
        <p:spPr>
          <a:xfrm>
            <a:off x="6629400" y="3136392"/>
            <a:ext cx="457200" cy="457200"/>
          </a:xfrm>
          <a:prstGeom prst="rect">
            <a:avLst/>
          </a:prstGeom>
        </p:spPr>
      </p:pic>
      <p:sp>
        <p:nvSpPr>
          <p:cNvPr id="109" name="T109"/>
          <p:cNvSpPr txBox="1"/>
          <p:nvPr/>
        </p:nvSpPr>
        <p:spPr>
          <a:xfrm>
            <a:off x="7269480" y="2971800"/>
            <a:ext cx="3657600" cy="340157"/>
          </a:xfrm>
          <a:prstGeom prst="rect">
            <a:avLst/>
          </a:prstGeom>
          <a:noFill/>
        </p:spPr>
        <p:txBody>
          <a:bodyPr wrap="square" lIns="0" tIns="0" rIns="0" bIns="0" anchor="ctr">
            <a:normAutofit/>
          </a:bodyPr>
          <a:lstStyle/>
          <a:p>
            <a:pPr algn="l">
              <a:lnSpc>
                <a:spcPct val="100000"/>
              </a:lnSpc>
              <a:spcBef>
                <a:spcPts val="0"/>
              </a:spcBef>
            </a:pPr>
            <a:r>
              <a:rPr lang="vi-VN" sz="1300" b="1">
                <a:solidFill>
                  <a:srgbClr val="2E1C9E"/>
                </a:solidFill>
              </a:rPr>
              <a:t>02  |  Thiết lập ngưỡng cảnh báo</a:t>
            </a:r>
          </a:p>
        </p:txBody>
      </p:sp>
      <p:sp>
        <p:nvSpPr>
          <p:cNvPr id="110" name="T110"/>
          <p:cNvSpPr txBox="1">
            <a:spLocks/>
          </p:cNvSpPr>
          <p:nvPr/>
        </p:nvSpPr>
        <p:spPr>
          <a:xfrm>
            <a:off x="7269480" y="3337560"/>
            <a:ext cx="3657600" cy="457200"/>
          </a:xfrm>
          <a:prstGeom prst="rect">
            <a:avLst/>
          </a:prstGeom>
          <a:noFill/>
        </p:spPr>
        <p:txBody>
          <a:bodyPr wrap="square" lIns="0" tIns="0" rIns="0" bIns="0" anchor="t">
            <a:normAutofit/>
          </a:bodyPr>
          <a:lstStyle/>
          <a:p>
            <a:pPr algn="l">
              <a:lnSpc>
                <a:spcPct val="100000"/>
              </a:lnSpc>
              <a:spcBef>
                <a:spcPts val="0"/>
              </a:spcBef>
            </a:pPr>
            <a:r>
              <a:rPr lang="vi-VN" sz="1300" b="0">
                <a:solidFill>
                  <a:srgbClr val="505050"/>
                </a:solidFill>
              </a:rPr>
              <a:t>Xác định mức cảnh báo trước khi dữ liệu tiến gần giới hạn NG</a:t>
            </a:r>
          </a:p>
        </p:txBody>
      </p:sp>
      <p:sp>
        <p:nvSpPr>
          <p:cNvPr id="111" name="S111"/>
          <p:cNvSpPr/>
          <p:nvPr/>
        </p:nvSpPr>
        <p:spPr>
          <a:xfrm>
            <a:off x="11109960" y="3264408"/>
            <a:ext cx="301752" cy="182880"/>
          </a:xfrm>
          <a:prstGeom prst="rightArrow">
            <a:avLst/>
          </a:prstGeom>
          <a:solidFill>
            <a:srgbClr val="C9C5E8"/>
          </a:solidFill>
          <a:ln>
            <a:noFill/>
          </a:ln>
        </p:spPr>
        <p:txBody>
          <a:bodyPr/>
          <a:lstStyle/>
          <a:p>
            <a:endParaRPr lang="vi-VN" sz="1300"/>
          </a:p>
        </p:txBody>
      </p:sp>
      <p:sp>
        <p:nvSpPr>
          <p:cNvPr id="112" name="S112"/>
          <p:cNvSpPr/>
          <p:nvPr/>
        </p:nvSpPr>
        <p:spPr>
          <a:xfrm>
            <a:off x="6446520" y="3977640"/>
            <a:ext cx="5074920" cy="960120"/>
          </a:xfrm>
          <a:prstGeom prst="roundRect">
            <a:avLst>
              <a:gd name="adj" fmla="val 9000"/>
            </a:avLst>
          </a:prstGeom>
          <a:gradFill rotWithShape="1">
            <a:gsLst>
              <a:gs pos="0">
                <a:srgbClr val="FFFFFF"/>
              </a:gs>
              <a:gs pos="100000">
                <a:srgbClr val="F2F4FF"/>
              </a:gs>
            </a:gsLst>
            <a:lin ang="2700000" scaled="0"/>
          </a:gradFill>
          <a:ln w="12700">
            <a:solidFill>
              <a:srgbClr val="C7CEF5"/>
            </a:solidFill>
          </a:ln>
          <a:effectLst>
            <a:outerShdw blurRad="140000" dist="38000" dir="5400000" algn="t" rotWithShape="0">
              <a:srgbClr val="1B1464">
                <a:alpha val="13000"/>
              </a:srgbClr>
            </a:outerShdw>
          </a:effectLst>
        </p:spPr>
        <p:txBody>
          <a:bodyPr/>
          <a:lstStyle/>
          <a:p>
            <a:endParaRPr lang="vi-VN" sz="1300"/>
          </a:p>
        </p:txBody>
      </p:sp>
      <p:sp>
        <p:nvSpPr>
          <p:cNvPr id="113" name="S113"/>
          <p:cNvSpPr>
            <a:spLocks/>
          </p:cNvSpPr>
          <p:nvPr/>
        </p:nvSpPr>
        <p:spPr>
          <a:xfrm>
            <a:off x="5751576" y="3209544"/>
            <a:ext cx="256032" cy="256032"/>
          </a:xfrm>
          <a:prstGeom prst="ellipse">
            <a:avLst/>
          </a:prstGeom>
          <a:gradFill rotWithShape="1">
            <a:gsLst>
              <a:gs pos="0">
                <a:srgbClr val="2E1C9E"/>
              </a:gs>
              <a:gs pos="100000">
                <a:srgbClr val="00C2FF"/>
              </a:gs>
            </a:gsLst>
            <a:lin ang="5400000" scaled="0"/>
          </a:gradFill>
          <a:ln w="19050">
            <a:solidFill>
              <a:srgbClr val="FFFFFF"/>
            </a:solidFill>
          </a:ln>
        </p:spPr>
        <p:txBody>
          <a:bodyPr/>
          <a:lstStyle/>
          <a:p>
            <a:endParaRPr lang="vi-VN" sz="1300"/>
          </a:p>
        </p:txBody>
      </p:sp>
      <p:pic>
        <p:nvPicPr>
          <p:cNvPr id="114" name="I114"/>
          <p:cNvPicPr>
            <a:picLocks noChangeAspect="1"/>
          </p:cNvPicPr>
          <p:nvPr/>
        </p:nvPicPr>
        <p:blipFill>
          <a:blip r:embed="rId5"/>
          <a:stretch>
            <a:fillRect/>
          </a:stretch>
        </p:blipFill>
        <p:spPr>
          <a:xfrm>
            <a:off x="6629400" y="4233672"/>
            <a:ext cx="457200" cy="457200"/>
          </a:xfrm>
          <a:prstGeom prst="rect">
            <a:avLst/>
          </a:prstGeom>
        </p:spPr>
      </p:pic>
      <p:sp>
        <p:nvSpPr>
          <p:cNvPr id="115" name="T115"/>
          <p:cNvSpPr txBox="1">
            <a:spLocks/>
          </p:cNvSpPr>
          <p:nvPr/>
        </p:nvSpPr>
        <p:spPr>
          <a:xfrm>
            <a:off x="7269480" y="4069080"/>
            <a:ext cx="3657600" cy="340157"/>
          </a:xfrm>
          <a:prstGeom prst="rect">
            <a:avLst/>
          </a:prstGeom>
          <a:noFill/>
        </p:spPr>
        <p:txBody>
          <a:bodyPr wrap="square" lIns="0" tIns="0" rIns="0" bIns="0" anchor="ctr">
            <a:normAutofit/>
          </a:bodyPr>
          <a:lstStyle/>
          <a:p>
            <a:pPr algn="l">
              <a:lnSpc>
                <a:spcPct val="100000"/>
              </a:lnSpc>
              <a:spcBef>
                <a:spcPts val="0"/>
              </a:spcBef>
            </a:pPr>
            <a:r>
              <a:rPr lang="vi-VN" sz="1300" b="1">
                <a:solidFill>
                  <a:srgbClr val="2E1C9E"/>
                </a:solidFill>
              </a:rPr>
              <a:t>03  |  Kiểm chứng mô hình</a:t>
            </a:r>
          </a:p>
        </p:txBody>
      </p:sp>
      <p:sp>
        <p:nvSpPr>
          <p:cNvPr id="116" name="T116"/>
          <p:cNvSpPr txBox="1"/>
          <p:nvPr/>
        </p:nvSpPr>
        <p:spPr>
          <a:xfrm>
            <a:off x="7269480" y="4434840"/>
            <a:ext cx="3657600" cy="457200"/>
          </a:xfrm>
          <a:prstGeom prst="rect">
            <a:avLst/>
          </a:prstGeom>
          <a:noFill/>
        </p:spPr>
        <p:txBody>
          <a:bodyPr wrap="square" lIns="0" tIns="0" rIns="0" bIns="0" anchor="t">
            <a:normAutofit/>
          </a:bodyPr>
          <a:lstStyle/>
          <a:p>
            <a:pPr algn="l">
              <a:lnSpc>
                <a:spcPct val="100000"/>
              </a:lnSpc>
              <a:spcBef>
                <a:spcPts val="0"/>
              </a:spcBef>
            </a:pPr>
            <a:r>
              <a:rPr lang="vi-VN" sz="1300" b="0">
                <a:solidFill>
                  <a:srgbClr val="505050"/>
                </a:solidFill>
              </a:rPr>
              <a:t>Chạy lại trên dữ liệu lỗi quá khứ để đánh giá độ chính xác dự đoán</a:t>
            </a:r>
          </a:p>
        </p:txBody>
      </p:sp>
      <p:sp>
        <p:nvSpPr>
          <p:cNvPr id="117" name="S117"/>
          <p:cNvSpPr/>
          <p:nvPr/>
        </p:nvSpPr>
        <p:spPr>
          <a:xfrm>
            <a:off x="11109960" y="4361688"/>
            <a:ext cx="301752" cy="182880"/>
          </a:xfrm>
          <a:prstGeom prst="rightArrow">
            <a:avLst/>
          </a:prstGeom>
          <a:solidFill>
            <a:srgbClr val="C9C5E8"/>
          </a:solidFill>
          <a:ln>
            <a:noFill/>
          </a:ln>
        </p:spPr>
        <p:txBody>
          <a:bodyPr/>
          <a:lstStyle/>
          <a:p>
            <a:endParaRPr lang="vi-VN" sz="1300"/>
          </a:p>
        </p:txBody>
      </p:sp>
      <p:sp>
        <p:nvSpPr>
          <p:cNvPr id="118" name="S118"/>
          <p:cNvSpPr/>
          <p:nvPr/>
        </p:nvSpPr>
        <p:spPr>
          <a:xfrm>
            <a:off x="706482" y="5540000"/>
            <a:ext cx="10779036" cy="620000"/>
          </a:xfrm>
          <a:prstGeom prst="roundRect">
            <a:avLst>
              <a:gd name="adj" fmla="val 9000"/>
            </a:avLst>
          </a:prstGeom>
          <a:gradFill rotWithShape="1">
            <a:gsLst>
              <a:gs pos="0">
                <a:srgbClr val="EDEBFB"/>
              </a:gs>
              <a:gs pos="100000">
                <a:srgbClr val="E2F6FF"/>
              </a:gs>
            </a:gsLst>
            <a:lin ang="0" scaled="0"/>
          </a:gradFill>
          <a:ln>
            <a:noFill/>
          </a:ln>
        </p:spPr>
        <p:txBody>
          <a:bodyPr/>
          <a:lstStyle/>
          <a:p>
            <a:endParaRPr lang="vi-VN" sz="1300"/>
          </a:p>
        </p:txBody>
      </p:sp>
      <p:sp>
        <p:nvSpPr>
          <p:cNvPr id="119" name="T119"/>
          <p:cNvSpPr txBox="1"/>
          <p:nvPr/>
        </p:nvSpPr>
        <p:spPr>
          <a:xfrm>
            <a:off x="1006482" y="5540000"/>
            <a:ext cx="10179036" cy="620000"/>
          </a:xfrm>
          <a:prstGeom prst="rect">
            <a:avLst/>
          </a:prstGeom>
          <a:noFill/>
        </p:spPr>
        <p:txBody>
          <a:bodyPr wrap="square" lIns="0" tIns="0" rIns="0" bIns="0" anchor="ctr">
            <a:normAutofit/>
          </a:bodyPr>
          <a:lstStyle/>
          <a:p>
            <a:pPr algn="ctr">
              <a:lnSpc>
                <a:spcPct val="100000"/>
              </a:lnSpc>
              <a:spcBef>
                <a:spcPts val="0"/>
              </a:spcBef>
            </a:pPr>
            <a:r>
              <a:rPr lang="en-US" sz="1300" b="1" dirty="0">
                <a:solidFill>
                  <a:srgbClr val="2E1C9E"/>
                </a:solidFill>
              </a:rPr>
              <a:t>M</a:t>
            </a:r>
            <a:r>
              <a:rPr lang="vi-VN" sz="1300" b="1" dirty="0">
                <a:solidFill>
                  <a:srgbClr val="2E1C9E"/>
                </a:solidFill>
              </a:rPr>
              <a:t>ô hình dự đoán được nguy cơ NG với ngưỡng cảnh báo sớm đủ tin cậy</a:t>
            </a:r>
          </a:p>
        </p:txBody>
      </p:sp>
      <p:pic>
        <p:nvPicPr>
          <p:cNvPr id="14" name="Picture 13">
            <a:extLst>
              <a:ext uri="{FF2B5EF4-FFF2-40B4-BE49-F238E27FC236}">
                <a16:creationId xmlns:a16="http://schemas.microsoft.com/office/drawing/2014/main" id="{3BBB5584-C619-4D04-A8D1-0BB83A49CFE9}"/>
              </a:ext>
            </a:extLst>
          </p:cNvPr>
          <p:cNvPicPr>
            <a:picLocks noChangeAspect="1"/>
          </p:cNvPicPr>
          <p:nvPr/>
        </p:nvPicPr>
        <p:blipFill>
          <a:blip r:embed="rId6" cstate="print">
            <a:extLst>
              <a:ext uri="{28A0092B-C50C-407E-A947-70E740481C1C}">
                <a14:useLocalDpi xmlns:a14="http://schemas.microsoft.com/office/drawing/2010/main" val="0"/>
              </a:ext>
            </a:extLst>
          </a:blip>
          <a:srcRect/>
          <a:stretch/>
        </p:blipFill>
        <p:spPr>
          <a:xfrm>
            <a:off x="685800" y="1783080"/>
            <a:ext cx="4480560" cy="2990088"/>
          </a:xfrm>
          <a:prstGeom prst="rect">
            <a:avLst/>
          </a:prstGeom>
        </p:spPr>
      </p:pic>
      <p:sp>
        <p:nvSpPr>
          <p:cNvPr id="16" name="Freeform: Shape 15">
            <a:extLst>
              <a:ext uri="{FF2B5EF4-FFF2-40B4-BE49-F238E27FC236}">
                <a16:creationId xmlns:a16="http://schemas.microsoft.com/office/drawing/2014/main" id="{D429C2DD-12D5-4AB9-9E9E-531C23C0CDED}"/>
              </a:ext>
            </a:extLst>
          </p:cNvPr>
          <p:cNvSpPr/>
          <p:nvPr/>
        </p:nvSpPr>
        <p:spPr>
          <a:xfrm>
            <a:off x="4206240" y="2377440"/>
            <a:ext cx="100584" cy="100584"/>
          </a:xfrm>
          <a:custGeom>
            <a:avLst/>
            <a:gdLst>
              <a:gd name="csX0" fmla="*/ 457200 w 918056"/>
              <a:gd name="csY0" fmla="*/ 914400 h 914400"/>
              <a:gd name="csX1" fmla="*/ 0 w 918056"/>
              <a:gd name="csY1" fmla="*/ 457200 h 914400"/>
              <a:gd name="csX2" fmla="*/ 3656 w 918056"/>
              <a:gd name="csY2" fmla="*/ 457200 h 914400"/>
              <a:gd name="csX3" fmla="*/ 460856 w 918056"/>
              <a:gd name="csY3" fmla="*/ 0 h 914400"/>
              <a:gd name="csX4" fmla="*/ 918056 w 918056"/>
              <a:gd name="csY4" fmla="*/ 457200 h 914400"/>
              <a:gd name="csX5" fmla="*/ 914400 w 918056"/>
              <a:gd name="csY5" fmla="*/ 457200 h 914400"/>
              <a:gd name="csX6" fmla="*/ 457200 w 918056"/>
              <a:gd name="csY6" fmla="*/ 914400 h 9144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918056" h="914400">
                <a:moveTo>
                  <a:pt x="457200" y="914400"/>
                </a:moveTo>
                <a:cubicBezTo>
                  <a:pt x="457200" y="661895"/>
                  <a:pt x="252505" y="457200"/>
                  <a:pt x="0" y="457200"/>
                </a:cubicBezTo>
                <a:lnTo>
                  <a:pt x="3656" y="457200"/>
                </a:lnTo>
                <a:cubicBezTo>
                  <a:pt x="256161" y="457200"/>
                  <a:pt x="460856" y="252505"/>
                  <a:pt x="460856" y="0"/>
                </a:cubicBezTo>
                <a:cubicBezTo>
                  <a:pt x="460856" y="252505"/>
                  <a:pt x="665551" y="457200"/>
                  <a:pt x="918056" y="457200"/>
                </a:cubicBezTo>
                <a:lnTo>
                  <a:pt x="914400" y="457200"/>
                </a:lnTo>
                <a:cubicBezTo>
                  <a:pt x="661895" y="457200"/>
                  <a:pt x="457200" y="661895"/>
                  <a:pt x="457200" y="914400"/>
                </a:cubicBezTo>
                <a:close/>
              </a:path>
            </a:pathLst>
          </a:custGeom>
          <a:gradFill>
            <a:gsLst>
              <a:gs pos="0">
                <a:srgbClr val="0849DA"/>
              </a:gs>
              <a:gs pos="100000">
                <a:srgbClr val="7030A0"/>
              </a:gs>
            </a:gsLst>
            <a:lin ang="5400000" scaled="1"/>
          </a:gradFill>
          <a:ln w="31750" cap="rnd">
            <a:gradFill>
              <a:gsLst>
                <a:gs pos="0">
                  <a:srgbClr val="0849DA"/>
                </a:gs>
                <a:gs pos="100000">
                  <a:srgbClr val="7030A0"/>
                </a:gs>
              </a:gsLst>
              <a:lin ang="5400000" scaled="1"/>
            </a:gradFill>
            <a:round/>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300"/>
          </a:p>
        </p:txBody>
      </p:sp>
      <p:sp>
        <p:nvSpPr>
          <p:cNvPr id="18" name="Freeform: Shape 17">
            <a:extLst>
              <a:ext uri="{FF2B5EF4-FFF2-40B4-BE49-F238E27FC236}">
                <a16:creationId xmlns:a16="http://schemas.microsoft.com/office/drawing/2014/main" id="{EA2AAB08-28EA-43BF-97B5-3E45A9AF9925}"/>
              </a:ext>
            </a:extLst>
          </p:cNvPr>
          <p:cNvSpPr/>
          <p:nvPr/>
        </p:nvSpPr>
        <p:spPr>
          <a:xfrm>
            <a:off x="4160520" y="2542032"/>
            <a:ext cx="50292" cy="50292"/>
          </a:xfrm>
          <a:custGeom>
            <a:avLst/>
            <a:gdLst>
              <a:gd name="csX0" fmla="*/ 457200 w 918056"/>
              <a:gd name="csY0" fmla="*/ 914400 h 914400"/>
              <a:gd name="csX1" fmla="*/ 0 w 918056"/>
              <a:gd name="csY1" fmla="*/ 457200 h 914400"/>
              <a:gd name="csX2" fmla="*/ 3656 w 918056"/>
              <a:gd name="csY2" fmla="*/ 457200 h 914400"/>
              <a:gd name="csX3" fmla="*/ 460856 w 918056"/>
              <a:gd name="csY3" fmla="*/ 0 h 914400"/>
              <a:gd name="csX4" fmla="*/ 918056 w 918056"/>
              <a:gd name="csY4" fmla="*/ 457200 h 914400"/>
              <a:gd name="csX5" fmla="*/ 914400 w 918056"/>
              <a:gd name="csY5" fmla="*/ 457200 h 914400"/>
              <a:gd name="csX6" fmla="*/ 457200 w 918056"/>
              <a:gd name="csY6" fmla="*/ 914400 h 9144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918056" h="914400">
                <a:moveTo>
                  <a:pt x="457200" y="914400"/>
                </a:moveTo>
                <a:cubicBezTo>
                  <a:pt x="457200" y="661895"/>
                  <a:pt x="252505" y="457200"/>
                  <a:pt x="0" y="457200"/>
                </a:cubicBezTo>
                <a:lnTo>
                  <a:pt x="3656" y="457200"/>
                </a:lnTo>
                <a:cubicBezTo>
                  <a:pt x="256161" y="457200"/>
                  <a:pt x="460856" y="252505"/>
                  <a:pt x="460856" y="0"/>
                </a:cubicBezTo>
                <a:cubicBezTo>
                  <a:pt x="460856" y="252505"/>
                  <a:pt x="665551" y="457200"/>
                  <a:pt x="918056" y="457200"/>
                </a:cubicBezTo>
                <a:lnTo>
                  <a:pt x="914400" y="457200"/>
                </a:lnTo>
                <a:cubicBezTo>
                  <a:pt x="661895" y="457200"/>
                  <a:pt x="457200" y="661895"/>
                  <a:pt x="457200" y="914400"/>
                </a:cubicBezTo>
                <a:close/>
              </a:path>
            </a:pathLst>
          </a:custGeom>
          <a:gradFill>
            <a:gsLst>
              <a:gs pos="0">
                <a:srgbClr val="0849DA">
                  <a:lumMod val="97000"/>
                </a:srgbClr>
              </a:gs>
              <a:gs pos="100000">
                <a:srgbClr val="7030A0"/>
              </a:gs>
            </a:gsLst>
            <a:lin ang="5400000" scaled="1"/>
          </a:gradFill>
          <a:ln w="15875" cap="rnd">
            <a:gradFill>
              <a:gsLst>
                <a:gs pos="0">
                  <a:srgbClr val="0849DA"/>
                </a:gs>
                <a:gs pos="100000">
                  <a:srgbClr val="7030A0"/>
                </a:gs>
              </a:gsLst>
              <a:lin ang="5400000" scaled="1"/>
            </a:gradFill>
            <a:round/>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300"/>
          </a:p>
        </p:txBody>
      </p:sp>
      <p:pic>
        <p:nvPicPr>
          <p:cNvPr id="97" name="I121">
            <a:extLst>
              <a:ext uri="{FF2B5EF4-FFF2-40B4-BE49-F238E27FC236}">
                <a16:creationId xmlns:a16="http://schemas.microsoft.com/office/drawing/2014/main" id="{C7FD427D-B89B-464B-BECF-59931B099C83}"/>
              </a:ext>
            </a:extLst>
          </p:cNvPr>
          <p:cNvPicPr>
            <a:picLocks noChangeAspect="1"/>
          </p:cNvPicPr>
          <p:nvPr/>
        </p:nvPicPr>
        <p:blipFill>
          <a:blip r:embed="rId7"/>
          <a:stretch>
            <a:fillRect/>
          </a:stretch>
        </p:blipFill>
        <p:spPr>
          <a:xfrm>
            <a:off x="1106482" y="5500000"/>
            <a:ext cx="660000" cy="660000"/>
          </a:xfrm>
          <a:prstGeom prst="rect">
            <a:avLst/>
          </a:prstGeom>
        </p:spPr>
      </p:pic>
      <p:grpSp>
        <p:nvGrpSpPr>
          <p:cNvPr id="2" name="Group 1">
            <a:extLst>
              <a:ext uri="{FF2B5EF4-FFF2-40B4-BE49-F238E27FC236}">
                <a16:creationId xmlns:a16="http://schemas.microsoft.com/office/drawing/2014/main" id="{14808EE1-4FC0-8771-B675-1029BF6F3A73}"/>
              </a:ext>
            </a:extLst>
          </p:cNvPr>
          <p:cNvGrpSpPr/>
          <p:nvPr/>
        </p:nvGrpSpPr>
        <p:grpSpPr>
          <a:xfrm>
            <a:off x="2878176" y="102888"/>
            <a:ext cx="5890516" cy="526026"/>
            <a:chOff x="9603893" y="430511"/>
            <a:chExt cx="5890516" cy="605842"/>
          </a:xfrm>
        </p:grpSpPr>
        <p:sp>
          <p:nvSpPr>
            <p:cNvPr id="5" name="Google Shape;3112;p169">
              <a:extLst>
                <a:ext uri="{FF2B5EF4-FFF2-40B4-BE49-F238E27FC236}">
                  <a16:creationId xmlns:a16="http://schemas.microsoft.com/office/drawing/2014/main" id="{5FE41710-DEA0-56CA-E252-D374E373E06C}"/>
                </a:ext>
              </a:extLst>
            </p:cNvPr>
            <p:cNvSpPr/>
            <p:nvPr/>
          </p:nvSpPr>
          <p:spPr>
            <a:xfrm>
              <a:off x="10050805" y="457775"/>
              <a:ext cx="2983199" cy="568501"/>
            </a:xfrm>
            <a:custGeom>
              <a:avLst/>
              <a:gdLst/>
              <a:ahLst/>
              <a:cxnLst/>
              <a:rect l="l" t="t" r="r" b="b"/>
              <a:pathLst>
                <a:path w="29842" h="8403" extrusionOk="0">
                  <a:moveTo>
                    <a:pt x="1" y="1"/>
                  </a:moveTo>
                  <a:lnTo>
                    <a:pt x="6072" y="8402"/>
                  </a:lnTo>
                  <a:lnTo>
                    <a:pt x="28591" y="8402"/>
                  </a:lnTo>
                  <a:cubicBezTo>
                    <a:pt x="29280" y="8402"/>
                    <a:pt x="29842" y="7851"/>
                    <a:pt x="29842" y="7163"/>
                  </a:cubicBezTo>
                  <a:lnTo>
                    <a:pt x="29842" y="1252"/>
                  </a:lnTo>
                  <a:cubicBezTo>
                    <a:pt x="29842" y="563"/>
                    <a:pt x="29280" y="1"/>
                    <a:pt x="28591" y="1"/>
                  </a:cubicBezTo>
                  <a:close/>
                </a:path>
              </a:pathLst>
            </a:custGeom>
            <a:solidFill>
              <a:schemeClr val="bg1">
                <a:lumMod val="85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 name="Group 5">
              <a:extLst>
                <a:ext uri="{FF2B5EF4-FFF2-40B4-BE49-F238E27FC236}">
                  <a16:creationId xmlns:a16="http://schemas.microsoft.com/office/drawing/2014/main" id="{04CD5154-72F8-A2F8-B040-91208906D2A5}"/>
                </a:ext>
              </a:extLst>
            </p:cNvPr>
            <p:cNvGrpSpPr/>
            <p:nvPr/>
          </p:nvGrpSpPr>
          <p:grpSpPr>
            <a:xfrm>
              <a:off x="9603893" y="430511"/>
              <a:ext cx="5890516" cy="605842"/>
              <a:chOff x="9680198" y="256226"/>
              <a:chExt cx="5767917" cy="690195"/>
            </a:xfrm>
          </p:grpSpPr>
          <p:grpSp>
            <p:nvGrpSpPr>
              <p:cNvPr id="8" name="Google Shape;3110;p169">
                <a:extLst>
                  <a:ext uri="{FF2B5EF4-FFF2-40B4-BE49-F238E27FC236}">
                    <a16:creationId xmlns:a16="http://schemas.microsoft.com/office/drawing/2014/main" id="{EF3EC357-34E6-95EC-7E0A-3B1BF50D3A09}"/>
                  </a:ext>
                </a:extLst>
              </p:cNvPr>
              <p:cNvGrpSpPr/>
              <p:nvPr/>
            </p:nvGrpSpPr>
            <p:grpSpPr>
              <a:xfrm>
                <a:off x="9680198" y="256226"/>
                <a:ext cx="5767917" cy="690195"/>
                <a:chOff x="3099239" y="3615343"/>
                <a:chExt cx="1651576" cy="184687"/>
              </a:xfrm>
            </p:grpSpPr>
            <p:sp>
              <p:nvSpPr>
                <p:cNvPr id="11" name="Google Shape;3111;p169">
                  <a:extLst>
                    <a:ext uri="{FF2B5EF4-FFF2-40B4-BE49-F238E27FC236}">
                      <a16:creationId xmlns:a16="http://schemas.microsoft.com/office/drawing/2014/main" id="{37C07E98-10BD-E5E5-7EA3-DC1C48C03090}"/>
                    </a:ext>
                  </a:extLst>
                </p:cNvPr>
                <p:cNvSpPr/>
                <p:nvPr/>
              </p:nvSpPr>
              <p:spPr>
                <a:xfrm>
                  <a:off x="3327296" y="3788725"/>
                  <a:ext cx="22611" cy="11305"/>
                </a:xfrm>
                <a:custGeom>
                  <a:avLst/>
                  <a:gdLst/>
                  <a:ahLst/>
                  <a:cxnLst/>
                  <a:rect l="l" t="t" r="r" b="b"/>
                  <a:pathLst>
                    <a:path w="1172" h="586" extrusionOk="0">
                      <a:moveTo>
                        <a:pt x="1" y="0"/>
                      </a:moveTo>
                      <a:lnTo>
                        <a:pt x="586" y="585"/>
                      </a:lnTo>
                      <a:lnTo>
                        <a:pt x="1171" y="0"/>
                      </a:lnTo>
                      <a:close/>
                    </a:path>
                  </a:pathLst>
                </a:custGeom>
                <a:solidFill>
                  <a:srgbClr val="448C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3112;p169">
                  <a:extLst>
                    <a:ext uri="{FF2B5EF4-FFF2-40B4-BE49-F238E27FC236}">
                      <a16:creationId xmlns:a16="http://schemas.microsoft.com/office/drawing/2014/main" id="{366234E6-E9D2-4D32-49A8-3E74EADAF8AB}"/>
                    </a:ext>
                  </a:extLst>
                </p:cNvPr>
                <p:cNvSpPr/>
                <p:nvPr/>
              </p:nvSpPr>
              <p:spPr>
                <a:xfrm>
                  <a:off x="3213258" y="3626628"/>
                  <a:ext cx="799671" cy="170352"/>
                </a:xfrm>
                <a:custGeom>
                  <a:avLst/>
                  <a:gdLst/>
                  <a:ahLst/>
                  <a:cxnLst/>
                  <a:rect l="l" t="t" r="r" b="b"/>
                  <a:pathLst>
                    <a:path w="29842" h="8403" extrusionOk="0">
                      <a:moveTo>
                        <a:pt x="1" y="1"/>
                      </a:moveTo>
                      <a:lnTo>
                        <a:pt x="6072" y="8402"/>
                      </a:lnTo>
                      <a:lnTo>
                        <a:pt x="28591" y="8402"/>
                      </a:lnTo>
                      <a:cubicBezTo>
                        <a:pt x="29280" y="8402"/>
                        <a:pt x="29842" y="7851"/>
                        <a:pt x="29842" y="7163"/>
                      </a:cubicBezTo>
                      <a:lnTo>
                        <a:pt x="29842" y="1252"/>
                      </a:lnTo>
                      <a:cubicBezTo>
                        <a:pt x="29842" y="563"/>
                        <a:pt x="29280" y="1"/>
                        <a:pt x="28591" y="1"/>
                      </a:cubicBezTo>
                      <a:close/>
                    </a:path>
                  </a:pathLst>
                </a:custGeom>
                <a:solidFill>
                  <a:schemeClr val="bg1">
                    <a:lumMod val="85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3113;p169">
                  <a:extLst>
                    <a:ext uri="{FF2B5EF4-FFF2-40B4-BE49-F238E27FC236}">
                      <a16:creationId xmlns:a16="http://schemas.microsoft.com/office/drawing/2014/main" id="{581A3DB9-38A4-AF78-07EF-8FDAD4EB4361}"/>
                    </a:ext>
                  </a:extLst>
                </p:cNvPr>
                <p:cNvSpPr/>
                <p:nvPr/>
              </p:nvSpPr>
              <p:spPr>
                <a:xfrm>
                  <a:off x="3165220" y="3626629"/>
                  <a:ext cx="165202" cy="162115"/>
                </a:xfrm>
                <a:custGeom>
                  <a:avLst/>
                  <a:gdLst/>
                  <a:ahLst/>
                  <a:cxnLst/>
                  <a:rect l="l" t="t" r="r" b="b"/>
                  <a:pathLst>
                    <a:path w="8563" h="8403" extrusionOk="0">
                      <a:moveTo>
                        <a:pt x="0" y="1"/>
                      </a:moveTo>
                      <a:lnTo>
                        <a:pt x="8402" y="8402"/>
                      </a:lnTo>
                      <a:lnTo>
                        <a:pt x="8562" y="8402"/>
                      </a:lnTo>
                      <a:lnTo>
                        <a:pt x="2491" y="1"/>
                      </a:lnTo>
                      <a:close/>
                    </a:path>
                  </a:pathLst>
                </a:custGeom>
                <a:solidFill>
                  <a:schemeClr val="accent1">
                    <a:lumMod val="40000"/>
                    <a:lumOff val="60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3114;p169">
                  <a:extLst>
                    <a:ext uri="{FF2B5EF4-FFF2-40B4-BE49-F238E27FC236}">
                      <a16:creationId xmlns:a16="http://schemas.microsoft.com/office/drawing/2014/main" id="{60F1B4B4-AC65-9DE1-2C54-F767FFC5BA64}"/>
                    </a:ext>
                  </a:extLst>
                </p:cNvPr>
                <p:cNvSpPr/>
                <p:nvPr/>
              </p:nvSpPr>
              <p:spPr>
                <a:xfrm>
                  <a:off x="3099239" y="3615343"/>
                  <a:ext cx="239381" cy="184687"/>
                </a:xfrm>
                <a:custGeom>
                  <a:avLst/>
                  <a:gdLst/>
                  <a:ahLst/>
                  <a:cxnLst/>
                  <a:rect l="l" t="t" r="r" b="b"/>
                  <a:pathLst>
                    <a:path w="12408" h="9573" extrusionOk="0">
                      <a:moveTo>
                        <a:pt x="1240" y="0"/>
                      </a:moveTo>
                      <a:cubicBezTo>
                        <a:pt x="563" y="0"/>
                        <a:pt x="0" y="551"/>
                        <a:pt x="12" y="1240"/>
                      </a:cubicBezTo>
                      <a:lnTo>
                        <a:pt x="12" y="8344"/>
                      </a:lnTo>
                      <a:cubicBezTo>
                        <a:pt x="12" y="9022"/>
                        <a:pt x="563" y="9572"/>
                        <a:pt x="1240" y="9572"/>
                      </a:cubicBezTo>
                      <a:lnTo>
                        <a:pt x="12407" y="9572"/>
                      </a:lnTo>
                      <a:lnTo>
                        <a:pt x="11822" y="8987"/>
                      </a:lnTo>
                      <a:lnTo>
                        <a:pt x="3420" y="586"/>
                      </a:lnTo>
                      <a:lnTo>
                        <a:pt x="283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3112;p169">
                  <a:extLst>
                    <a:ext uri="{FF2B5EF4-FFF2-40B4-BE49-F238E27FC236}">
                      <a16:creationId xmlns:a16="http://schemas.microsoft.com/office/drawing/2014/main" id="{8DB8B7B7-32F5-F9E7-18F9-4E027B166254}"/>
                    </a:ext>
                  </a:extLst>
                </p:cNvPr>
                <p:cNvSpPr/>
                <p:nvPr/>
              </p:nvSpPr>
              <p:spPr>
                <a:xfrm>
                  <a:off x="3229068" y="3626367"/>
                  <a:ext cx="1521747" cy="170352"/>
                </a:xfrm>
                <a:custGeom>
                  <a:avLst/>
                  <a:gdLst/>
                  <a:ahLst/>
                  <a:cxnLst/>
                  <a:rect l="l" t="t" r="r" b="b"/>
                  <a:pathLst>
                    <a:path w="29842" h="8403" extrusionOk="0">
                      <a:moveTo>
                        <a:pt x="1" y="1"/>
                      </a:moveTo>
                      <a:lnTo>
                        <a:pt x="6072" y="8402"/>
                      </a:lnTo>
                      <a:lnTo>
                        <a:pt x="28591" y="8402"/>
                      </a:lnTo>
                      <a:cubicBezTo>
                        <a:pt x="29280" y="8402"/>
                        <a:pt x="29842" y="7851"/>
                        <a:pt x="29842" y="7163"/>
                      </a:cubicBezTo>
                      <a:lnTo>
                        <a:pt x="29842" y="1252"/>
                      </a:lnTo>
                      <a:cubicBezTo>
                        <a:pt x="29842" y="563"/>
                        <a:pt x="29280" y="1"/>
                        <a:pt x="28591" y="1"/>
                      </a:cubicBezTo>
                      <a:close/>
                    </a:path>
                  </a:pathLst>
                </a:custGeom>
                <a:solidFill>
                  <a:schemeClr val="bg1">
                    <a:lumMod val="85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 name="タイトル 1">
                <a:extLst>
                  <a:ext uri="{FF2B5EF4-FFF2-40B4-BE49-F238E27FC236}">
                    <a16:creationId xmlns:a16="http://schemas.microsoft.com/office/drawing/2014/main" id="{2B3200C0-0ADE-2E7C-A5FE-3C27E0B23F91}"/>
                  </a:ext>
                </a:extLst>
              </p:cNvPr>
              <p:cNvSpPr txBox="1">
                <a:spLocks/>
              </p:cNvSpPr>
              <p:nvPr/>
            </p:nvSpPr>
            <p:spPr>
              <a:xfrm>
                <a:off x="10683978" y="456244"/>
                <a:ext cx="2365292" cy="297885"/>
              </a:xfrm>
              <a:prstGeom prst="rect">
                <a:avLst/>
              </a:prstGeom>
            </p:spPr>
            <p:txBody>
              <a:bodyPr vert="horz" wrap="none" lIns="0" tIns="0" rIns="0" bIns="0" rtlCol="0" anchor="ctr" anchorCtr="0">
                <a:noAutofit/>
              </a:bodyPr>
              <a:lstStyle>
                <a:lvl1pPr algn="ctr" defTabSz="914400" rtl="0" eaLnBrk="1" latinLnBrk="0" hangingPunct="1">
                  <a:lnSpc>
                    <a:spcPct val="90000"/>
                  </a:lnSpc>
                  <a:spcBef>
                    <a:spcPct val="0"/>
                  </a:spcBef>
                  <a:buNone/>
                  <a:defRPr kumimoji="1" sz="2400" b="1" kern="1200">
                    <a:solidFill>
                      <a:schemeClr val="tx1"/>
                    </a:solidFill>
                    <a:latin typeface="Times New Roman"/>
                    <a:ea typeface="Times New Roman"/>
                    <a:cs typeface="Times New Roman"/>
                  </a:defRPr>
                </a:lvl1pPr>
              </a:lstStyle>
              <a:p>
                <a:pPr algn="l"/>
                <a:r>
                  <a:rPr lang="en-US" altLang="ja-JP" dirty="0">
                    <a:latin typeface="Times New Roman" panose="02020603050405020304" pitchFamily="18" charset="0"/>
                    <a:cs typeface="Times New Roman" panose="02020603050405020304" pitchFamily="18" charset="0"/>
                  </a:rPr>
                  <a:t>AI </a:t>
                </a:r>
                <a:r>
                  <a:rPr lang="en-US" altLang="ja-JP" dirty="0" err="1">
                    <a:latin typeface="Times New Roman" panose="02020603050405020304" pitchFamily="18" charset="0"/>
                    <a:cs typeface="Times New Roman" panose="02020603050405020304" pitchFamily="18" charset="0"/>
                  </a:rPr>
                  <a:t>dự</a:t>
                </a:r>
                <a:r>
                  <a:rPr lang="en-US" altLang="ja-JP" dirty="0">
                    <a:latin typeface="Times New Roman" panose="02020603050405020304" pitchFamily="18" charset="0"/>
                    <a:cs typeface="Times New Roman" panose="02020603050405020304" pitchFamily="18" charset="0"/>
                  </a:rPr>
                  <a:t> </a:t>
                </a:r>
                <a:r>
                  <a:rPr lang="en-US" altLang="ja-JP" dirty="0" err="1">
                    <a:latin typeface="Times New Roman" panose="02020603050405020304" pitchFamily="18" charset="0"/>
                    <a:cs typeface="Times New Roman" panose="02020603050405020304" pitchFamily="18" charset="0"/>
                  </a:rPr>
                  <a:t>đoán</a:t>
                </a:r>
                <a:r>
                  <a:rPr lang="en-US" altLang="ja-JP" dirty="0">
                    <a:latin typeface="Times New Roman" panose="02020603050405020304" pitchFamily="18" charset="0"/>
                    <a:cs typeface="Times New Roman" panose="02020603050405020304" pitchFamily="18" charset="0"/>
                  </a:rPr>
                  <a:t> </a:t>
                </a:r>
                <a:r>
                  <a:rPr lang="en-US" altLang="ja-JP" dirty="0" err="1">
                    <a:latin typeface="Times New Roman" panose="02020603050405020304" pitchFamily="18" charset="0"/>
                    <a:cs typeface="Times New Roman" panose="02020603050405020304" pitchFamily="18" charset="0"/>
                  </a:rPr>
                  <a:t>và</a:t>
                </a:r>
                <a:r>
                  <a:rPr lang="en-US" altLang="ja-JP" dirty="0">
                    <a:latin typeface="Times New Roman" panose="02020603050405020304" pitchFamily="18" charset="0"/>
                    <a:cs typeface="Times New Roman" panose="02020603050405020304" pitchFamily="18" charset="0"/>
                  </a:rPr>
                  <a:t> </a:t>
                </a:r>
                <a:r>
                  <a:rPr lang="en-US" altLang="ja-JP" dirty="0" err="1">
                    <a:latin typeface="Times New Roman" panose="02020603050405020304" pitchFamily="18" charset="0"/>
                    <a:cs typeface="Times New Roman" panose="02020603050405020304" pitchFamily="18" charset="0"/>
                  </a:rPr>
                  <a:t>cảnh</a:t>
                </a:r>
                <a:r>
                  <a:rPr lang="en-US" altLang="ja-JP" dirty="0">
                    <a:latin typeface="Times New Roman" panose="02020603050405020304" pitchFamily="18" charset="0"/>
                    <a:cs typeface="Times New Roman" panose="02020603050405020304" pitchFamily="18" charset="0"/>
                  </a:rPr>
                  <a:t> </a:t>
                </a:r>
                <a:r>
                  <a:rPr lang="en-US" altLang="ja-JP" dirty="0" err="1">
                    <a:latin typeface="Times New Roman" panose="02020603050405020304" pitchFamily="18" charset="0"/>
                    <a:cs typeface="Times New Roman" panose="02020603050405020304" pitchFamily="18" charset="0"/>
                  </a:rPr>
                  <a:t>báo</a:t>
                </a:r>
                <a:r>
                  <a:rPr lang="en-US" altLang="ja-JP" dirty="0">
                    <a:latin typeface="Times New Roman" panose="02020603050405020304" pitchFamily="18" charset="0"/>
                    <a:cs typeface="Times New Roman" panose="02020603050405020304" pitchFamily="18" charset="0"/>
                  </a:rPr>
                  <a:t> </a:t>
                </a:r>
                <a:r>
                  <a:rPr lang="en-US" altLang="ja-JP" dirty="0" err="1">
                    <a:latin typeface="Times New Roman" panose="02020603050405020304" pitchFamily="18" charset="0"/>
                    <a:cs typeface="Times New Roman" panose="02020603050405020304" pitchFamily="18" charset="0"/>
                  </a:rPr>
                  <a:t>lỗi</a:t>
                </a:r>
                <a:endParaRPr lang="en-US" altLang="ja-JP" dirty="0">
                  <a:latin typeface="Times New Roman" panose="02020603050405020304" pitchFamily="18" charset="0"/>
                  <a:cs typeface="Times New Roman" panose="02020603050405020304" pitchFamily="18" charset="0"/>
                </a:endParaRPr>
              </a:p>
            </p:txBody>
          </p:sp>
          <p:sp>
            <p:nvSpPr>
              <p:cNvPr id="10" name="タイトル 1">
                <a:extLst>
                  <a:ext uri="{FF2B5EF4-FFF2-40B4-BE49-F238E27FC236}">
                    <a16:creationId xmlns:a16="http://schemas.microsoft.com/office/drawing/2014/main" id="{2F6C9BF1-A6E2-AFE4-552A-917B142FFCAA}"/>
                  </a:ext>
                </a:extLst>
              </p:cNvPr>
              <p:cNvSpPr txBox="1">
                <a:spLocks/>
              </p:cNvSpPr>
              <p:nvPr/>
            </p:nvSpPr>
            <p:spPr>
              <a:xfrm>
                <a:off x="9839575" y="531261"/>
                <a:ext cx="2365292" cy="297885"/>
              </a:xfrm>
              <a:prstGeom prst="rect">
                <a:avLst/>
              </a:prstGeom>
            </p:spPr>
            <p:txBody>
              <a:bodyPr vert="horz" wrap="none" lIns="0" tIns="0" rIns="0" bIns="0" rtlCol="0" anchor="ctr" anchorCtr="0">
                <a:noAutofit/>
              </a:bodyPr>
              <a:lstStyle>
                <a:lvl1pPr algn="ctr" defTabSz="914400" rtl="0" eaLnBrk="1" latinLnBrk="0" hangingPunct="1">
                  <a:lnSpc>
                    <a:spcPct val="90000"/>
                  </a:lnSpc>
                  <a:spcBef>
                    <a:spcPct val="0"/>
                  </a:spcBef>
                  <a:buNone/>
                  <a:defRPr kumimoji="1" sz="2400" b="1" kern="1200">
                    <a:solidFill>
                      <a:schemeClr val="tx1"/>
                    </a:solidFill>
                    <a:latin typeface="Times New Roman"/>
                    <a:ea typeface="Times New Roman"/>
                    <a:cs typeface="Times New Roman"/>
                  </a:defRPr>
                </a:lvl1pPr>
              </a:lstStyle>
              <a:p>
                <a:pPr algn="l"/>
                <a:endParaRPr lang="ja-JP" altLang="en-US" dirty="0">
                  <a:latin typeface="Times New Roman" panose="020F0502020204030204" pitchFamily="34" charset="0"/>
                  <a:cs typeface="Times New Roman" panose="020F0502020204030204" pitchFamily="34" charset="0"/>
                </a:endParaRPr>
              </a:p>
            </p:txBody>
          </p:sp>
        </p:grpSp>
      </p:grpSp>
      <p:sp>
        <p:nvSpPr>
          <p:cNvPr id="140" name="N3"/>
          <p:cNvSpPr/>
          <p:nvPr/>
        </p:nvSpPr>
        <p:spPr>
          <a:xfrm>
            <a:off x="5751576" y="4306824"/>
            <a:ext cx="256032" cy="256032"/>
          </a:xfrm>
          <a:prstGeom prst="ellipse">
            <a:avLst/>
          </a:prstGeom>
          <a:solidFill>
            <a:srgbClr val="2E1C9E"/>
          </a:solidFill>
          <a:ln w="19050">
            <a:solidFill>
              <a:srgbClr val="FFFFFF"/>
            </a:solidFill>
          </a:ln>
        </p:spPr>
        <p:txBody>
          <a:bodyPr/>
          <a:lstStyle/>
          <a:p>
            <a:endParaRPr lang="vi-VN"/>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4"/>
          <p:cNvSpPr txBox="1"/>
          <p:nvPr/>
        </p:nvSpPr>
        <p:spPr>
          <a:xfrm>
            <a:off x="706482" y="950000"/>
            <a:ext cx="6600000" cy="520000"/>
          </a:xfrm>
          <a:prstGeom prst="roundRect">
            <a:avLst>
              <a:gd name="adj" fmla="val 22000"/>
            </a:avLst>
          </a:prstGeom>
          <a:gradFill rotWithShape="1">
            <a:gsLst>
              <a:gs pos="0">
                <a:srgbClr val="1B1464"/>
              </a:gs>
              <a:gs pos="100000">
                <a:srgbClr val="3C2BC8"/>
              </a:gs>
            </a:gsLst>
            <a:lin ang="0" scaled="0"/>
          </a:gradFill>
        </p:spPr>
        <p:txBody>
          <a:bodyPr wrap="square" lIns="228600" tIns="0" rIns="114300" bIns="0" anchor="ctr">
            <a:normAutofit/>
          </a:bodyPr>
          <a:lstStyle/>
          <a:p>
            <a:pPr algn="l">
              <a:lnSpc>
                <a:spcPct val="100000"/>
              </a:lnSpc>
              <a:spcBef>
                <a:spcPts val="0"/>
              </a:spcBef>
            </a:pPr>
            <a:r>
              <a:rPr lang="vi-VN" sz="1600" b="1">
                <a:solidFill>
                  <a:srgbClr val="FFFFFF"/>
                </a:solidFill>
              </a:rPr>
              <a:t>Bước 4: Chạy thử tại hiện trường và hiệu chỉnh</a:t>
            </a:r>
          </a:p>
        </p:txBody>
      </p:sp>
      <p:sp>
        <p:nvSpPr>
          <p:cNvPr id="7" name="T7"/>
          <p:cNvSpPr txBox="1"/>
          <p:nvPr/>
        </p:nvSpPr>
        <p:spPr>
          <a:xfrm>
            <a:off x="8778240" y="3703320"/>
            <a:ext cx="3200400" cy="548640"/>
          </a:xfrm>
          <a:prstGeom prst="rect">
            <a:avLst/>
          </a:prstGeom>
          <a:noFill/>
        </p:spPr>
        <p:txBody>
          <a:bodyPr wrap="square" lIns="0" tIns="0" rIns="0" bIns="0" anchor="t">
            <a:normAutofit/>
          </a:bodyPr>
          <a:lstStyle/>
          <a:p>
            <a:pPr algn="ctr">
              <a:lnSpc>
                <a:spcPct val="100000"/>
              </a:lnSpc>
              <a:spcBef>
                <a:spcPts val="0"/>
              </a:spcBef>
            </a:pPr>
            <a:r>
              <a:rPr lang="vi-VN" sz="1300" b="1"/>
              <a:t>VẬN HÀNH THỬ</a:t>
            </a:r>
          </a:p>
          <a:p>
            <a:pPr algn="ctr">
              <a:lnSpc>
                <a:spcPct val="100000"/>
              </a:lnSpc>
              <a:spcBef>
                <a:spcPts val="0"/>
              </a:spcBef>
            </a:pPr>
            <a:r>
              <a:rPr lang="vi-VN" sz="1300" b="1"/>
              <a:t>Cảnh báo sớm tại hiện trường</a:t>
            </a:r>
            <a:endParaRPr lang="vi-VN" sz="1300" b="0"/>
          </a:p>
        </p:txBody>
      </p:sp>
      <p:sp>
        <p:nvSpPr>
          <p:cNvPr id="100" name="S100"/>
          <p:cNvSpPr/>
          <p:nvPr/>
        </p:nvSpPr>
        <p:spPr>
          <a:xfrm>
            <a:off x="640080" y="1783080"/>
            <a:ext cx="7863840" cy="960120"/>
          </a:xfrm>
          <a:prstGeom prst="roundRect">
            <a:avLst>
              <a:gd name="adj" fmla="val 9000"/>
            </a:avLst>
          </a:prstGeom>
          <a:gradFill rotWithShape="1">
            <a:gsLst>
              <a:gs pos="0">
                <a:srgbClr val="FFFFFF"/>
              </a:gs>
              <a:gs pos="100000">
                <a:srgbClr val="F2F4FF"/>
              </a:gs>
            </a:gsLst>
            <a:lin ang="2700000" scaled="0"/>
          </a:gradFill>
          <a:ln w="12700">
            <a:solidFill>
              <a:srgbClr val="C7CEF5"/>
            </a:solidFill>
          </a:ln>
          <a:effectLst>
            <a:outerShdw blurRad="140000" dist="38000" dir="5400000" algn="t" rotWithShape="0">
              <a:srgbClr val="1B1464">
                <a:alpha val="13000"/>
              </a:srgbClr>
            </a:outerShdw>
          </a:effectLst>
        </p:spPr>
        <p:txBody>
          <a:bodyPr/>
          <a:lstStyle/>
          <a:p>
            <a:endParaRPr lang="vi-VN"/>
          </a:p>
        </p:txBody>
      </p:sp>
      <p:sp>
        <p:nvSpPr>
          <p:cNvPr id="101" name="S101"/>
          <p:cNvSpPr/>
          <p:nvPr/>
        </p:nvSpPr>
        <p:spPr>
          <a:xfrm>
            <a:off x="640080" y="1783080"/>
            <a:ext cx="64008" cy="960120"/>
          </a:xfrm>
          <a:prstGeom prst="ellipse">
            <a:avLst/>
          </a:prstGeom>
          <a:solidFill>
            <a:srgbClr val="EEF0FF"/>
          </a:solidFill>
          <a:ln w="12700">
            <a:solidFill>
              <a:srgbClr val="C7CEF5"/>
            </a:solidFill>
          </a:ln>
        </p:spPr>
        <p:txBody>
          <a:bodyPr/>
          <a:lstStyle/>
          <a:p>
            <a:endParaRPr lang="vi-VN"/>
          </a:p>
        </p:txBody>
      </p:sp>
      <p:pic>
        <p:nvPicPr>
          <p:cNvPr id="102" name="I102"/>
          <p:cNvPicPr>
            <a:picLocks noChangeAspect="1"/>
          </p:cNvPicPr>
          <p:nvPr/>
        </p:nvPicPr>
        <p:blipFill>
          <a:blip r:embed="rId3"/>
          <a:stretch>
            <a:fillRect/>
          </a:stretch>
        </p:blipFill>
        <p:spPr>
          <a:xfrm>
            <a:off x="914400" y="1938528"/>
            <a:ext cx="640080" cy="640080"/>
          </a:xfrm>
          <a:prstGeom prst="rect">
            <a:avLst/>
          </a:prstGeom>
        </p:spPr>
      </p:pic>
      <p:sp>
        <p:nvSpPr>
          <p:cNvPr id="103" name="T103"/>
          <p:cNvSpPr txBox="1"/>
          <p:nvPr/>
        </p:nvSpPr>
        <p:spPr>
          <a:xfrm>
            <a:off x="1783080" y="1874520"/>
            <a:ext cx="6400800" cy="340157"/>
          </a:xfrm>
          <a:prstGeom prst="rect">
            <a:avLst/>
          </a:prstGeom>
          <a:noFill/>
        </p:spPr>
        <p:txBody>
          <a:bodyPr wrap="square" lIns="0" tIns="0" rIns="0" bIns="0" anchor="ctr">
            <a:normAutofit/>
          </a:bodyPr>
          <a:lstStyle/>
          <a:p>
            <a:pPr algn="l">
              <a:lnSpc>
                <a:spcPct val="100000"/>
              </a:lnSpc>
              <a:spcBef>
                <a:spcPts val="0"/>
              </a:spcBef>
            </a:pPr>
            <a:r>
              <a:rPr lang="vi-VN" sz="1300" b="1">
                <a:solidFill>
                  <a:srgbClr val="2E1C9E"/>
                </a:solidFill>
              </a:rPr>
              <a:t>01  |  Chạy thử thực tế</a:t>
            </a:r>
          </a:p>
        </p:txBody>
      </p:sp>
      <p:sp>
        <p:nvSpPr>
          <p:cNvPr id="104" name="T104"/>
          <p:cNvSpPr txBox="1"/>
          <p:nvPr/>
        </p:nvSpPr>
        <p:spPr>
          <a:xfrm>
            <a:off x="1783080" y="2240280"/>
            <a:ext cx="6126480" cy="457200"/>
          </a:xfrm>
          <a:prstGeom prst="rect">
            <a:avLst/>
          </a:prstGeom>
          <a:noFill/>
        </p:spPr>
        <p:txBody>
          <a:bodyPr wrap="square" lIns="0" tIns="0" rIns="0" bIns="0" anchor="t">
            <a:normAutofit/>
          </a:bodyPr>
          <a:lstStyle/>
          <a:p>
            <a:pPr algn="l">
              <a:lnSpc>
                <a:spcPct val="100000"/>
              </a:lnSpc>
              <a:spcBef>
                <a:spcPts val="0"/>
              </a:spcBef>
            </a:pPr>
            <a:r>
              <a:rPr lang="vi-VN" sz="1300" b="0">
                <a:solidFill>
                  <a:srgbClr val="505050"/>
                </a:solidFill>
              </a:rPr>
              <a:t>Áp dụng cho lot đang sản xuất và theo dõi cảnh báo hằng ngày</a:t>
            </a:r>
          </a:p>
        </p:txBody>
      </p:sp>
      <p:sp>
        <p:nvSpPr>
          <p:cNvPr id="106" name="S106"/>
          <p:cNvSpPr/>
          <p:nvPr/>
        </p:nvSpPr>
        <p:spPr>
          <a:xfrm>
            <a:off x="1051560" y="2926080"/>
            <a:ext cx="7452360" cy="960120"/>
          </a:xfrm>
          <a:prstGeom prst="roundRect">
            <a:avLst>
              <a:gd name="adj" fmla="val 9000"/>
            </a:avLst>
          </a:prstGeom>
          <a:gradFill rotWithShape="1">
            <a:gsLst>
              <a:gs pos="0">
                <a:srgbClr val="FFFFFF"/>
              </a:gs>
              <a:gs pos="100000">
                <a:srgbClr val="F2F4FF"/>
              </a:gs>
            </a:gsLst>
            <a:lin ang="2700000" scaled="0"/>
          </a:gradFill>
          <a:ln w="12700">
            <a:solidFill>
              <a:srgbClr val="C7CEF5"/>
            </a:solidFill>
          </a:ln>
          <a:effectLst>
            <a:outerShdw blurRad="140000" dist="38000" dir="5400000" algn="t" rotWithShape="0">
              <a:srgbClr val="1B1464">
                <a:alpha val="13000"/>
              </a:srgbClr>
            </a:outerShdw>
          </a:effectLst>
        </p:spPr>
        <p:txBody>
          <a:bodyPr/>
          <a:lstStyle/>
          <a:p>
            <a:endParaRPr lang="vi-VN" sz="1300"/>
          </a:p>
        </p:txBody>
      </p:sp>
      <p:sp>
        <p:nvSpPr>
          <p:cNvPr id="107" name="S107"/>
          <p:cNvSpPr/>
          <p:nvPr/>
        </p:nvSpPr>
        <p:spPr>
          <a:xfrm>
            <a:off x="1051560" y="2926080"/>
            <a:ext cx="64008" cy="960120"/>
          </a:xfrm>
          <a:prstGeom prst="ellipse">
            <a:avLst/>
          </a:prstGeom>
          <a:solidFill>
            <a:srgbClr val="EEF0FF"/>
          </a:solidFill>
          <a:ln w="12700">
            <a:solidFill>
              <a:srgbClr val="C7CEF5"/>
            </a:solidFill>
          </a:ln>
        </p:spPr>
        <p:txBody>
          <a:bodyPr/>
          <a:lstStyle/>
          <a:p>
            <a:endParaRPr lang="vi-VN" sz="1300"/>
          </a:p>
        </p:txBody>
      </p:sp>
      <p:pic>
        <p:nvPicPr>
          <p:cNvPr id="108" name="I108"/>
          <p:cNvPicPr>
            <a:picLocks noChangeAspect="1"/>
          </p:cNvPicPr>
          <p:nvPr/>
        </p:nvPicPr>
        <p:blipFill>
          <a:blip r:embed="rId4"/>
          <a:stretch>
            <a:fillRect/>
          </a:stretch>
        </p:blipFill>
        <p:spPr>
          <a:xfrm>
            <a:off x="1325880" y="3081528"/>
            <a:ext cx="640080" cy="640080"/>
          </a:xfrm>
          <a:prstGeom prst="rect">
            <a:avLst/>
          </a:prstGeom>
        </p:spPr>
      </p:pic>
      <p:sp>
        <p:nvSpPr>
          <p:cNvPr id="109" name="T109"/>
          <p:cNvSpPr txBox="1"/>
          <p:nvPr/>
        </p:nvSpPr>
        <p:spPr>
          <a:xfrm>
            <a:off x="2194560" y="3017520"/>
            <a:ext cx="5989320" cy="340157"/>
          </a:xfrm>
          <a:prstGeom prst="rect">
            <a:avLst/>
          </a:prstGeom>
          <a:noFill/>
        </p:spPr>
        <p:txBody>
          <a:bodyPr wrap="square" lIns="0" tIns="0" rIns="0" bIns="0" anchor="ctr">
            <a:normAutofit/>
          </a:bodyPr>
          <a:lstStyle/>
          <a:p>
            <a:pPr algn="l">
              <a:lnSpc>
                <a:spcPct val="100000"/>
              </a:lnSpc>
              <a:spcBef>
                <a:spcPts val="0"/>
              </a:spcBef>
            </a:pPr>
            <a:r>
              <a:rPr lang="vi-VN" sz="1300" b="1">
                <a:solidFill>
                  <a:srgbClr val="2E1C9E"/>
                </a:solidFill>
              </a:rPr>
              <a:t>02  |  Đối chiếu kết quả</a:t>
            </a:r>
          </a:p>
        </p:txBody>
      </p:sp>
      <p:sp>
        <p:nvSpPr>
          <p:cNvPr id="110" name="T110"/>
          <p:cNvSpPr txBox="1">
            <a:spLocks/>
          </p:cNvSpPr>
          <p:nvPr/>
        </p:nvSpPr>
        <p:spPr>
          <a:xfrm>
            <a:off x="2194560" y="3383280"/>
            <a:ext cx="5715000" cy="457200"/>
          </a:xfrm>
          <a:prstGeom prst="rect">
            <a:avLst/>
          </a:prstGeom>
          <a:noFill/>
        </p:spPr>
        <p:txBody>
          <a:bodyPr wrap="square" lIns="0" tIns="0" rIns="0" bIns="0" anchor="t">
            <a:normAutofit/>
          </a:bodyPr>
          <a:lstStyle/>
          <a:p>
            <a:pPr algn="l">
              <a:lnSpc>
                <a:spcPct val="100000"/>
              </a:lnSpc>
              <a:spcBef>
                <a:spcPts val="0"/>
              </a:spcBef>
            </a:pPr>
            <a:r>
              <a:rPr lang="vi-VN" sz="1300" b="0">
                <a:solidFill>
                  <a:srgbClr val="505050"/>
                </a:solidFill>
              </a:rPr>
              <a:t>So sánh cảnh báo của AI với kết quả đo thực tế trên jig</a:t>
            </a:r>
          </a:p>
        </p:txBody>
      </p:sp>
      <p:sp>
        <p:nvSpPr>
          <p:cNvPr id="112" name="S112"/>
          <p:cNvSpPr/>
          <p:nvPr/>
        </p:nvSpPr>
        <p:spPr>
          <a:xfrm>
            <a:off x="1463040" y="4069080"/>
            <a:ext cx="7040880" cy="960120"/>
          </a:xfrm>
          <a:prstGeom prst="roundRect">
            <a:avLst>
              <a:gd name="adj" fmla="val 9000"/>
            </a:avLst>
          </a:prstGeom>
          <a:gradFill rotWithShape="1">
            <a:gsLst>
              <a:gs pos="0">
                <a:srgbClr val="FFFFFF"/>
              </a:gs>
              <a:gs pos="100000">
                <a:srgbClr val="F2F4FF"/>
              </a:gs>
            </a:gsLst>
            <a:lin ang="2700000" scaled="0"/>
          </a:gradFill>
          <a:ln w="12700">
            <a:solidFill>
              <a:srgbClr val="C7CEF5"/>
            </a:solidFill>
          </a:ln>
          <a:effectLst>
            <a:outerShdw blurRad="140000" dist="38000" dir="5400000" algn="t" rotWithShape="0">
              <a:srgbClr val="1B1464">
                <a:alpha val="13000"/>
              </a:srgbClr>
            </a:outerShdw>
          </a:effectLst>
        </p:spPr>
        <p:txBody>
          <a:bodyPr/>
          <a:lstStyle/>
          <a:p>
            <a:endParaRPr lang="vi-VN" sz="1300"/>
          </a:p>
        </p:txBody>
      </p:sp>
      <p:sp>
        <p:nvSpPr>
          <p:cNvPr id="113" name="S113"/>
          <p:cNvSpPr>
            <a:spLocks/>
          </p:cNvSpPr>
          <p:nvPr/>
        </p:nvSpPr>
        <p:spPr>
          <a:xfrm>
            <a:off x="1463040" y="4069080"/>
            <a:ext cx="64008" cy="960120"/>
          </a:xfrm>
          <a:prstGeom prst="ellipse">
            <a:avLst/>
          </a:prstGeom>
          <a:solidFill>
            <a:srgbClr val="EEF0FF"/>
          </a:solidFill>
          <a:ln w="12700">
            <a:solidFill>
              <a:srgbClr val="C7CEF5"/>
            </a:solidFill>
          </a:ln>
        </p:spPr>
        <p:txBody>
          <a:bodyPr/>
          <a:lstStyle/>
          <a:p>
            <a:endParaRPr lang="vi-VN" sz="1300"/>
          </a:p>
        </p:txBody>
      </p:sp>
      <p:pic>
        <p:nvPicPr>
          <p:cNvPr id="114" name="I114"/>
          <p:cNvPicPr>
            <a:picLocks noChangeAspect="1"/>
          </p:cNvPicPr>
          <p:nvPr/>
        </p:nvPicPr>
        <p:blipFill>
          <a:blip r:embed="rId5"/>
          <a:stretch>
            <a:fillRect/>
          </a:stretch>
        </p:blipFill>
        <p:spPr>
          <a:xfrm>
            <a:off x="1737360" y="4224528"/>
            <a:ext cx="640080" cy="640080"/>
          </a:xfrm>
          <a:prstGeom prst="rect">
            <a:avLst/>
          </a:prstGeom>
        </p:spPr>
      </p:pic>
      <p:sp>
        <p:nvSpPr>
          <p:cNvPr id="115" name="T115"/>
          <p:cNvSpPr txBox="1">
            <a:spLocks/>
          </p:cNvSpPr>
          <p:nvPr/>
        </p:nvSpPr>
        <p:spPr>
          <a:xfrm>
            <a:off x="2606040" y="4160520"/>
            <a:ext cx="5577840" cy="340157"/>
          </a:xfrm>
          <a:prstGeom prst="rect">
            <a:avLst/>
          </a:prstGeom>
          <a:noFill/>
        </p:spPr>
        <p:txBody>
          <a:bodyPr wrap="square" lIns="0" tIns="0" rIns="0" bIns="0" anchor="ctr">
            <a:normAutofit/>
          </a:bodyPr>
          <a:lstStyle/>
          <a:p>
            <a:pPr algn="l">
              <a:lnSpc>
                <a:spcPct val="100000"/>
              </a:lnSpc>
              <a:spcBef>
                <a:spcPts val="0"/>
              </a:spcBef>
            </a:pPr>
            <a:r>
              <a:rPr lang="vi-VN" sz="1300" b="1">
                <a:solidFill>
                  <a:srgbClr val="2E1C9E"/>
                </a:solidFill>
              </a:rPr>
              <a:t>03  |  Hiệu chỉnh và học tiếp</a:t>
            </a:r>
          </a:p>
        </p:txBody>
      </p:sp>
      <p:sp>
        <p:nvSpPr>
          <p:cNvPr id="116" name="T116"/>
          <p:cNvSpPr txBox="1"/>
          <p:nvPr/>
        </p:nvSpPr>
        <p:spPr>
          <a:xfrm>
            <a:off x="2606040" y="4526280"/>
            <a:ext cx="5303520" cy="457200"/>
          </a:xfrm>
          <a:prstGeom prst="rect">
            <a:avLst/>
          </a:prstGeom>
          <a:noFill/>
        </p:spPr>
        <p:txBody>
          <a:bodyPr wrap="square" lIns="0" tIns="0" rIns="0" bIns="0" anchor="t">
            <a:normAutofit/>
          </a:bodyPr>
          <a:lstStyle/>
          <a:p>
            <a:pPr algn="l">
              <a:lnSpc>
                <a:spcPct val="100000"/>
              </a:lnSpc>
              <a:spcBef>
                <a:spcPts val="0"/>
              </a:spcBef>
            </a:pPr>
            <a:r>
              <a:rPr lang="vi-VN" sz="1300" b="0">
                <a:solidFill>
                  <a:srgbClr val="505050"/>
                </a:solidFill>
              </a:rPr>
              <a:t>Cập nhật dữ liệu mới, tinh chỉnh ngưỡng và tiêu chuẩn cảnh báo</a:t>
            </a:r>
          </a:p>
        </p:txBody>
      </p:sp>
      <p:sp>
        <p:nvSpPr>
          <p:cNvPr id="117" name="S117"/>
          <p:cNvSpPr/>
          <p:nvPr/>
        </p:nvSpPr>
        <p:spPr>
          <a:xfrm>
            <a:off x="8092440" y="3913632"/>
            <a:ext cx="411480" cy="182880"/>
          </a:xfrm>
          <a:prstGeom prst="rightArrow">
            <a:avLst/>
          </a:prstGeom>
          <a:solidFill>
            <a:srgbClr val="C9C5E8"/>
          </a:solidFill>
          <a:ln>
            <a:noFill/>
          </a:ln>
        </p:spPr>
        <p:txBody>
          <a:bodyPr/>
          <a:lstStyle/>
          <a:p>
            <a:endParaRPr lang="vi-VN" sz="1300"/>
          </a:p>
        </p:txBody>
      </p:sp>
      <p:sp>
        <p:nvSpPr>
          <p:cNvPr id="118" name="S118"/>
          <p:cNvSpPr/>
          <p:nvPr/>
        </p:nvSpPr>
        <p:spPr>
          <a:xfrm>
            <a:off x="706482" y="5540000"/>
            <a:ext cx="10779036" cy="620000"/>
          </a:xfrm>
          <a:prstGeom prst="roundRect">
            <a:avLst>
              <a:gd name="adj" fmla="val 9000"/>
            </a:avLst>
          </a:prstGeom>
          <a:gradFill rotWithShape="1">
            <a:gsLst>
              <a:gs pos="0">
                <a:srgbClr val="EDEBFB"/>
              </a:gs>
              <a:gs pos="100000">
                <a:srgbClr val="E2F6FF"/>
              </a:gs>
            </a:gsLst>
            <a:lin ang="0" scaled="0"/>
          </a:gradFill>
          <a:ln>
            <a:noFill/>
          </a:ln>
        </p:spPr>
        <p:txBody>
          <a:bodyPr/>
          <a:lstStyle/>
          <a:p>
            <a:endParaRPr lang="vi-VN" sz="1300"/>
          </a:p>
        </p:txBody>
      </p:sp>
      <p:sp>
        <p:nvSpPr>
          <p:cNvPr id="119" name="T119"/>
          <p:cNvSpPr txBox="1"/>
          <p:nvPr/>
        </p:nvSpPr>
        <p:spPr>
          <a:xfrm>
            <a:off x="1006482" y="5540000"/>
            <a:ext cx="10179036" cy="620000"/>
          </a:xfrm>
          <a:prstGeom prst="rect">
            <a:avLst/>
          </a:prstGeom>
          <a:noFill/>
        </p:spPr>
        <p:txBody>
          <a:bodyPr wrap="square" lIns="0" tIns="0" rIns="0" bIns="0" anchor="ctr">
            <a:normAutofit/>
          </a:bodyPr>
          <a:lstStyle/>
          <a:p>
            <a:pPr algn="ctr">
              <a:lnSpc>
                <a:spcPct val="100000"/>
              </a:lnSpc>
              <a:spcBef>
                <a:spcPts val="0"/>
              </a:spcBef>
            </a:pPr>
            <a:r>
              <a:rPr lang="en-US" sz="1300" b="1" dirty="0">
                <a:solidFill>
                  <a:srgbClr val="2E1C9E"/>
                </a:solidFill>
              </a:rPr>
              <a:t>P</a:t>
            </a:r>
            <a:r>
              <a:rPr lang="vi-VN" sz="1300" b="1" dirty="0">
                <a:solidFill>
                  <a:srgbClr val="2E1C9E"/>
                </a:solidFill>
              </a:rPr>
              <a:t>hát hiện sớm nguy cơ NG, giảm tỉ lệ lỗi và rút ngắn thời gian phân tích nguyên nhân</a:t>
            </a:r>
          </a:p>
        </p:txBody>
      </p:sp>
      <p:pic>
        <p:nvPicPr>
          <p:cNvPr id="14" name="Picture 13">
            <a:extLst>
              <a:ext uri="{FF2B5EF4-FFF2-40B4-BE49-F238E27FC236}">
                <a16:creationId xmlns:a16="http://schemas.microsoft.com/office/drawing/2014/main" id="{8BD25362-3C7E-40B5-8565-220327B599B4}"/>
              </a:ext>
            </a:extLst>
          </p:cNvPr>
          <p:cNvPicPr>
            <a:picLocks noChangeAspect="1"/>
          </p:cNvPicPr>
          <p:nvPr/>
        </p:nvPicPr>
        <p:blipFill>
          <a:blip r:embed="rId6" cstate="print">
            <a:extLst>
              <a:ext uri="{28A0092B-C50C-407E-A947-70E740481C1C}">
                <a14:useLocalDpi xmlns:a14="http://schemas.microsoft.com/office/drawing/2010/main" val="0"/>
              </a:ext>
            </a:extLst>
          </a:blip>
          <a:srcRect/>
          <a:stretch/>
        </p:blipFill>
        <p:spPr>
          <a:xfrm>
            <a:off x="9006840" y="1783080"/>
            <a:ext cx="2743200" cy="1828800"/>
          </a:xfrm>
          <a:prstGeom prst="rect">
            <a:avLst/>
          </a:prstGeom>
        </p:spPr>
      </p:pic>
      <p:sp>
        <p:nvSpPr>
          <p:cNvPr id="16" name="Freeform: Shape 15">
            <a:extLst>
              <a:ext uri="{FF2B5EF4-FFF2-40B4-BE49-F238E27FC236}">
                <a16:creationId xmlns:a16="http://schemas.microsoft.com/office/drawing/2014/main" id="{FA2CF10B-7A59-45F5-AF7D-79408B6D1B0C}"/>
              </a:ext>
            </a:extLst>
          </p:cNvPr>
          <p:cNvSpPr/>
          <p:nvPr/>
        </p:nvSpPr>
        <p:spPr>
          <a:xfrm>
            <a:off x="11155680" y="2286000"/>
            <a:ext cx="91440" cy="91440"/>
          </a:xfrm>
          <a:custGeom>
            <a:avLst/>
            <a:gdLst>
              <a:gd name="csX0" fmla="*/ 457200 w 918056"/>
              <a:gd name="csY0" fmla="*/ 914400 h 914400"/>
              <a:gd name="csX1" fmla="*/ 0 w 918056"/>
              <a:gd name="csY1" fmla="*/ 457200 h 914400"/>
              <a:gd name="csX2" fmla="*/ 3656 w 918056"/>
              <a:gd name="csY2" fmla="*/ 457200 h 914400"/>
              <a:gd name="csX3" fmla="*/ 460856 w 918056"/>
              <a:gd name="csY3" fmla="*/ 0 h 914400"/>
              <a:gd name="csX4" fmla="*/ 918056 w 918056"/>
              <a:gd name="csY4" fmla="*/ 457200 h 914400"/>
              <a:gd name="csX5" fmla="*/ 914400 w 918056"/>
              <a:gd name="csY5" fmla="*/ 457200 h 914400"/>
              <a:gd name="csX6" fmla="*/ 457200 w 918056"/>
              <a:gd name="csY6" fmla="*/ 914400 h 9144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918056" h="914400">
                <a:moveTo>
                  <a:pt x="457200" y="914400"/>
                </a:moveTo>
                <a:cubicBezTo>
                  <a:pt x="457200" y="661895"/>
                  <a:pt x="252505" y="457200"/>
                  <a:pt x="0" y="457200"/>
                </a:cubicBezTo>
                <a:lnTo>
                  <a:pt x="3656" y="457200"/>
                </a:lnTo>
                <a:cubicBezTo>
                  <a:pt x="256161" y="457200"/>
                  <a:pt x="460856" y="252505"/>
                  <a:pt x="460856" y="0"/>
                </a:cubicBezTo>
                <a:cubicBezTo>
                  <a:pt x="460856" y="252505"/>
                  <a:pt x="665551" y="457200"/>
                  <a:pt x="918056" y="457200"/>
                </a:cubicBezTo>
                <a:lnTo>
                  <a:pt x="914400" y="457200"/>
                </a:lnTo>
                <a:cubicBezTo>
                  <a:pt x="661895" y="457200"/>
                  <a:pt x="457200" y="661895"/>
                  <a:pt x="457200" y="914400"/>
                </a:cubicBezTo>
                <a:close/>
              </a:path>
            </a:pathLst>
          </a:custGeom>
          <a:gradFill>
            <a:gsLst>
              <a:gs pos="0">
                <a:srgbClr val="0849DA"/>
              </a:gs>
              <a:gs pos="100000">
                <a:srgbClr val="7030A0"/>
              </a:gs>
            </a:gsLst>
            <a:lin ang="5400000" scaled="1"/>
          </a:gradFill>
          <a:ln w="31750" cap="rnd">
            <a:gradFill>
              <a:gsLst>
                <a:gs pos="0">
                  <a:srgbClr val="0849DA"/>
                </a:gs>
                <a:gs pos="100000">
                  <a:srgbClr val="7030A0"/>
                </a:gs>
              </a:gsLst>
              <a:lin ang="5400000" scaled="1"/>
            </a:gradFill>
            <a:round/>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300"/>
          </a:p>
        </p:txBody>
      </p:sp>
      <p:sp>
        <p:nvSpPr>
          <p:cNvPr id="18" name="Freeform: Shape 17">
            <a:extLst>
              <a:ext uri="{FF2B5EF4-FFF2-40B4-BE49-F238E27FC236}">
                <a16:creationId xmlns:a16="http://schemas.microsoft.com/office/drawing/2014/main" id="{C70B1051-BF8D-479F-8DD4-1E2D67255116}"/>
              </a:ext>
            </a:extLst>
          </p:cNvPr>
          <p:cNvSpPr/>
          <p:nvPr/>
        </p:nvSpPr>
        <p:spPr>
          <a:xfrm>
            <a:off x="11128248" y="2432304"/>
            <a:ext cx="45720" cy="45720"/>
          </a:xfrm>
          <a:custGeom>
            <a:avLst/>
            <a:gdLst>
              <a:gd name="csX0" fmla="*/ 457200 w 918056"/>
              <a:gd name="csY0" fmla="*/ 914400 h 914400"/>
              <a:gd name="csX1" fmla="*/ 0 w 918056"/>
              <a:gd name="csY1" fmla="*/ 457200 h 914400"/>
              <a:gd name="csX2" fmla="*/ 3656 w 918056"/>
              <a:gd name="csY2" fmla="*/ 457200 h 914400"/>
              <a:gd name="csX3" fmla="*/ 460856 w 918056"/>
              <a:gd name="csY3" fmla="*/ 0 h 914400"/>
              <a:gd name="csX4" fmla="*/ 918056 w 918056"/>
              <a:gd name="csY4" fmla="*/ 457200 h 914400"/>
              <a:gd name="csX5" fmla="*/ 914400 w 918056"/>
              <a:gd name="csY5" fmla="*/ 457200 h 914400"/>
              <a:gd name="csX6" fmla="*/ 457200 w 918056"/>
              <a:gd name="csY6" fmla="*/ 914400 h 9144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918056" h="914400">
                <a:moveTo>
                  <a:pt x="457200" y="914400"/>
                </a:moveTo>
                <a:cubicBezTo>
                  <a:pt x="457200" y="661895"/>
                  <a:pt x="252505" y="457200"/>
                  <a:pt x="0" y="457200"/>
                </a:cubicBezTo>
                <a:lnTo>
                  <a:pt x="3656" y="457200"/>
                </a:lnTo>
                <a:cubicBezTo>
                  <a:pt x="256161" y="457200"/>
                  <a:pt x="460856" y="252505"/>
                  <a:pt x="460856" y="0"/>
                </a:cubicBezTo>
                <a:cubicBezTo>
                  <a:pt x="460856" y="252505"/>
                  <a:pt x="665551" y="457200"/>
                  <a:pt x="918056" y="457200"/>
                </a:cubicBezTo>
                <a:lnTo>
                  <a:pt x="914400" y="457200"/>
                </a:lnTo>
                <a:cubicBezTo>
                  <a:pt x="661895" y="457200"/>
                  <a:pt x="457200" y="661895"/>
                  <a:pt x="457200" y="914400"/>
                </a:cubicBezTo>
                <a:close/>
              </a:path>
            </a:pathLst>
          </a:custGeom>
          <a:gradFill>
            <a:gsLst>
              <a:gs pos="0">
                <a:srgbClr val="0849DA">
                  <a:lumMod val="97000"/>
                </a:srgbClr>
              </a:gs>
              <a:gs pos="100000">
                <a:srgbClr val="7030A0"/>
              </a:gs>
            </a:gsLst>
            <a:lin ang="5400000" scaled="1"/>
          </a:gradFill>
          <a:ln w="15875" cap="rnd">
            <a:gradFill>
              <a:gsLst>
                <a:gs pos="0">
                  <a:srgbClr val="0849DA"/>
                </a:gs>
                <a:gs pos="100000">
                  <a:srgbClr val="7030A0"/>
                </a:gs>
              </a:gsLst>
              <a:lin ang="5400000" scaled="1"/>
            </a:gradFill>
            <a:round/>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300"/>
          </a:p>
        </p:txBody>
      </p:sp>
      <p:pic>
        <p:nvPicPr>
          <p:cNvPr id="97" name="I121">
            <a:extLst>
              <a:ext uri="{FF2B5EF4-FFF2-40B4-BE49-F238E27FC236}">
                <a16:creationId xmlns:a16="http://schemas.microsoft.com/office/drawing/2014/main" id="{2C80FE65-2CE8-42BF-996F-03951CE55208}"/>
              </a:ext>
            </a:extLst>
          </p:cNvPr>
          <p:cNvPicPr>
            <a:picLocks noChangeAspect="1"/>
          </p:cNvPicPr>
          <p:nvPr/>
        </p:nvPicPr>
        <p:blipFill>
          <a:blip r:embed="rId7"/>
          <a:stretch>
            <a:fillRect/>
          </a:stretch>
        </p:blipFill>
        <p:spPr>
          <a:xfrm>
            <a:off x="1106482" y="5500000"/>
            <a:ext cx="660000" cy="660000"/>
          </a:xfrm>
          <a:prstGeom prst="rect">
            <a:avLst/>
          </a:prstGeom>
        </p:spPr>
      </p:pic>
      <p:grpSp>
        <p:nvGrpSpPr>
          <p:cNvPr id="2" name="Group 1">
            <a:extLst>
              <a:ext uri="{FF2B5EF4-FFF2-40B4-BE49-F238E27FC236}">
                <a16:creationId xmlns:a16="http://schemas.microsoft.com/office/drawing/2014/main" id="{3B63EC5B-92BA-6E71-184A-06CF8A983504}"/>
              </a:ext>
            </a:extLst>
          </p:cNvPr>
          <p:cNvGrpSpPr/>
          <p:nvPr/>
        </p:nvGrpSpPr>
        <p:grpSpPr>
          <a:xfrm>
            <a:off x="2878176" y="102888"/>
            <a:ext cx="5890516" cy="526026"/>
            <a:chOff x="9603893" y="430511"/>
            <a:chExt cx="5890516" cy="605842"/>
          </a:xfrm>
        </p:grpSpPr>
        <p:sp>
          <p:nvSpPr>
            <p:cNvPr id="5" name="Google Shape;3112;p169">
              <a:extLst>
                <a:ext uri="{FF2B5EF4-FFF2-40B4-BE49-F238E27FC236}">
                  <a16:creationId xmlns:a16="http://schemas.microsoft.com/office/drawing/2014/main" id="{C1382C82-BD79-899E-58BF-C0E161A23B94}"/>
                </a:ext>
              </a:extLst>
            </p:cNvPr>
            <p:cNvSpPr/>
            <p:nvPr/>
          </p:nvSpPr>
          <p:spPr>
            <a:xfrm>
              <a:off x="10050805" y="457775"/>
              <a:ext cx="2983199" cy="568501"/>
            </a:xfrm>
            <a:custGeom>
              <a:avLst/>
              <a:gdLst/>
              <a:ahLst/>
              <a:cxnLst/>
              <a:rect l="l" t="t" r="r" b="b"/>
              <a:pathLst>
                <a:path w="29842" h="8403" extrusionOk="0">
                  <a:moveTo>
                    <a:pt x="1" y="1"/>
                  </a:moveTo>
                  <a:lnTo>
                    <a:pt x="6072" y="8402"/>
                  </a:lnTo>
                  <a:lnTo>
                    <a:pt x="28591" y="8402"/>
                  </a:lnTo>
                  <a:cubicBezTo>
                    <a:pt x="29280" y="8402"/>
                    <a:pt x="29842" y="7851"/>
                    <a:pt x="29842" y="7163"/>
                  </a:cubicBezTo>
                  <a:lnTo>
                    <a:pt x="29842" y="1252"/>
                  </a:lnTo>
                  <a:cubicBezTo>
                    <a:pt x="29842" y="563"/>
                    <a:pt x="29280" y="1"/>
                    <a:pt x="28591" y="1"/>
                  </a:cubicBezTo>
                  <a:close/>
                </a:path>
              </a:pathLst>
            </a:custGeom>
            <a:solidFill>
              <a:schemeClr val="bg1">
                <a:lumMod val="85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 name="Group 5">
              <a:extLst>
                <a:ext uri="{FF2B5EF4-FFF2-40B4-BE49-F238E27FC236}">
                  <a16:creationId xmlns:a16="http://schemas.microsoft.com/office/drawing/2014/main" id="{18302BCC-71F6-0163-1BF0-7422BBBE4DA3}"/>
                </a:ext>
              </a:extLst>
            </p:cNvPr>
            <p:cNvGrpSpPr/>
            <p:nvPr/>
          </p:nvGrpSpPr>
          <p:grpSpPr>
            <a:xfrm>
              <a:off x="9603893" y="430511"/>
              <a:ext cx="5890516" cy="605842"/>
              <a:chOff x="9680198" y="256226"/>
              <a:chExt cx="5767917" cy="690195"/>
            </a:xfrm>
          </p:grpSpPr>
          <p:grpSp>
            <p:nvGrpSpPr>
              <p:cNvPr id="8" name="Google Shape;3110;p169">
                <a:extLst>
                  <a:ext uri="{FF2B5EF4-FFF2-40B4-BE49-F238E27FC236}">
                    <a16:creationId xmlns:a16="http://schemas.microsoft.com/office/drawing/2014/main" id="{245C8976-FAEA-8669-5C79-2C3C09A6F8A1}"/>
                  </a:ext>
                </a:extLst>
              </p:cNvPr>
              <p:cNvGrpSpPr/>
              <p:nvPr/>
            </p:nvGrpSpPr>
            <p:grpSpPr>
              <a:xfrm>
                <a:off x="9680198" y="256226"/>
                <a:ext cx="5767917" cy="690195"/>
                <a:chOff x="3099239" y="3615343"/>
                <a:chExt cx="1651576" cy="184687"/>
              </a:xfrm>
            </p:grpSpPr>
            <p:sp>
              <p:nvSpPr>
                <p:cNvPr id="11" name="Google Shape;3111;p169">
                  <a:extLst>
                    <a:ext uri="{FF2B5EF4-FFF2-40B4-BE49-F238E27FC236}">
                      <a16:creationId xmlns:a16="http://schemas.microsoft.com/office/drawing/2014/main" id="{C88661CD-E8B0-2540-889D-CA7430EE4FD8}"/>
                    </a:ext>
                  </a:extLst>
                </p:cNvPr>
                <p:cNvSpPr/>
                <p:nvPr/>
              </p:nvSpPr>
              <p:spPr>
                <a:xfrm>
                  <a:off x="3327296" y="3788725"/>
                  <a:ext cx="22611" cy="11305"/>
                </a:xfrm>
                <a:custGeom>
                  <a:avLst/>
                  <a:gdLst/>
                  <a:ahLst/>
                  <a:cxnLst/>
                  <a:rect l="l" t="t" r="r" b="b"/>
                  <a:pathLst>
                    <a:path w="1172" h="586" extrusionOk="0">
                      <a:moveTo>
                        <a:pt x="1" y="0"/>
                      </a:moveTo>
                      <a:lnTo>
                        <a:pt x="586" y="585"/>
                      </a:lnTo>
                      <a:lnTo>
                        <a:pt x="1171" y="0"/>
                      </a:lnTo>
                      <a:close/>
                    </a:path>
                  </a:pathLst>
                </a:custGeom>
                <a:solidFill>
                  <a:srgbClr val="448C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3112;p169">
                  <a:extLst>
                    <a:ext uri="{FF2B5EF4-FFF2-40B4-BE49-F238E27FC236}">
                      <a16:creationId xmlns:a16="http://schemas.microsoft.com/office/drawing/2014/main" id="{9F88750D-24CE-3576-8474-480807075218}"/>
                    </a:ext>
                  </a:extLst>
                </p:cNvPr>
                <p:cNvSpPr/>
                <p:nvPr/>
              </p:nvSpPr>
              <p:spPr>
                <a:xfrm>
                  <a:off x="3213258" y="3626628"/>
                  <a:ext cx="799671" cy="170352"/>
                </a:xfrm>
                <a:custGeom>
                  <a:avLst/>
                  <a:gdLst/>
                  <a:ahLst/>
                  <a:cxnLst/>
                  <a:rect l="l" t="t" r="r" b="b"/>
                  <a:pathLst>
                    <a:path w="29842" h="8403" extrusionOk="0">
                      <a:moveTo>
                        <a:pt x="1" y="1"/>
                      </a:moveTo>
                      <a:lnTo>
                        <a:pt x="6072" y="8402"/>
                      </a:lnTo>
                      <a:lnTo>
                        <a:pt x="28591" y="8402"/>
                      </a:lnTo>
                      <a:cubicBezTo>
                        <a:pt x="29280" y="8402"/>
                        <a:pt x="29842" y="7851"/>
                        <a:pt x="29842" y="7163"/>
                      </a:cubicBezTo>
                      <a:lnTo>
                        <a:pt x="29842" y="1252"/>
                      </a:lnTo>
                      <a:cubicBezTo>
                        <a:pt x="29842" y="563"/>
                        <a:pt x="29280" y="1"/>
                        <a:pt x="28591" y="1"/>
                      </a:cubicBezTo>
                      <a:close/>
                    </a:path>
                  </a:pathLst>
                </a:custGeom>
                <a:solidFill>
                  <a:schemeClr val="bg1">
                    <a:lumMod val="85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3113;p169">
                  <a:extLst>
                    <a:ext uri="{FF2B5EF4-FFF2-40B4-BE49-F238E27FC236}">
                      <a16:creationId xmlns:a16="http://schemas.microsoft.com/office/drawing/2014/main" id="{F69FAE00-6A15-2CE4-9C3B-1F567E178256}"/>
                    </a:ext>
                  </a:extLst>
                </p:cNvPr>
                <p:cNvSpPr/>
                <p:nvPr/>
              </p:nvSpPr>
              <p:spPr>
                <a:xfrm>
                  <a:off x="3165220" y="3626629"/>
                  <a:ext cx="165202" cy="162115"/>
                </a:xfrm>
                <a:custGeom>
                  <a:avLst/>
                  <a:gdLst/>
                  <a:ahLst/>
                  <a:cxnLst/>
                  <a:rect l="l" t="t" r="r" b="b"/>
                  <a:pathLst>
                    <a:path w="8563" h="8403" extrusionOk="0">
                      <a:moveTo>
                        <a:pt x="0" y="1"/>
                      </a:moveTo>
                      <a:lnTo>
                        <a:pt x="8402" y="8402"/>
                      </a:lnTo>
                      <a:lnTo>
                        <a:pt x="8562" y="8402"/>
                      </a:lnTo>
                      <a:lnTo>
                        <a:pt x="2491" y="1"/>
                      </a:lnTo>
                      <a:close/>
                    </a:path>
                  </a:pathLst>
                </a:custGeom>
                <a:solidFill>
                  <a:schemeClr val="accent1">
                    <a:lumMod val="40000"/>
                    <a:lumOff val="60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3114;p169">
                  <a:extLst>
                    <a:ext uri="{FF2B5EF4-FFF2-40B4-BE49-F238E27FC236}">
                      <a16:creationId xmlns:a16="http://schemas.microsoft.com/office/drawing/2014/main" id="{B845F9B4-B60E-FD54-EB7C-0405A9D05DF2}"/>
                    </a:ext>
                  </a:extLst>
                </p:cNvPr>
                <p:cNvSpPr/>
                <p:nvPr/>
              </p:nvSpPr>
              <p:spPr>
                <a:xfrm>
                  <a:off x="3099239" y="3615343"/>
                  <a:ext cx="239381" cy="184687"/>
                </a:xfrm>
                <a:custGeom>
                  <a:avLst/>
                  <a:gdLst/>
                  <a:ahLst/>
                  <a:cxnLst/>
                  <a:rect l="l" t="t" r="r" b="b"/>
                  <a:pathLst>
                    <a:path w="12408" h="9573" extrusionOk="0">
                      <a:moveTo>
                        <a:pt x="1240" y="0"/>
                      </a:moveTo>
                      <a:cubicBezTo>
                        <a:pt x="563" y="0"/>
                        <a:pt x="0" y="551"/>
                        <a:pt x="12" y="1240"/>
                      </a:cubicBezTo>
                      <a:lnTo>
                        <a:pt x="12" y="8344"/>
                      </a:lnTo>
                      <a:cubicBezTo>
                        <a:pt x="12" y="9022"/>
                        <a:pt x="563" y="9572"/>
                        <a:pt x="1240" y="9572"/>
                      </a:cubicBezTo>
                      <a:lnTo>
                        <a:pt x="12407" y="9572"/>
                      </a:lnTo>
                      <a:lnTo>
                        <a:pt x="11822" y="8987"/>
                      </a:lnTo>
                      <a:lnTo>
                        <a:pt x="3420" y="586"/>
                      </a:lnTo>
                      <a:lnTo>
                        <a:pt x="283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3112;p169">
                  <a:extLst>
                    <a:ext uri="{FF2B5EF4-FFF2-40B4-BE49-F238E27FC236}">
                      <a16:creationId xmlns:a16="http://schemas.microsoft.com/office/drawing/2014/main" id="{D3D6B998-9A16-CC65-4533-4D8DF769D2B3}"/>
                    </a:ext>
                  </a:extLst>
                </p:cNvPr>
                <p:cNvSpPr/>
                <p:nvPr/>
              </p:nvSpPr>
              <p:spPr>
                <a:xfrm>
                  <a:off x="3229068" y="3626367"/>
                  <a:ext cx="1521747" cy="170352"/>
                </a:xfrm>
                <a:custGeom>
                  <a:avLst/>
                  <a:gdLst/>
                  <a:ahLst/>
                  <a:cxnLst/>
                  <a:rect l="l" t="t" r="r" b="b"/>
                  <a:pathLst>
                    <a:path w="29842" h="8403" extrusionOk="0">
                      <a:moveTo>
                        <a:pt x="1" y="1"/>
                      </a:moveTo>
                      <a:lnTo>
                        <a:pt x="6072" y="8402"/>
                      </a:lnTo>
                      <a:lnTo>
                        <a:pt x="28591" y="8402"/>
                      </a:lnTo>
                      <a:cubicBezTo>
                        <a:pt x="29280" y="8402"/>
                        <a:pt x="29842" y="7851"/>
                        <a:pt x="29842" y="7163"/>
                      </a:cubicBezTo>
                      <a:lnTo>
                        <a:pt x="29842" y="1252"/>
                      </a:lnTo>
                      <a:cubicBezTo>
                        <a:pt x="29842" y="563"/>
                        <a:pt x="29280" y="1"/>
                        <a:pt x="28591" y="1"/>
                      </a:cubicBezTo>
                      <a:close/>
                    </a:path>
                  </a:pathLst>
                </a:custGeom>
                <a:solidFill>
                  <a:schemeClr val="bg1">
                    <a:lumMod val="85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 name="タイトル 1">
                <a:extLst>
                  <a:ext uri="{FF2B5EF4-FFF2-40B4-BE49-F238E27FC236}">
                    <a16:creationId xmlns:a16="http://schemas.microsoft.com/office/drawing/2014/main" id="{A7A3069E-5FFD-4C4A-29B9-4E372A1A2092}"/>
                  </a:ext>
                </a:extLst>
              </p:cNvPr>
              <p:cNvSpPr txBox="1">
                <a:spLocks/>
              </p:cNvSpPr>
              <p:nvPr/>
            </p:nvSpPr>
            <p:spPr>
              <a:xfrm>
                <a:off x="10683978" y="456244"/>
                <a:ext cx="2365292" cy="297885"/>
              </a:xfrm>
              <a:prstGeom prst="rect">
                <a:avLst/>
              </a:prstGeom>
            </p:spPr>
            <p:txBody>
              <a:bodyPr vert="horz" wrap="none" lIns="0" tIns="0" rIns="0" bIns="0" rtlCol="0" anchor="ctr" anchorCtr="0">
                <a:noAutofit/>
              </a:bodyPr>
              <a:lstStyle>
                <a:lvl1pPr algn="ctr" defTabSz="914400" rtl="0" eaLnBrk="1" latinLnBrk="0" hangingPunct="1">
                  <a:lnSpc>
                    <a:spcPct val="90000"/>
                  </a:lnSpc>
                  <a:spcBef>
                    <a:spcPct val="0"/>
                  </a:spcBef>
                  <a:buNone/>
                  <a:defRPr kumimoji="1" sz="2400" b="1" kern="1200">
                    <a:solidFill>
                      <a:schemeClr val="tx1"/>
                    </a:solidFill>
                    <a:latin typeface="Times New Roman"/>
                    <a:ea typeface="Times New Roman"/>
                    <a:cs typeface="Times New Roman"/>
                  </a:defRPr>
                </a:lvl1pPr>
              </a:lstStyle>
              <a:p>
                <a:pPr algn="l"/>
                <a:r>
                  <a:rPr lang="en-US" altLang="ja-JP" dirty="0">
                    <a:latin typeface="Times New Roman" panose="02020603050405020304" pitchFamily="18" charset="0"/>
                    <a:cs typeface="Times New Roman" panose="02020603050405020304" pitchFamily="18" charset="0"/>
                  </a:rPr>
                  <a:t>AI </a:t>
                </a:r>
                <a:r>
                  <a:rPr lang="en-US" altLang="ja-JP" dirty="0" err="1">
                    <a:latin typeface="Times New Roman" panose="02020603050405020304" pitchFamily="18" charset="0"/>
                    <a:cs typeface="Times New Roman" panose="02020603050405020304" pitchFamily="18" charset="0"/>
                  </a:rPr>
                  <a:t>dự</a:t>
                </a:r>
                <a:r>
                  <a:rPr lang="en-US" altLang="ja-JP" dirty="0">
                    <a:latin typeface="Times New Roman" panose="02020603050405020304" pitchFamily="18" charset="0"/>
                    <a:cs typeface="Times New Roman" panose="02020603050405020304" pitchFamily="18" charset="0"/>
                  </a:rPr>
                  <a:t> </a:t>
                </a:r>
                <a:r>
                  <a:rPr lang="en-US" altLang="ja-JP" dirty="0" err="1">
                    <a:latin typeface="Times New Roman" panose="02020603050405020304" pitchFamily="18" charset="0"/>
                    <a:cs typeface="Times New Roman" panose="02020603050405020304" pitchFamily="18" charset="0"/>
                  </a:rPr>
                  <a:t>đoán</a:t>
                </a:r>
                <a:r>
                  <a:rPr lang="en-US" altLang="ja-JP" dirty="0">
                    <a:latin typeface="Times New Roman" panose="02020603050405020304" pitchFamily="18" charset="0"/>
                    <a:cs typeface="Times New Roman" panose="02020603050405020304" pitchFamily="18" charset="0"/>
                  </a:rPr>
                  <a:t> </a:t>
                </a:r>
                <a:r>
                  <a:rPr lang="en-US" altLang="ja-JP" dirty="0" err="1">
                    <a:latin typeface="Times New Roman" panose="02020603050405020304" pitchFamily="18" charset="0"/>
                    <a:cs typeface="Times New Roman" panose="02020603050405020304" pitchFamily="18" charset="0"/>
                  </a:rPr>
                  <a:t>và</a:t>
                </a:r>
                <a:r>
                  <a:rPr lang="en-US" altLang="ja-JP" dirty="0">
                    <a:latin typeface="Times New Roman" panose="02020603050405020304" pitchFamily="18" charset="0"/>
                    <a:cs typeface="Times New Roman" panose="02020603050405020304" pitchFamily="18" charset="0"/>
                  </a:rPr>
                  <a:t> </a:t>
                </a:r>
                <a:r>
                  <a:rPr lang="en-US" altLang="ja-JP" dirty="0" err="1">
                    <a:latin typeface="Times New Roman" panose="02020603050405020304" pitchFamily="18" charset="0"/>
                    <a:cs typeface="Times New Roman" panose="02020603050405020304" pitchFamily="18" charset="0"/>
                  </a:rPr>
                  <a:t>cảnh</a:t>
                </a:r>
                <a:r>
                  <a:rPr lang="en-US" altLang="ja-JP" dirty="0">
                    <a:latin typeface="Times New Roman" panose="02020603050405020304" pitchFamily="18" charset="0"/>
                    <a:cs typeface="Times New Roman" panose="02020603050405020304" pitchFamily="18" charset="0"/>
                  </a:rPr>
                  <a:t> </a:t>
                </a:r>
                <a:r>
                  <a:rPr lang="en-US" altLang="ja-JP" dirty="0" err="1">
                    <a:latin typeface="Times New Roman" panose="02020603050405020304" pitchFamily="18" charset="0"/>
                    <a:cs typeface="Times New Roman" panose="02020603050405020304" pitchFamily="18" charset="0"/>
                  </a:rPr>
                  <a:t>báo</a:t>
                </a:r>
                <a:r>
                  <a:rPr lang="en-US" altLang="ja-JP" dirty="0">
                    <a:latin typeface="Times New Roman" panose="02020603050405020304" pitchFamily="18" charset="0"/>
                    <a:cs typeface="Times New Roman" panose="02020603050405020304" pitchFamily="18" charset="0"/>
                  </a:rPr>
                  <a:t> </a:t>
                </a:r>
                <a:r>
                  <a:rPr lang="en-US" altLang="ja-JP" dirty="0" err="1">
                    <a:latin typeface="Times New Roman" panose="02020603050405020304" pitchFamily="18" charset="0"/>
                    <a:cs typeface="Times New Roman" panose="02020603050405020304" pitchFamily="18" charset="0"/>
                  </a:rPr>
                  <a:t>lỗi</a:t>
                </a:r>
                <a:endParaRPr lang="en-US" altLang="ja-JP" dirty="0">
                  <a:latin typeface="Times New Roman" panose="02020603050405020304" pitchFamily="18" charset="0"/>
                  <a:cs typeface="Times New Roman" panose="02020603050405020304" pitchFamily="18" charset="0"/>
                </a:endParaRPr>
              </a:p>
            </p:txBody>
          </p:sp>
          <p:sp>
            <p:nvSpPr>
              <p:cNvPr id="10" name="タイトル 1">
                <a:extLst>
                  <a:ext uri="{FF2B5EF4-FFF2-40B4-BE49-F238E27FC236}">
                    <a16:creationId xmlns:a16="http://schemas.microsoft.com/office/drawing/2014/main" id="{09AF4F44-5540-730A-E49D-64FAA5D27820}"/>
                  </a:ext>
                </a:extLst>
              </p:cNvPr>
              <p:cNvSpPr txBox="1">
                <a:spLocks/>
              </p:cNvSpPr>
              <p:nvPr/>
            </p:nvSpPr>
            <p:spPr>
              <a:xfrm>
                <a:off x="9839575" y="531261"/>
                <a:ext cx="2365292" cy="297885"/>
              </a:xfrm>
              <a:prstGeom prst="rect">
                <a:avLst/>
              </a:prstGeom>
            </p:spPr>
            <p:txBody>
              <a:bodyPr vert="horz" wrap="none" lIns="0" tIns="0" rIns="0" bIns="0" rtlCol="0" anchor="ctr" anchorCtr="0">
                <a:noAutofit/>
              </a:bodyPr>
              <a:lstStyle>
                <a:lvl1pPr algn="ctr" defTabSz="914400" rtl="0" eaLnBrk="1" latinLnBrk="0" hangingPunct="1">
                  <a:lnSpc>
                    <a:spcPct val="90000"/>
                  </a:lnSpc>
                  <a:spcBef>
                    <a:spcPct val="0"/>
                  </a:spcBef>
                  <a:buNone/>
                  <a:defRPr kumimoji="1" sz="2400" b="1" kern="1200">
                    <a:solidFill>
                      <a:schemeClr val="tx1"/>
                    </a:solidFill>
                    <a:latin typeface="Times New Roman"/>
                    <a:ea typeface="Times New Roman"/>
                    <a:cs typeface="Times New Roman"/>
                  </a:defRPr>
                </a:lvl1pPr>
              </a:lstStyle>
              <a:p>
                <a:pPr algn="l"/>
                <a:endParaRPr lang="ja-JP" altLang="en-US" dirty="0">
                  <a:latin typeface="Times New Roman" panose="020F0502020204030204" pitchFamily="34" charset="0"/>
                  <a:cs typeface="Times New Roman" panose="020F0502020204030204" pitchFamily="34" charset="0"/>
                </a:endParaRPr>
              </a:p>
            </p:txBody>
          </p:sp>
        </p:grpSp>
      </p:grpSp>
      <p:sp>
        <p:nvSpPr>
          <p:cNvPr id="140" name="N3"/>
          <p:cNvSpPr/>
          <p:nvPr/>
        </p:nvSpPr>
        <p:spPr>
          <a:xfrm>
            <a:off x="9464040" y="4526280"/>
            <a:ext cx="128016" cy="128016"/>
          </a:xfrm>
          <a:prstGeom prst="ellipse">
            <a:avLst/>
          </a:prstGeom>
          <a:solidFill>
            <a:srgbClr val="2E1C9E"/>
          </a:solidFill>
          <a:ln w="19050">
            <a:solidFill>
              <a:srgbClr val="FFFFFF"/>
            </a:solidFill>
          </a:ln>
        </p:spPr>
        <p:txBody>
          <a:bodyPr/>
          <a:lstStyle/>
          <a:p>
            <a:endParaRPr lang="vi-VN"/>
          </a:p>
        </p:txBody>
      </p:sp>
    </p:spTree>
  </p:cSld>
  <p:clrMapOvr>
    <a:masterClrMapping/>
  </p:clrMapOvr>
</p:sld>
</file>

<file path=ppt/theme/theme1.xml><?xml version="1.0" encoding="utf-8"?>
<a:theme xmlns:a="http://schemas.openxmlformats.org/drawingml/2006/main" name="Kyocera">
  <a:themeElements>
    <a:clrScheme name="Saffron(Branding)">
      <a:dk1>
        <a:sysClr val="windowText" lastClr="000000"/>
      </a:dk1>
      <a:lt1>
        <a:sysClr val="window" lastClr="FFFFFF"/>
      </a:lt1>
      <a:dk2>
        <a:srgbClr val="282828"/>
      </a:dk2>
      <a:lt2>
        <a:srgbClr val="F2F2F2"/>
      </a:lt2>
      <a:accent1>
        <a:srgbClr val="6E3CBE"/>
      </a:accent1>
      <a:accent2>
        <a:srgbClr val="F5B400"/>
      </a:accent2>
      <a:accent3>
        <a:srgbClr val="0A9BCD"/>
      </a:accent3>
      <a:accent4>
        <a:srgbClr val="F06400"/>
      </a:accent4>
      <a:accent5>
        <a:srgbClr val="26AF72"/>
      </a:accent5>
      <a:accent6>
        <a:srgbClr val="A9A9A9"/>
      </a:accent6>
      <a:hlink>
        <a:srgbClr val="0563C1"/>
      </a:hlink>
      <a:folHlink>
        <a:srgbClr val="954F72"/>
      </a:folHlink>
    </a:clrScheme>
    <a:fontScheme name="Meiryo UI">
      <a:majorFont>
        <a:latin typeface="Meiryo UI"/>
        <a:ea typeface="Meiryo UI"/>
        <a:cs typeface=""/>
      </a:majorFont>
      <a:minorFont>
        <a:latin typeface="Meiryo UI"/>
        <a:ea typeface="Meiryo UI"/>
        <a:cs typeface=""/>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Kyocera_PPT_Template_KDC(MeiryoUI)4x3_201904.potx" id="{F7824327-EC3B-4A60-8311-B051A00F6AFE}" vid="{6D7B0D19-6042-4B58-9131-C9BAC69EA51B}"/>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d296099c-366c-42e5-ad7d-e6f4e7c5509d">
      <Terms xmlns="http://schemas.microsoft.com/office/infopath/2007/PartnerControls"/>
    </lcf76f155ced4ddcb4097134ff3c332f>
    <TaxCatchAll xmlns="96fced89-2dba-4df6-b49a-30355bbfe480"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ドキュメント" ma:contentTypeID="0x010100B4B3B53C809E984D9893A65D7F513071" ma:contentTypeVersion="15" ma:contentTypeDescription="新しいドキュメントを作成します。" ma:contentTypeScope="" ma:versionID="20e7d137bd346128a9686e4a1c765efb">
  <xsd:schema xmlns:xsd="http://www.w3.org/2001/XMLSchema" xmlns:xs="http://www.w3.org/2001/XMLSchema" xmlns:p="http://schemas.microsoft.com/office/2006/metadata/properties" xmlns:ns2="d296099c-366c-42e5-ad7d-e6f4e7c5509d" xmlns:ns3="96fced89-2dba-4df6-b49a-30355bbfe480" targetNamespace="http://schemas.microsoft.com/office/2006/metadata/properties" ma:root="true" ma:fieldsID="19633505b6b86e5d94ea775e766d7130" ns2:_="" ns3:_="">
    <xsd:import namespace="d296099c-366c-42e5-ad7d-e6f4e7c5509d"/>
    <xsd:import namespace="96fced89-2dba-4df6-b49a-30355bbfe480"/>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3:SharedWithUsers" minOccurs="0"/>
                <xsd:element ref="ns3:SharedWithDetails" minOccurs="0"/>
                <xsd:element ref="ns2:MediaServiceDateTaken" minOccurs="0"/>
                <xsd:element ref="ns2:MediaLengthInSecond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SearchPropertie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296099c-366c-42e5-ad7d-e6f4e7c5509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DateTaken" ma:index="13" nillable="true" ma:displayName="MediaServiceDateTaken" ma:hidden="true" ma:indexed="true" ma:internalName="MediaServiceDateTaken"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element name="lcf76f155ced4ddcb4097134ff3c332f" ma:index="16" nillable="true" ma:taxonomy="true" ma:internalName="lcf76f155ced4ddcb4097134ff3c332f" ma:taxonomyFieldName="MediaServiceImageTags" ma:displayName="画像タグ" ma:readOnly="false" ma:fieldId="{5cf76f15-5ced-4ddc-b409-7134ff3c332f}" ma:taxonomyMulti="true" ma:sspId="bdc7e581-dc3f-4937-89c0-8a736cf467b1"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SearchProperties" ma:index="21" nillable="true" ma:displayName="MediaServiceSearchProperties" ma:hidden="true" ma:internalName="MediaServiceSearchProperties" ma:readOnly="true">
      <xsd:simpleType>
        <xsd:restriction base="dms:Note"/>
      </xsd:simpleType>
    </xsd:element>
    <xsd:element name="MediaServiceLocation" ma:index="22"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6fced89-2dba-4df6-b49a-30355bbfe480" elementFormDefault="qualified">
    <xsd:import namespace="http://schemas.microsoft.com/office/2006/documentManagement/types"/>
    <xsd:import namespace="http://schemas.microsoft.com/office/infopath/2007/PartnerControls"/>
    <xsd:element name="SharedWithUsers" ma:index="11" nillable="true" ma:displayName="共有相手"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共有相手の詳細情報" ma:internalName="SharedWithDetails" ma:readOnly="true">
      <xsd:simpleType>
        <xsd:restriction base="dms:Note">
          <xsd:maxLength value="255"/>
        </xsd:restriction>
      </xsd:simpleType>
    </xsd:element>
    <xsd:element name="TaxCatchAll" ma:index="17" nillable="true" ma:displayName="Taxonomy Catch All Column" ma:hidden="true" ma:list="{829c53cb-777f-4ecd-9f3c-46d6abafad1f}" ma:internalName="TaxCatchAll" ma:showField="CatchAllData" ma:web="96fced89-2dba-4df6-b49a-30355bbfe48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8E8814D-B370-44EF-8BA8-DEB5221437A1}">
  <ds:schemaRefs>
    <ds:schemaRef ds:uri="http://schemas.microsoft.com/office/2006/documentManagement/types"/>
    <ds:schemaRef ds:uri="http://schemas.microsoft.com/office/2006/metadata/properties"/>
    <ds:schemaRef ds:uri="http://purl.org/dc/dcmitype/"/>
    <ds:schemaRef ds:uri="a09aaaa2-c26f-494a-8b71-5441127fa977"/>
    <ds:schemaRef ds:uri="http://purl.org/dc/terms/"/>
    <ds:schemaRef ds:uri="http://www.w3.org/XML/1998/namespace"/>
    <ds:schemaRef ds:uri="http://schemas.microsoft.com/office/infopath/2007/PartnerControls"/>
    <ds:schemaRef ds:uri="http://schemas.openxmlformats.org/package/2006/metadata/core-properties"/>
    <ds:schemaRef ds:uri="8f2f9b4d-1475-4024-b32b-c0bca1a49664"/>
    <ds:schemaRef ds:uri="http://purl.org/dc/elements/1.1/"/>
    <ds:schemaRef ds:uri="d296099c-366c-42e5-ad7d-e6f4e7c5509d"/>
    <ds:schemaRef ds:uri="96fced89-2dba-4df6-b49a-30355bbfe480"/>
  </ds:schemaRefs>
</ds:datastoreItem>
</file>

<file path=customXml/itemProps2.xml><?xml version="1.0" encoding="utf-8"?>
<ds:datastoreItem xmlns:ds="http://schemas.openxmlformats.org/officeDocument/2006/customXml" ds:itemID="{6DD3D008-3E51-4FD4-A566-4E24AFFD36AB}">
  <ds:schemaRefs>
    <ds:schemaRef ds:uri="http://schemas.microsoft.com/sharepoint/v3/contenttype/forms"/>
  </ds:schemaRefs>
</ds:datastoreItem>
</file>

<file path=customXml/itemProps3.xml><?xml version="1.0" encoding="utf-8"?>
<ds:datastoreItem xmlns:ds="http://schemas.openxmlformats.org/officeDocument/2006/customXml" ds:itemID="{3FA1CF16-C3CD-4A4A-943C-AB929DDD62B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296099c-366c-42e5-ad7d-e6f4e7c5509d"/>
    <ds:schemaRef ds:uri="96fced89-2dba-4df6-b49a-30355bbfe48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Kyocera_PPT_Template_KDC(MeiryoUI)4x3_201904</Template>
  <TotalTime>2197</TotalTime>
  <Words>971</Words>
  <Application>Microsoft Office PowerPoint</Application>
  <PresentationFormat>Widescreen</PresentationFormat>
  <Paragraphs>73</Paragraphs>
  <Slides>5</Slides>
  <Notes>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vt:i4>
      </vt:variant>
    </vt:vector>
  </HeadingPairs>
  <TitlesOfParts>
    <vt:vector size="10" baseType="lpstr">
      <vt:lpstr>Meiryo UI</vt:lpstr>
      <vt:lpstr>游ゴシック</vt:lpstr>
      <vt:lpstr>Arial</vt:lpstr>
      <vt:lpstr>Times New Roman</vt:lpstr>
      <vt:lpstr>Kyocera</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Eguchi，Yuko(江口優子)</dc:creator>
  <cp:lastModifiedBy>Mai Cao Cường(Mai Cao Cuong)</cp:lastModifiedBy>
  <cp:revision>67</cp:revision>
  <cp:lastPrinted>2026-01-07T00:51:13Z</cp:lastPrinted>
  <dcterms:created xsi:type="dcterms:W3CDTF">2019-04-25T02:35:23Z</dcterms:created>
  <dcterms:modified xsi:type="dcterms:W3CDTF">2026-09-04T01:00:43Z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0x010100B4B3B53C809E984D9893A65D7F513071</vt:lpwstr>
  </property>
  <property fmtid="{D5CDD505-2E9C-101B-9397-08002B2CF9AE}" pid="3" name="MediaServiceImageTags">
    <vt:lpwstr/>
  </property>
  <property fmtid="{D5CDD505-2E9C-101B-9397-08002B2CF9AE}" pid="4" name="Order">
    <vt:lpwstr>9500.00000000000</vt:lpwstr>
  </property>
  <property fmtid="{D5CDD505-2E9C-101B-9397-08002B2CF9AE}" pid="5" name="xd_ProgID">
    <vt:lpwstr/>
  </property>
  <property fmtid="{D5CDD505-2E9C-101B-9397-08002B2CF9AE}" pid="6" name="ComplianceAssetId">
    <vt:lpwstr/>
  </property>
  <property fmtid="{D5CDD505-2E9C-101B-9397-08002B2CF9AE}" pid="7" name="TemplateUrl">
    <vt:lpwstr/>
  </property>
  <property fmtid="{D5CDD505-2E9C-101B-9397-08002B2CF9AE}" pid="8" name="_ExtendedDescription">
    <vt:lpwstr/>
  </property>
  <property fmtid="{D5CDD505-2E9C-101B-9397-08002B2CF9AE}" pid="9" name="TriggerFlowInfo">
    <vt:lpwstr/>
  </property>
  <property fmtid="{D5CDD505-2E9C-101B-9397-08002B2CF9AE}" pid="10" name="xd_Signature">
    <vt:lpwstr/>
  </property>
</Properties>
</file>