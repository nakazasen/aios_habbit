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handoutMasterIdLst>
    <p:handoutMasterId r:id="rId13"/>
  </p:handoutMasterIdLst>
  <p:sldIdLst>
    <p:sldId id="2147482478" r:id="rId5"/>
    <p:sldId id="2147482514" r:id="rId6"/>
    <p:sldId id="2147482512" r:id="rId7"/>
    <p:sldId id="2147482515" r:id="rId8"/>
    <p:sldId id="2147482519" r:id="rId9"/>
    <p:sldId id="2147482517" r:id="rId10"/>
    <p:sldId id="2147482518" r:id="rId11"/>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32" userDrawn="1">
          <p15:clr>
            <a:srgbClr val="A4A3A4"/>
          </p15:clr>
        </p15:guide>
        <p15:guide id="4" pos="7348" userDrawn="1">
          <p15:clr>
            <a:srgbClr val="A4A3A4"/>
          </p15:clr>
        </p15:guide>
        <p15:guide id="5" orient="horz" pos="459" userDrawn="1">
          <p15:clr>
            <a:srgbClr val="A4A3A4"/>
          </p15:clr>
        </p15:guide>
        <p15:guide id="6" orient="horz" pos="3997" userDrawn="1">
          <p15:clr>
            <a:srgbClr val="A4A3A4"/>
          </p15:clr>
        </p15:guide>
        <p15:guide id="7"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9519926-7414-C0ED-4314-9A45927821CE}" name="Oguri，Satoshi(小栗智)" initials="智小" userId="S::satoshi.oguri@dc.kyocera.com::989292a4-bab0-47ca-8783-2a8d4863b59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C9EF"/>
    <a:srgbClr val="7FD9F9"/>
    <a:srgbClr val="F0FBFE"/>
    <a:srgbClr val="EAAD00"/>
    <a:srgbClr val="FFF5EF"/>
    <a:srgbClr val="FFFAF7"/>
    <a:srgbClr val="FFF0E5"/>
    <a:srgbClr val="E8F9FE"/>
    <a:srgbClr val="E3F9EF"/>
    <a:srgbClr val="FFDE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29" autoAdjust="0"/>
    <p:restoredTop sz="92373" autoAdjust="0"/>
  </p:normalViewPr>
  <p:slideViewPr>
    <p:cSldViewPr snapToGrid="0">
      <p:cViewPr varScale="1">
        <p:scale>
          <a:sx n="69" d="100"/>
          <a:sy n="69" d="100"/>
        </p:scale>
        <p:origin x="936" y="48"/>
      </p:cViewPr>
      <p:guideLst>
        <p:guide orient="horz" pos="2160"/>
        <p:guide pos="332"/>
        <p:guide pos="7348"/>
        <p:guide orient="horz" pos="459"/>
        <p:guide orient="horz" pos="3997"/>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fstvn01\Data\10_Production%20Engineering%20Department(&#35069;&#36896;&#25216;&#34899;&#37096;)\02.&#35069;&#36896;&#25216;&#34899;&#35506;\PE%20Dept\10.%20KE%20HO&#7840;CH%20MUC%20TIEU%20HANG%20THANG-&#21697;&#36074;&#30446;&#27161;&#31649;&#29702;\QCC%20KTCT\FY2027\QCC%20nh&#243;m%202\D&#7919;%20li&#7879;u\N&#7855;m%20b&#7855;t%20hi&#7879;n%20tr&#7841;ng\C&#417;\Danh%20s&#225;ch%20JIG%20t&#7921;%20&#273;&#7897;ng%20s&#7869;%20l&#7845;y%20d&#7919;%20li&#7879;u.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3" Type="http://schemas.openxmlformats.org/officeDocument/2006/relationships/oleObject" Target="file:///\\fstvn01\Data\10_Production%20Engineering%20Department(&#35069;&#36896;&#25216;&#34899;&#37096;)\02.&#35069;&#36896;&#25216;&#34899;&#35506;\PE%20Dept\10.%20KE%20HO&#7840;CH%20MUC%20TIEU%20HANG%20THANG-&#21697;&#36074;&#30446;&#27161;&#31649;&#29702;\QCC%20KTCT\FY2027\QCC%20nh&#243;m%202\D&#7919;%20li&#7879;u\N&#7855;m%20b&#7855;t%20hi&#7879;n%20tr&#7841;ng\C&#417;\Danh%20s&#225;ch%20JIG%20t&#7921;%20&#273;&#7897;ng%20s&#7869;%20l&#7845;y%20d&#7919;%20li&#7879;u.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v>Libra</c:v>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'Tổng hợp NG BEAM'!$I$4:$M$4</c:f>
              <c:numCache>
                <c:formatCode>mm/yyyy</c:formatCode>
                <c:ptCount val="5"/>
                <c:pt idx="0">
                  <c:v>45962</c:v>
                </c:pt>
                <c:pt idx="1">
                  <c:v>45992</c:v>
                </c:pt>
                <c:pt idx="2">
                  <c:v>46023</c:v>
                </c:pt>
                <c:pt idx="3">
                  <c:v>46054</c:v>
                </c:pt>
                <c:pt idx="4">
                  <c:v>46082</c:v>
                </c:pt>
              </c:numCache>
            </c:numRef>
          </c:cat>
          <c:val>
            <c:numRef>
              <c:f>'Tổng hợp NG BEAM'!$I$5:$M$5</c:f>
              <c:numCache>
                <c:formatCode>0.00%</c:formatCode>
                <c:ptCount val="5"/>
                <c:pt idx="0">
                  <c:v>4.6427552088288464E-2</c:v>
                </c:pt>
                <c:pt idx="1">
                  <c:v>2.2635456273764256E-2</c:v>
                </c:pt>
                <c:pt idx="2">
                  <c:v>2.7374246467042194E-2</c:v>
                </c:pt>
                <c:pt idx="3">
                  <c:v>3.0958507558700547E-2</c:v>
                </c:pt>
                <c:pt idx="4">
                  <c:v>1.9107981220657277E-2</c:v>
                </c:pt>
              </c:numCache>
            </c:numRef>
          </c:val>
          <c:smooth val="0"/>
          <c:extLst>
            <c:ext xmlns:c16="http://schemas.microsoft.com/office/drawing/2014/chart" uri="{C3380CC4-5D6E-409C-BE32-E72D297353CC}">
              <c16:uniqueId val="{00000000-B4E6-43D5-92DF-2A41B7002555}"/>
            </c:ext>
          </c:extLst>
        </c:ser>
        <c:ser>
          <c:idx val="1"/>
          <c:order val="1"/>
          <c:tx>
            <c:v>A3</c:v>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'Tổng hợp NG BEAM'!$I$4:$M$4</c:f>
              <c:numCache>
                <c:formatCode>mm/yyyy</c:formatCode>
                <c:ptCount val="5"/>
                <c:pt idx="0">
                  <c:v>45962</c:v>
                </c:pt>
                <c:pt idx="1">
                  <c:v>45992</c:v>
                </c:pt>
                <c:pt idx="2">
                  <c:v>46023</c:v>
                </c:pt>
                <c:pt idx="3">
                  <c:v>46054</c:v>
                </c:pt>
                <c:pt idx="4">
                  <c:v>46082</c:v>
                </c:pt>
              </c:numCache>
            </c:numRef>
          </c:cat>
          <c:val>
            <c:numRef>
              <c:f>'Tổng hợp NG BEAM'!$I$6:$M$6</c:f>
              <c:numCache>
                <c:formatCode>0.00%</c:formatCode>
                <c:ptCount val="5"/>
                <c:pt idx="0">
                  <c:v>0.13028668748225944</c:v>
                </c:pt>
                <c:pt idx="1">
                  <c:v>0.10486257928118393</c:v>
                </c:pt>
                <c:pt idx="2">
                  <c:v>0.12824207492795389</c:v>
                </c:pt>
                <c:pt idx="3">
                  <c:v>0.1096579476861167</c:v>
                </c:pt>
                <c:pt idx="4">
                  <c:v>0.1216714461286358</c:v>
                </c:pt>
              </c:numCache>
            </c:numRef>
          </c:val>
          <c:smooth val="0"/>
          <c:extLst>
            <c:ext xmlns:c16="http://schemas.microsoft.com/office/drawing/2014/chart" uri="{C3380CC4-5D6E-409C-BE32-E72D297353CC}">
              <c16:uniqueId val="{00000001-B4E6-43D5-92DF-2A41B7002555}"/>
            </c:ext>
          </c:extLst>
        </c:ser>
        <c:ser>
          <c:idx val="2"/>
          <c:order val="2"/>
          <c:tx>
            <c:v>Iris_Jig Beam_4Beam</c:v>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'Tổng hợp NG BEAM'!$I$4:$M$4</c:f>
              <c:numCache>
                <c:formatCode>mm/yyyy</c:formatCode>
                <c:ptCount val="5"/>
                <c:pt idx="0">
                  <c:v>45962</c:v>
                </c:pt>
                <c:pt idx="1">
                  <c:v>45992</c:v>
                </c:pt>
                <c:pt idx="2">
                  <c:v>46023</c:v>
                </c:pt>
                <c:pt idx="3">
                  <c:v>46054</c:v>
                </c:pt>
                <c:pt idx="4">
                  <c:v>46082</c:v>
                </c:pt>
              </c:numCache>
            </c:numRef>
          </c:cat>
          <c:val>
            <c:numRef>
              <c:f>'Tổng hợp NG BEAM'!$I$7:$M$7</c:f>
              <c:numCache>
                <c:formatCode>0.00%</c:formatCode>
                <c:ptCount val="5"/>
                <c:pt idx="0">
                  <c:v>0.10464406780766444</c:v>
                </c:pt>
                <c:pt idx="1">
                  <c:v>5.6174242154336806E-2</c:v>
                </c:pt>
                <c:pt idx="2">
                  <c:v>9.3648553503335383E-2</c:v>
                </c:pt>
                <c:pt idx="3">
                  <c:v>0.24426632707907234</c:v>
                </c:pt>
                <c:pt idx="4">
                  <c:v>0.20560897619197191</c:v>
                </c:pt>
              </c:numCache>
            </c:numRef>
          </c:val>
          <c:smooth val="0"/>
          <c:extLst>
            <c:ext xmlns:c16="http://schemas.microsoft.com/office/drawing/2014/chart" uri="{C3380CC4-5D6E-409C-BE32-E72D297353CC}">
              <c16:uniqueId val="{00000002-B4E6-43D5-92DF-2A41B7002555}"/>
            </c:ext>
          </c:extLst>
        </c:ser>
        <c:ser>
          <c:idx val="3"/>
          <c:order val="3"/>
          <c:tx>
            <c:v>Iris_Jig Beam_2Beam</c:v>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'Tổng hợp NG BEAM'!$I$4:$M$4</c:f>
              <c:numCache>
                <c:formatCode>mm/yyyy</c:formatCode>
                <c:ptCount val="5"/>
                <c:pt idx="0">
                  <c:v>45962</c:v>
                </c:pt>
                <c:pt idx="1">
                  <c:v>45992</c:v>
                </c:pt>
                <c:pt idx="2">
                  <c:v>46023</c:v>
                </c:pt>
                <c:pt idx="3">
                  <c:v>46054</c:v>
                </c:pt>
                <c:pt idx="4">
                  <c:v>46082</c:v>
                </c:pt>
              </c:numCache>
            </c:numRef>
          </c:cat>
          <c:val>
            <c:numRef>
              <c:f>'Tổng hợp NG BEAM'!$I$8:$M$8</c:f>
              <c:numCache>
                <c:formatCode>0.00%</c:formatCode>
                <c:ptCount val="5"/>
                <c:pt idx="0">
                  <c:v>3.2410455567646268E-2</c:v>
                </c:pt>
                <c:pt idx="1">
                  <c:v>2.8398272440896374E-2</c:v>
                </c:pt>
                <c:pt idx="2">
                  <c:v>2.1257727308343657E-2</c:v>
                </c:pt>
                <c:pt idx="3">
                  <c:v>2.9081600335597396E-2</c:v>
                </c:pt>
                <c:pt idx="4">
                  <c:v>3.8554579465723847E-2</c:v>
                </c:pt>
              </c:numCache>
            </c:numRef>
          </c:val>
          <c:smooth val="0"/>
          <c:extLst>
            <c:ext xmlns:c16="http://schemas.microsoft.com/office/drawing/2014/chart" uri="{C3380CC4-5D6E-409C-BE32-E72D297353CC}">
              <c16:uniqueId val="{00000003-B4E6-43D5-92DF-2A41B7002555}"/>
            </c:ext>
          </c:extLst>
        </c:ser>
        <c:ser>
          <c:idx val="4"/>
          <c:order val="4"/>
          <c:tx>
            <c:v>Iris_Jig Bowskew_4Beam</c:v>
          </c:tx>
          <c:spPr>
            <a:ln w="28575" cap="rnd">
              <a:solidFill>
                <a:schemeClr val="accent5"/>
              </a:solidFill>
              <a:round/>
            </a:ln>
            <a:effectLst/>
          </c:spPr>
          <c:marker>
            <c:symbol val="circle"/>
            <c:size val="5"/>
            <c:spPr>
              <a:solidFill>
                <a:schemeClr val="accent5"/>
              </a:solidFill>
              <a:ln w="9525">
                <a:solidFill>
                  <a:schemeClr val="accent5"/>
                </a:solidFill>
              </a:ln>
              <a:effectLst/>
            </c:spPr>
          </c:marker>
          <c:cat>
            <c:numRef>
              <c:f>'Tổng hợp NG BEAM'!$I$4:$M$4</c:f>
              <c:numCache>
                <c:formatCode>mm/yyyy</c:formatCode>
                <c:ptCount val="5"/>
                <c:pt idx="0">
                  <c:v>45962</c:v>
                </c:pt>
                <c:pt idx="1">
                  <c:v>45992</c:v>
                </c:pt>
                <c:pt idx="2">
                  <c:v>46023</c:v>
                </c:pt>
                <c:pt idx="3">
                  <c:v>46054</c:v>
                </c:pt>
                <c:pt idx="4">
                  <c:v>46082</c:v>
                </c:pt>
              </c:numCache>
            </c:numRef>
          </c:cat>
          <c:val>
            <c:numRef>
              <c:f>'Tổng hợp NG BEAM'!$I$9:$M$9</c:f>
              <c:numCache>
                <c:formatCode>0.00%</c:formatCode>
                <c:ptCount val="5"/>
                <c:pt idx="0">
                  <c:v>0.25421867047169933</c:v>
                </c:pt>
                <c:pt idx="1">
                  <c:v>0.31814345991561183</c:v>
                </c:pt>
                <c:pt idx="2">
                  <c:v>0.2869772667572556</c:v>
                </c:pt>
                <c:pt idx="3">
                  <c:v>0.33257893106735809</c:v>
                </c:pt>
                <c:pt idx="4">
                  <c:v>0.49485813556542285</c:v>
                </c:pt>
              </c:numCache>
            </c:numRef>
          </c:val>
          <c:smooth val="0"/>
          <c:extLst>
            <c:ext xmlns:c16="http://schemas.microsoft.com/office/drawing/2014/chart" uri="{C3380CC4-5D6E-409C-BE32-E72D297353CC}">
              <c16:uniqueId val="{00000004-B4E6-43D5-92DF-2A41B7002555}"/>
            </c:ext>
          </c:extLst>
        </c:ser>
        <c:ser>
          <c:idx val="5"/>
          <c:order val="5"/>
          <c:tx>
            <c:v>Iris_Jig Bowskew_2Beam</c:v>
          </c:tx>
          <c:spPr>
            <a:ln w="28575" cap="rnd">
              <a:solidFill>
                <a:schemeClr val="accent6"/>
              </a:solidFill>
              <a:round/>
            </a:ln>
            <a:effectLst/>
          </c:spPr>
          <c:marker>
            <c:symbol val="circle"/>
            <c:size val="5"/>
            <c:spPr>
              <a:solidFill>
                <a:schemeClr val="accent6"/>
              </a:solidFill>
              <a:ln w="9525">
                <a:solidFill>
                  <a:schemeClr val="accent6"/>
                </a:solidFill>
              </a:ln>
              <a:effectLst/>
            </c:spPr>
          </c:marker>
          <c:cat>
            <c:numRef>
              <c:f>'Tổng hợp NG BEAM'!$I$4:$M$4</c:f>
              <c:numCache>
                <c:formatCode>mm/yyyy</c:formatCode>
                <c:ptCount val="5"/>
                <c:pt idx="0">
                  <c:v>45962</c:v>
                </c:pt>
                <c:pt idx="1">
                  <c:v>45992</c:v>
                </c:pt>
                <c:pt idx="2">
                  <c:v>46023</c:v>
                </c:pt>
                <c:pt idx="3">
                  <c:v>46054</c:v>
                </c:pt>
                <c:pt idx="4">
                  <c:v>46082</c:v>
                </c:pt>
              </c:numCache>
            </c:numRef>
          </c:cat>
          <c:val>
            <c:numRef>
              <c:f>'Tổng hợp NG BEAM'!$I$10:$M$10</c:f>
              <c:numCache>
                <c:formatCode>0.00%</c:formatCode>
                <c:ptCount val="5"/>
                <c:pt idx="0">
                  <c:v>0.1458092647874763</c:v>
                </c:pt>
                <c:pt idx="1">
                  <c:v>0.15290959066067744</c:v>
                </c:pt>
                <c:pt idx="2">
                  <c:v>0.22100141870728132</c:v>
                </c:pt>
                <c:pt idx="3">
                  <c:v>0.22018448182311451</c:v>
                </c:pt>
                <c:pt idx="4">
                  <c:v>0.25042131872761741</c:v>
                </c:pt>
              </c:numCache>
            </c:numRef>
          </c:val>
          <c:smooth val="0"/>
          <c:extLst>
            <c:ext xmlns:c16="http://schemas.microsoft.com/office/drawing/2014/chart" uri="{C3380CC4-5D6E-409C-BE32-E72D297353CC}">
              <c16:uniqueId val="{00000005-B4E6-43D5-92DF-2A41B7002555}"/>
            </c:ext>
          </c:extLst>
        </c:ser>
        <c:ser>
          <c:idx val="6"/>
          <c:order val="6"/>
          <c:tx>
            <c:v>Sirius 2</c:v>
          </c:tx>
          <c:spPr>
            <a:ln w="28575" cap="rnd">
              <a:solidFill>
                <a:schemeClr val="accent1">
                  <a:lumMod val="60000"/>
                </a:schemeClr>
              </a:solidFill>
              <a:round/>
            </a:ln>
            <a:effectLst/>
          </c:spPr>
          <c:marker>
            <c:symbol val="circle"/>
            <c:size val="5"/>
            <c:spPr>
              <a:solidFill>
                <a:schemeClr val="accent1">
                  <a:lumMod val="60000"/>
                </a:schemeClr>
              </a:solidFill>
              <a:ln w="9525">
                <a:solidFill>
                  <a:schemeClr val="accent1">
                    <a:lumMod val="60000"/>
                  </a:schemeClr>
                </a:solidFill>
              </a:ln>
              <a:effectLst/>
            </c:spPr>
          </c:marker>
          <c:cat>
            <c:numRef>
              <c:f>'Tổng hợp NG BEAM'!$I$4:$M$4</c:f>
              <c:numCache>
                <c:formatCode>mm/yyyy</c:formatCode>
                <c:ptCount val="5"/>
                <c:pt idx="0">
                  <c:v>45962</c:v>
                </c:pt>
                <c:pt idx="1">
                  <c:v>45992</c:v>
                </c:pt>
                <c:pt idx="2">
                  <c:v>46023</c:v>
                </c:pt>
                <c:pt idx="3">
                  <c:v>46054</c:v>
                </c:pt>
                <c:pt idx="4">
                  <c:v>46082</c:v>
                </c:pt>
              </c:numCache>
            </c:numRef>
          </c:cat>
          <c:val>
            <c:numRef>
              <c:f>'Tổng hợp NG BEAM'!$I$11:$M$11</c:f>
              <c:numCache>
                <c:formatCode>0.00%</c:formatCode>
                <c:ptCount val="5"/>
                <c:pt idx="0">
                  <c:v>9.9614675649636435E-3</c:v>
                </c:pt>
                <c:pt idx="1">
                  <c:v>1.0019670778422708E-2</c:v>
                </c:pt>
                <c:pt idx="2">
                  <c:v>4.9704451553200723E-3</c:v>
                </c:pt>
                <c:pt idx="3">
                  <c:v>9.4249010557118998E-3</c:v>
                </c:pt>
                <c:pt idx="4">
                  <c:v>6.6503778885661207E-3</c:v>
                </c:pt>
              </c:numCache>
            </c:numRef>
          </c:val>
          <c:smooth val="0"/>
          <c:extLst>
            <c:ext xmlns:c16="http://schemas.microsoft.com/office/drawing/2014/chart" uri="{C3380CC4-5D6E-409C-BE32-E72D297353CC}">
              <c16:uniqueId val="{00000006-B4E6-43D5-92DF-2A41B7002555}"/>
            </c:ext>
          </c:extLst>
        </c:ser>
        <c:ser>
          <c:idx val="7"/>
          <c:order val="7"/>
          <c:tx>
            <c:v>6th</c:v>
          </c:tx>
          <c:spPr>
            <a:ln w="28575" cap="rnd">
              <a:solidFill>
                <a:schemeClr val="accent2">
                  <a:lumMod val="60000"/>
                </a:schemeClr>
              </a:solidFill>
              <a:round/>
            </a:ln>
            <a:effectLst/>
          </c:spPr>
          <c:marker>
            <c:symbol val="circle"/>
            <c:size val="5"/>
            <c:spPr>
              <a:solidFill>
                <a:schemeClr val="accent2">
                  <a:lumMod val="60000"/>
                </a:schemeClr>
              </a:solidFill>
              <a:ln w="9525">
                <a:solidFill>
                  <a:schemeClr val="accent2">
                    <a:lumMod val="60000"/>
                  </a:schemeClr>
                </a:solidFill>
              </a:ln>
              <a:effectLst/>
            </c:spPr>
          </c:marker>
          <c:cat>
            <c:numRef>
              <c:f>'Tổng hợp NG BEAM'!$I$4:$M$4</c:f>
              <c:numCache>
                <c:formatCode>mm/yyyy</c:formatCode>
                <c:ptCount val="5"/>
                <c:pt idx="0">
                  <c:v>45962</c:v>
                </c:pt>
                <c:pt idx="1">
                  <c:v>45992</c:v>
                </c:pt>
                <c:pt idx="2">
                  <c:v>46023</c:v>
                </c:pt>
                <c:pt idx="3">
                  <c:v>46054</c:v>
                </c:pt>
                <c:pt idx="4">
                  <c:v>46082</c:v>
                </c:pt>
              </c:numCache>
            </c:numRef>
          </c:cat>
          <c:val>
            <c:numRef>
              <c:f>'Tổng hợp NG BEAM'!$I$12:$M$12</c:f>
              <c:numCache>
                <c:formatCode>0.00%</c:formatCode>
                <c:ptCount val="5"/>
                <c:pt idx="0">
                  <c:v>1.8928137835767529E-2</c:v>
                </c:pt>
                <c:pt idx="1">
                  <c:v>1.8988304394139191E-2</c:v>
                </c:pt>
                <c:pt idx="2">
                  <c:v>1.5548015884583214E-2</c:v>
                </c:pt>
                <c:pt idx="3">
                  <c:v>1.8615630356620689E-2</c:v>
                </c:pt>
                <c:pt idx="4">
                  <c:v>1.6598642503491908E-2</c:v>
                </c:pt>
              </c:numCache>
            </c:numRef>
          </c:val>
          <c:smooth val="0"/>
          <c:extLst>
            <c:ext xmlns:c16="http://schemas.microsoft.com/office/drawing/2014/chart" uri="{C3380CC4-5D6E-409C-BE32-E72D297353CC}">
              <c16:uniqueId val="{00000007-B4E6-43D5-92DF-2A41B7002555}"/>
            </c:ext>
          </c:extLst>
        </c:ser>
        <c:ser>
          <c:idx val="8"/>
          <c:order val="8"/>
          <c:tx>
            <c:v>Virgo</c:v>
          </c:tx>
          <c:spPr>
            <a:ln w="28575" cap="rnd">
              <a:solidFill>
                <a:schemeClr val="accent3">
                  <a:lumMod val="60000"/>
                </a:schemeClr>
              </a:solidFill>
              <a:round/>
            </a:ln>
            <a:effectLst/>
          </c:spPr>
          <c:marker>
            <c:symbol val="circle"/>
            <c:size val="5"/>
            <c:spPr>
              <a:solidFill>
                <a:schemeClr val="accent3">
                  <a:lumMod val="60000"/>
                </a:schemeClr>
              </a:solidFill>
              <a:ln w="9525">
                <a:solidFill>
                  <a:schemeClr val="accent3">
                    <a:lumMod val="60000"/>
                  </a:schemeClr>
                </a:solidFill>
              </a:ln>
              <a:effectLst/>
            </c:spPr>
          </c:marker>
          <c:cat>
            <c:numRef>
              <c:f>'Tổng hợp NG BEAM'!$I$4:$M$4</c:f>
              <c:numCache>
                <c:formatCode>mm/yyyy</c:formatCode>
                <c:ptCount val="5"/>
                <c:pt idx="0">
                  <c:v>45962</c:v>
                </c:pt>
                <c:pt idx="1">
                  <c:v>45992</c:v>
                </c:pt>
                <c:pt idx="2">
                  <c:v>46023</c:v>
                </c:pt>
                <c:pt idx="3">
                  <c:v>46054</c:v>
                </c:pt>
                <c:pt idx="4">
                  <c:v>46082</c:v>
                </c:pt>
              </c:numCache>
            </c:numRef>
          </c:cat>
          <c:val>
            <c:numRef>
              <c:f>'Tổng hợp NG BEAM'!$I$13:$M$13</c:f>
              <c:numCache>
                <c:formatCode>0.00%</c:formatCode>
                <c:ptCount val="5"/>
                <c:pt idx="0">
                  <c:v>8.0805953496620436E-3</c:v>
                </c:pt>
                <c:pt idx="1">
                  <c:v>6.3175326349602387E-3</c:v>
                </c:pt>
                <c:pt idx="2">
                  <c:v>7.4381703482014226E-3</c:v>
                </c:pt>
                <c:pt idx="3">
                  <c:v>7.682567533524344E-3</c:v>
                </c:pt>
                <c:pt idx="4">
                  <c:v>9.5364751742812986E-3</c:v>
                </c:pt>
              </c:numCache>
            </c:numRef>
          </c:val>
          <c:smooth val="0"/>
          <c:extLst>
            <c:ext xmlns:c16="http://schemas.microsoft.com/office/drawing/2014/chart" uri="{C3380CC4-5D6E-409C-BE32-E72D297353CC}">
              <c16:uniqueId val="{00000008-B4E6-43D5-92DF-2A41B7002555}"/>
            </c:ext>
          </c:extLst>
        </c:ser>
        <c:dLbls>
          <c:showLegendKey val="0"/>
          <c:showVal val="0"/>
          <c:showCatName val="0"/>
          <c:showSerName val="0"/>
          <c:showPercent val="0"/>
          <c:showBubbleSize val="0"/>
        </c:dLbls>
        <c:marker val="1"/>
        <c:smooth val="0"/>
        <c:axId val="1258453616"/>
        <c:axId val="1258457576"/>
      </c:lineChart>
      <c:dateAx>
        <c:axId val="125845361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a:ea typeface="Times New Roman"/>
                    <a:cs typeface="Times New Roman"/>
                  </a:defRPr>
                </a:pPr>
                <a:r>
                  <a:rPr lang="en-US"/>
                  <a:t>Tháng</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a:ea typeface="Times New Roman"/>
                  <a:cs typeface="Times New Roman"/>
                </a:defRPr>
              </a:pPr>
              <a:endParaRPr lang="ja-JP"/>
            </a:p>
          </c:txPr>
        </c:title>
        <c:numFmt formatCode="mm/yy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a:ea typeface="Times New Roman"/>
                <a:cs typeface="Times New Roman"/>
              </a:defRPr>
            </a:pPr>
            <a:endParaRPr lang="ja-JP"/>
          </a:p>
        </c:txPr>
        <c:crossAx val="1258457576"/>
        <c:crosses val="autoZero"/>
        <c:auto val="1"/>
        <c:lblOffset val="100"/>
        <c:baseTimeUnit val="months"/>
      </c:dateAx>
      <c:valAx>
        <c:axId val="1258457576"/>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a:ea typeface="Times New Roman"/>
                    <a:cs typeface="Times New Roman"/>
                  </a:defRPr>
                </a:pPr>
                <a:r>
                  <a:rPr lang="en-US"/>
                  <a:t>Tỷ lệ NG BEAM</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a:ea typeface="Times New Roman"/>
                  <a:cs typeface="Times New Roman"/>
                </a:defRPr>
              </a:pPr>
              <a:endParaRPr lang="ja-JP"/>
            </a:p>
          </c:txPr>
        </c:title>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a:ea typeface="Times New Roman"/>
                <a:cs typeface="Times New Roman"/>
              </a:defRPr>
            </a:pPr>
            <a:endParaRPr lang="ja-JP"/>
          </a:p>
        </c:txPr>
        <c:crossAx val="12584536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a:ea typeface="Times New Roman"/>
              <a:cs typeface="Times New Roman"/>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516200102256193"/>
          <c:y val="2.5191040938375753E-2"/>
          <c:w val="0.58495488485566072"/>
          <c:h val="0.89134393147083468"/>
        </c:manualLayout>
      </c:layout>
      <c:lineChart>
        <c:grouping val="standard"/>
        <c:varyColors val="0"/>
        <c:ser>
          <c:idx val="0"/>
          <c:order val="0"/>
          <c:tx>
            <c:v>Libra – BLADE GAP</c:v>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'NG các JIG khác'!$K$4:$P$4</c:f>
              <c:strCache>
                <c:ptCount val="6"/>
                <c:pt idx="0">
                  <c:v>11/2025</c:v>
                </c:pt>
                <c:pt idx="1">
                  <c:v>12/2025</c:v>
                </c:pt>
                <c:pt idx="2">
                  <c:v>01/2026</c:v>
                </c:pt>
                <c:pt idx="3">
                  <c:v>02/2026</c:v>
                </c:pt>
                <c:pt idx="4">
                  <c:v>03/2026</c:v>
                </c:pt>
                <c:pt idx="5">
                  <c:v>4/2026</c:v>
                </c:pt>
              </c:strCache>
            </c:strRef>
          </c:cat>
          <c:val>
            <c:numRef>
              <c:f>'NG các JIG khác'!$K$5:$P$5</c:f>
              <c:numCache>
                <c:formatCode>0.00%</c:formatCode>
                <c:ptCount val="6"/>
                <c:pt idx="0">
                  <c:v>2.0345879959308239E-3</c:v>
                </c:pt>
                <c:pt idx="1">
                  <c:v>1.5381657373582003E-3</c:v>
                </c:pt>
                <c:pt idx="2">
                  <c:v>2.5652985074626866E-3</c:v>
                </c:pt>
                <c:pt idx="3">
                  <c:v>1.1462047885888945E-3</c:v>
                </c:pt>
                <c:pt idx="4">
                  <c:v>1.0588235294117646E-3</c:v>
                </c:pt>
                <c:pt idx="5">
                  <c:v>8.2678792889623808E-4</c:v>
                </c:pt>
              </c:numCache>
            </c:numRef>
          </c:val>
          <c:smooth val="0"/>
          <c:extLst>
            <c:ext xmlns:c16="http://schemas.microsoft.com/office/drawing/2014/chart" uri="{C3380CC4-5D6E-409C-BE32-E72D297353CC}">
              <c16:uniqueId val="{00000000-0DA2-4209-BC19-889048D55DFB}"/>
            </c:ext>
          </c:extLst>
        </c:ser>
        <c:ser>
          <c:idx val="1"/>
          <c:order val="1"/>
          <c:tx>
            <c:v>Libra – DS GAP</c:v>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'NG các JIG khác'!$K$4:$P$4</c:f>
              <c:strCache>
                <c:ptCount val="6"/>
                <c:pt idx="0">
                  <c:v>11/2025</c:v>
                </c:pt>
                <c:pt idx="1">
                  <c:v>12/2025</c:v>
                </c:pt>
                <c:pt idx="2">
                  <c:v>01/2026</c:v>
                </c:pt>
                <c:pt idx="3">
                  <c:v>02/2026</c:v>
                </c:pt>
                <c:pt idx="4">
                  <c:v>03/2026</c:v>
                </c:pt>
                <c:pt idx="5">
                  <c:v>4/2026</c:v>
                </c:pt>
              </c:strCache>
            </c:strRef>
          </c:cat>
          <c:val>
            <c:numRef>
              <c:f>'NG các JIG khác'!$K$6:$P$6</c:f>
              <c:numCache>
                <c:formatCode>0.00%</c:formatCode>
                <c:ptCount val="6"/>
                <c:pt idx="0">
                  <c:v>1.8650389962699221E-3</c:v>
                </c:pt>
                <c:pt idx="1">
                  <c:v>3.8919853930424755E-3</c:v>
                </c:pt>
                <c:pt idx="2">
                  <c:v>5.8735782211448819E-3</c:v>
                </c:pt>
                <c:pt idx="3">
                  <c:v>3.5657433938236231E-3</c:v>
                </c:pt>
                <c:pt idx="4">
                  <c:v>4.4313725490196078E-3</c:v>
                </c:pt>
                <c:pt idx="5">
                  <c:v>5.4774700289375779E-3</c:v>
                </c:pt>
              </c:numCache>
            </c:numRef>
          </c:val>
          <c:smooth val="0"/>
          <c:extLst>
            <c:ext xmlns:c16="http://schemas.microsoft.com/office/drawing/2014/chart" uri="{C3380CC4-5D6E-409C-BE32-E72D297353CC}">
              <c16:uniqueId val="{00000001-0DA2-4209-BC19-889048D55DFB}"/>
            </c:ext>
          </c:extLst>
        </c:ser>
        <c:ser>
          <c:idx val="2"/>
          <c:order val="2"/>
          <c:tx>
            <c:v>Libra – Điện thế bề mặt DRUM</c:v>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'NG các JIG khác'!$K$4:$P$4</c:f>
              <c:strCache>
                <c:ptCount val="6"/>
                <c:pt idx="0">
                  <c:v>11/2025</c:v>
                </c:pt>
                <c:pt idx="1">
                  <c:v>12/2025</c:v>
                </c:pt>
                <c:pt idx="2">
                  <c:v>01/2026</c:v>
                </c:pt>
                <c:pt idx="3">
                  <c:v>02/2026</c:v>
                </c:pt>
                <c:pt idx="4">
                  <c:v>03/2026</c:v>
                </c:pt>
                <c:pt idx="5">
                  <c:v>4/2026</c:v>
                </c:pt>
              </c:strCache>
            </c:strRef>
          </c:cat>
          <c:val>
            <c:numRef>
              <c:f>'NG các JIG khác'!$K$7:$P$7</c:f>
              <c:numCache>
                <c:formatCode>0.00%</c:formatCode>
                <c:ptCount val="6"/>
                <c:pt idx="0">
                  <c:v>8.9160616481976825E-3</c:v>
                </c:pt>
                <c:pt idx="1">
                  <c:v>8.9678365094420977E-3</c:v>
                </c:pt>
                <c:pt idx="2">
                  <c:v>3.917646078186213E-3</c:v>
                </c:pt>
                <c:pt idx="3">
                  <c:v>7.4568725653867554E-3</c:v>
                </c:pt>
                <c:pt idx="4">
                  <c:v>1.2559726962457338E-2</c:v>
                </c:pt>
                <c:pt idx="5">
                  <c:v>1.2185215272136474E-2</c:v>
                </c:pt>
              </c:numCache>
            </c:numRef>
          </c:val>
          <c:smooth val="0"/>
          <c:extLst>
            <c:ext xmlns:c16="http://schemas.microsoft.com/office/drawing/2014/chart" uri="{C3380CC4-5D6E-409C-BE32-E72D297353CC}">
              <c16:uniqueId val="{00000002-0DA2-4209-BC19-889048D55DFB}"/>
            </c:ext>
          </c:extLst>
        </c:ser>
        <c:ser>
          <c:idx val="3"/>
          <c:order val="3"/>
          <c:tx>
            <c:v>6thA3 – kiểm tra tính năng DLP</c:v>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'NG các JIG khác'!$K$4:$P$4</c:f>
              <c:strCache>
                <c:ptCount val="6"/>
                <c:pt idx="0">
                  <c:v>11/2025</c:v>
                </c:pt>
                <c:pt idx="1">
                  <c:v>12/2025</c:v>
                </c:pt>
                <c:pt idx="2">
                  <c:v>01/2026</c:v>
                </c:pt>
                <c:pt idx="3">
                  <c:v>02/2026</c:v>
                </c:pt>
                <c:pt idx="4">
                  <c:v>03/2026</c:v>
                </c:pt>
                <c:pt idx="5">
                  <c:v>4/2026</c:v>
                </c:pt>
              </c:strCache>
            </c:strRef>
          </c:cat>
          <c:val>
            <c:numRef>
              <c:f>'NG các JIG khác'!$K$8:$P$8</c:f>
              <c:numCache>
                <c:formatCode>0.00%</c:formatCode>
                <c:ptCount val="6"/>
                <c:pt idx="0">
                  <c:v>9.0265486725663716E-2</c:v>
                </c:pt>
                <c:pt idx="1">
                  <c:v>3.8356164383561646E-2</c:v>
                </c:pt>
                <c:pt idx="2">
                  <c:v>2.9616724738675958E-2</c:v>
                </c:pt>
                <c:pt idx="3">
                  <c:v>4.5714285714285714E-2</c:v>
                </c:pt>
                <c:pt idx="4">
                  <c:v>1.0954235637779941E-2</c:v>
                </c:pt>
                <c:pt idx="5">
                  <c:v>3.7006578947368419E-3</c:v>
                </c:pt>
              </c:numCache>
            </c:numRef>
          </c:val>
          <c:smooth val="0"/>
          <c:extLst>
            <c:ext xmlns:c16="http://schemas.microsoft.com/office/drawing/2014/chart" uri="{C3380CC4-5D6E-409C-BE32-E72D297353CC}">
              <c16:uniqueId val="{00000003-0DA2-4209-BC19-889048D55DFB}"/>
            </c:ext>
          </c:extLst>
        </c:ser>
        <c:ser>
          <c:idx val="4"/>
          <c:order val="4"/>
          <c:tx>
            <c:v>Virgo – kiểm tra BLADE GAP</c:v>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'NG các JIG khác'!$K$4:$P$4</c:f>
              <c:strCache>
                <c:ptCount val="6"/>
                <c:pt idx="0">
                  <c:v>11/2025</c:v>
                </c:pt>
                <c:pt idx="1">
                  <c:v>12/2025</c:v>
                </c:pt>
                <c:pt idx="2">
                  <c:v>01/2026</c:v>
                </c:pt>
                <c:pt idx="3">
                  <c:v>02/2026</c:v>
                </c:pt>
                <c:pt idx="4">
                  <c:v>03/2026</c:v>
                </c:pt>
                <c:pt idx="5">
                  <c:v>4/2026</c:v>
                </c:pt>
              </c:strCache>
            </c:strRef>
          </c:cat>
          <c:val>
            <c:numRef>
              <c:f>'NG các JIG khác'!$K$9:$P$9</c:f>
              <c:numCache>
                <c:formatCode>0.00%</c:formatCode>
                <c:ptCount val="6"/>
                <c:pt idx="0">
                  <c:v>2.9218407596785974E-4</c:v>
                </c:pt>
                <c:pt idx="1">
                  <c:v>6.1812883571018586E-4</c:v>
                </c:pt>
                <c:pt idx="2">
                  <c:v>2.2746917792639099E-4</c:v>
                </c:pt>
                <c:pt idx="3">
                  <c:v>1.9002736394040741E-4</c:v>
                </c:pt>
                <c:pt idx="4">
                  <c:v>1.1169856281182515E-4</c:v>
                </c:pt>
                <c:pt idx="5">
                  <c:v>2.9248929280267419E-4</c:v>
                </c:pt>
              </c:numCache>
            </c:numRef>
          </c:val>
          <c:smooth val="0"/>
          <c:extLst>
            <c:ext xmlns:c16="http://schemas.microsoft.com/office/drawing/2014/chart" uri="{C3380CC4-5D6E-409C-BE32-E72D297353CC}">
              <c16:uniqueId val="{00000004-0DA2-4209-BC19-889048D55DFB}"/>
            </c:ext>
          </c:extLst>
        </c:ser>
        <c:ser>
          <c:idx val="5"/>
          <c:order val="5"/>
          <c:tx>
            <c:v>Virgo – kiểm tra DS GAP</c:v>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'NG các JIG khác'!$K$4:$P$4</c:f>
              <c:strCache>
                <c:ptCount val="6"/>
                <c:pt idx="0">
                  <c:v>11/2025</c:v>
                </c:pt>
                <c:pt idx="1">
                  <c:v>12/2025</c:v>
                </c:pt>
                <c:pt idx="2">
                  <c:v>01/2026</c:v>
                </c:pt>
                <c:pt idx="3">
                  <c:v>02/2026</c:v>
                </c:pt>
                <c:pt idx="4">
                  <c:v>03/2026</c:v>
                </c:pt>
                <c:pt idx="5">
                  <c:v>4/2026</c:v>
                </c:pt>
              </c:strCache>
            </c:strRef>
          </c:cat>
          <c:val>
            <c:numRef>
              <c:f>'NG các JIG khác'!$K$10:$P$10</c:f>
              <c:numCache>
                <c:formatCode>0.00%</c:formatCode>
                <c:ptCount val="6"/>
                <c:pt idx="0">
                  <c:v>1.022584509305519E-3</c:v>
                </c:pt>
                <c:pt idx="1">
                  <c:v>1.2356848121097112E-3</c:v>
                </c:pt>
                <c:pt idx="2">
                  <c:v>1.7055920678598231E-3</c:v>
                </c:pt>
                <c:pt idx="3">
                  <c:v>1.1776773164153022E-3</c:v>
                </c:pt>
                <c:pt idx="4">
                  <c:v>1.7871770049892024E-3</c:v>
                </c:pt>
                <c:pt idx="5">
                  <c:v>2.1937155273274275E-3</c:v>
                </c:pt>
              </c:numCache>
            </c:numRef>
          </c:val>
          <c:smooth val="0"/>
          <c:extLst>
            <c:ext xmlns:c16="http://schemas.microsoft.com/office/drawing/2014/chart" uri="{C3380CC4-5D6E-409C-BE32-E72D297353CC}">
              <c16:uniqueId val="{00000005-0DA2-4209-BC19-889048D55DFB}"/>
            </c:ext>
          </c:extLst>
        </c:ser>
        <c:ser>
          <c:idx val="6"/>
          <c:order val="6"/>
          <c:tx>
            <c:v>Virgo – đo T/C</c:v>
          </c:tx>
          <c:spPr>
            <a:ln w="28575" cap="rnd">
              <a:solidFill>
                <a:schemeClr val="accent1">
                  <a:lumMod val="60000"/>
                </a:schemeClr>
              </a:solidFill>
              <a:round/>
            </a:ln>
            <a:effectLst/>
          </c:spPr>
          <c:marker>
            <c:symbol val="circle"/>
            <c:size val="5"/>
            <c:spPr>
              <a:solidFill>
                <a:schemeClr val="accent1">
                  <a:lumMod val="60000"/>
                </a:schemeClr>
              </a:solidFill>
              <a:ln w="9525">
                <a:solidFill>
                  <a:schemeClr val="accent1">
                    <a:lumMod val="60000"/>
                  </a:schemeClr>
                </a:solidFill>
              </a:ln>
              <a:effectLst/>
            </c:spPr>
          </c:marker>
          <c:cat>
            <c:strRef>
              <c:f>'NG các JIG khác'!$K$4:$P$4</c:f>
              <c:strCache>
                <c:ptCount val="6"/>
                <c:pt idx="0">
                  <c:v>11/2025</c:v>
                </c:pt>
                <c:pt idx="1">
                  <c:v>12/2025</c:v>
                </c:pt>
                <c:pt idx="2">
                  <c:v>01/2026</c:v>
                </c:pt>
                <c:pt idx="3">
                  <c:v>02/2026</c:v>
                </c:pt>
                <c:pt idx="4">
                  <c:v>03/2026</c:v>
                </c:pt>
                <c:pt idx="5">
                  <c:v>4/2026</c:v>
                </c:pt>
              </c:strCache>
            </c:strRef>
          </c:cat>
          <c:val>
            <c:numRef>
              <c:f>'NG các JIG khác'!$K$11:$P$11</c:f>
              <c:numCache>
                <c:formatCode>0.00%</c:formatCode>
                <c:ptCount val="6"/>
                <c:pt idx="0">
                  <c:v>2.3101441646928094E-3</c:v>
                </c:pt>
                <c:pt idx="1">
                  <c:v>2.1915746131538753E-3</c:v>
                </c:pt>
                <c:pt idx="2">
                  <c:v>9.9583559659605298E-4</c:v>
                </c:pt>
                <c:pt idx="3">
                  <c:v>1.5176809834572774E-4</c:v>
                </c:pt>
                <c:pt idx="4">
                  <c:v>4.6638310573837775E-4</c:v>
                </c:pt>
                <c:pt idx="5">
                  <c:v>1.1690778898144089E-3</c:v>
                </c:pt>
              </c:numCache>
            </c:numRef>
          </c:val>
          <c:smooth val="0"/>
          <c:extLst>
            <c:ext xmlns:c16="http://schemas.microsoft.com/office/drawing/2014/chart" uri="{C3380CC4-5D6E-409C-BE32-E72D297353CC}">
              <c16:uniqueId val="{00000006-0DA2-4209-BC19-889048D55DFB}"/>
            </c:ext>
          </c:extLst>
        </c:ser>
        <c:ser>
          <c:idx val="7"/>
          <c:order val="7"/>
          <c:tx>
            <c:v>Virgo – kiểm tra hiệu điện thế</c:v>
          </c:tx>
          <c:spPr>
            <a:ln w="28575" cap="rnd">
              <a:solidFill>
                <a:schemeClr val="accent2">
                  <a:lumMod val="60000"/>
                </a:schemeClr>
              </a:solidFill>
              <a:round/>
            </a:ln>
            <a:effectLst/>
          </c:spPr>
          <c:marker>
            <c:symbol val="circle"/>
            <c:size val="5"/>
            <c:spPr>
              <a:solidFill>
                <a:schemeClr val="accent2">
                  <a:lumMod val="60000"/>
                </a:schemeClr>
              </a:solidFill>
              <a:ln w="9525">
                <a:solidFill>
                  <a:schemeClr val="accent2">
                    <a:lumMod val="60000"/>
                  </a:schemeClr>
                </a:solidFill>
              </a:ln>
              <a:effectLst/>
            </c:spPr>
          </c:marker>
          <c:cat>
            <c:strRef>
              <c:f>'NG các JIG khác'!$K$4:$P$4</c:f>
              <c:strCache>
                <c:ptCount val="6"/>
                <c:pt idx="0">
                  <c:v>11/2025</c:v>
                </c:pt>
                <c:pt idx="1">
                  <c:v>12/2025</c:v>
                </c:pt>
                <c:pt idx="2">
                  <c:v>01/2026</c:v>
                </c:pt>
                <c:pt idx="3">
                  <c:v>02/2026</c:v>
                </c:pt>
                <c:pt idx="4">
                  <c:v>03/2026</c:v>
                </c:pt>
                <c:pt idx="5">
                  <c:v>4/2026</c:v>
                </c:pt>
              </c:strCache>
            </c:strRef>
          </c:cat>
          <c:val>
            <c:numRef>
              <c:f>'NG các JIG khác'!$K$12:$P$12</c:f>
              <c:numCache>
                <c:formatCode>0.00%</c:formatCode>
                <c:ptCount val="6"/>
                <c:pt idx="0">
                  <c:v>7.1311186759009278E-3</c:v>
                </c:pt>
                <c:pt idx="1">
                  <c:v>3.5777777777777778E-3</c:v>
                </c:pt>
                <c:pt idx="2">
                  <c:v>1.5518494955921112E-2</c:v>
                </c:pt>
                <c:pt idx="3">
                  <c:v>2.441860465116279E-2</c:v>
                </c:pt>
                <c:pt idx="4">
                  <c:v>2.4326640092389076E-2</c:v>
                </c:pt>
                <c:pt idx="5">
                  <c:v>5.1298091961213639E-3</c:v>
                </c:pt>
              </c:numCache>
            </c:numRef>
          </c:val>
          <c:smooth val="0"/>
          <c:extLst>
            <c:ext xmlns:c16="http://schemas.microsoft.com/office/drawing/2014/chart" uri="{C3380CC4-5D6E-409C-BE32-E72D297353CC}">
              <c16:uniqueId val="{00000007-0DA2-4209-BC19-889048D55DFB}"/>
            </c:ext>
          </c:extLst>
        </c:ser>
        <c:ser>
          <c:idx val="8"/>
          <c:order val="8"/>
          <c:tx>
            <c:v>Virgo – kiểm tra độ rung</c:v>
          </c:tx>
          <c:spPr>
            <a:ln w="28575" cap="rnd">
              <a:solidFill>
                <a:schemeClr val="accent3">
                  <a:lumMod val="60000"/>
                </a:schemeClr>
              </a:solidFill>
              <a:round/>
            </a:ln>
            <a:effectLst/>
          </c:spPr>
          <c:marker>
            <c:symbol val="circle"/>
            <c:size val="5"/>
            <c:spPr>
              <a:solidFill>
                <a:schemeClr val="accent3">
                  <a:lumMod val="60000"/>
                </a:schemeClr>
              </a:solidFill>
              <a:ln w="9525">
                <a:solidFill>
                  <a:schemeClr val="accent3">
                    <a:lumMod val="60000"/>
                  </a:schemeClr>
                </a:solidFill>
              </a:ln>
              <a:effectLst/>
            </c:spPr>
          </c:marker>
          <c:cat>
            <c:strRef>
              <c:f>'NG các JIG khác'!$K$4:$P$4</c:f>
              <c:strCache>
                <c:ptCount val="6"/>
                <c:pt idx="0">
                  <c:v>11/2025</c:v>
                </c:pt>
                <c:pt idx="1">
                  <c:v>12/2025</c:v>
                </c:pt>
                <c:pt idx="2">
                  <c:v>01/2026</c:v>
                </c:pt>
                <c:pt idx="3">
                  <c:v>02/2026</c:v>
                </c:pt>
                <c:pt idx="4">
                  <c:v>03/2026</c:v>
                </c:pt>
                <c:pt idx="5">
                  <c:v>4/2026</c:v>
                </c:pt>
              </c:strCache>
            </c:strRef>
          </c:cat>
          <c:val>
            <c:numRef>
              <c:f>'NG các JIG khác'!$K$13:$P$13</c:f>
              <c:numCache>
                <c:formatCode>0.00%</c:formatCode>
                <c:ptCount val="6"/>
                <c:pt idx="0">
                  <c:v>7.9532781593003466E-3</c:v>
                </c:pt>
                <c:pt idx="1">
                  <c:v>7.3125736258362788E-3</c:v>
                </c:pt>
                <c:pt idx="2">
                  <c:v>3.4543099334136307E-3</c:v>
                </c:pt>
                <c:pt idx="3">
                  <c:v>1.9889668630615077E-3</c:v>
                </c:pt>
                <c:pt idx="4">
                  <c:v>1.9744807674396945E-3</c:v>
                </c:pt>
                <c:pt idx="5">
                  <c:v>3.8174308481788979E-3</c:v>
                </c:pt>
              </c:numCache>
            </c:numRef>
          </c:val>
          <c:smooth val="0"/>
          <c:extLst>
            <c:ext xmlns:c16="http://schemas.microsoft.com/office/drawing/2014/chart" uri="{C3380CC4-5D6E-409C-BE32-E72D297353CC}">
              <c16:uniqueId val="{00000008-0DA2-4209-BC19-889048D55DFB}"/>
            </c:ext>
          </c:extLst>
        </c:ser>
        <c:ser>
          <c:idx val="9"/>
          <c:order val="9"/>
          <c:tx>
            <c:v>6th – kiểm tra hiệu điện thế DRUM</c:v>
          </c:tx>
          <c:spPr>
            <a:ln w="28575" cap="rnd">
              <a:solidFill>
                <a:schemeClr val="accent4">
                  <a:lumMod val="60000"/>
                </a:schemeClr>
              </a:solidFill>
              <a:round/>
            </a:ln>
            <a:effectLst/>
          </c:spPr>
          <c:marker>
            <c:symbol val="circle"/>
            <c:size val="5"/>
            <c:spPr>
              <a:solidFill>
                <a:schemeClr val="accent4">
                  <a:lumMod val="60000"/>
                </a:schemeClr>
              </a:solidFill>
              <a:ln w="9525">
                <a:solidFill>
                  <a:schemeClr val="accent4">
                    <a:lumMod val="60000"/>
                  </a:schemeClr>
                </a:solidFill>
              </a:ln>
              <a:effectLst/>
            </c:spPr>
          </c:marker>
          <c:cat>
            <c:strRef>
              <c:f>'NG các JIG khác'!$K$4:$P$4</c:f>
              <c:strCache>
                <c:ptCount val="6"/>
                <c:pt idx="0">
                  <c:v>11/2025</c:v>
                </c:pt>
                <c:pt idx="1">
                  <c:v>12/2025</c:v>
                </c:pt>
                <c:pt idx="2">
                  <c:v>01/2026</c:v>
                </c:pt>
                <c:pt idx="3">
                  <c:v>02/2026</c:v>
                </c:pt>
                <c:pt idx="4">
                  <c:v>03/2026</c:v>
                </c:pt>
                <c:pt idx="5">
                  <c:v>4/2026</c:v>
                </c:pt>
              </c:strCache>
            </c:strRef>
          </c:cat>
          <c:val>
            <c:numRef>
              <c:f>'NG các JIG khác'!$K$14:$P$14</c:f>
              <c:numCache>
                <c:formatCode>0.00%</c:formatCode>
                <c:ptCount val="6"/>
                <c:pt idx="0">
                  <c:v>1.1304108078301628E-2</c:v>
                </c:pt>
                <c:pt idx="1">
                  <c:v>1.0865986170563056E-2</c:v>
                </c:pt>
                <c:pt idx="2">
                  <c:v>7.0980716905240746E-3</c:v>
                </c:pt>
                <c:pt idx="3">
                  <c:v>1.438743301769067E-2</c:v>
                </c:pt>
                <c:pt idx="4">
                  <c:v>1.081893313298272E-2</c:v>
                </c:pt>
                <c:pt idx="5">
                  <c:v>1.6097175587596286E-2</c:v>
                </c:pt>
              </c:numCache>
            </c:numRef>
          </c:val>
          <c:smooth val="0"/>
          <c:extLst>
            <c:ext xmlns:c16="http://schemas.microsoft.com/office/drawing/2014/chart" uri="{C3380CC4-5D6E-409C-BE32-E72D297353CC}">
              <c16:uniqueId val="{00000009-0DA2-4209-BC19-889048D55DFB}"/>
            </c:ext>
          </c:extLst>
        </c:ser>
        <c:ser>
          <c:idx val="10"/>
          <c:order val="10"/>
          <c:tx>
            <c:v>6th – kiểm tra tính năng DLP</c:v>
          </c:tx>
          <c:spPr>
            <a:ln w="28575" cap="rnd">
              <a:solidFill>
                <a:schemeClr val="accent5">
                  <a:lumMod val="60000"/>
                </a:schemeClr>
              </a:solidFill>
              <a:round/>
            </a:ln>
            <a:effectLst/>
          </c:spPr>
          <c:marker>
            <c:symbol val="circle"/>
            <c:size val="5"/>
            <c:spPr>
              <a:solidFill>
                <a:schemeClr val="accent5">
                  <a:lumMod val="60000"/>
                </a:schemeClr>
              </a:solidFill>
              <a:ln w="9525">
                <a:solidFill>
                  <a:schemeClr val="accent5">
                    <a:lumMod val="60000"/>
                  </a:schemeClr>
                </a:solidFill>
              </a:ln>
              <a:effectLst/>
            </c:spPr>
          </c:marker>
          <c:cat>
            <c:strRef>
              <c:f>'NG các JIG khác'!$K$4:$P$4</c:f>
              <c:strCache>
                <c:ptCount val="6"/>
                <c:pt idx="0">
                  <c:v>11/2025</c:v>
                </c:pt>
                <c:pt idx="1">
                  <c:v>12/2025</c:v>
                </c:pt>
                <c:pt idx="2">
                  <c:v>01/2026</c:v>
                </c:pt>
                <c:pt idx="3">
                  <c:v>02/2026</c:v>
                </c:pt>
                <c:pt idx="4">
                  <c:v>03/2026</c:v>
                </c:pt>
                <c:pt idx="5">
                  <c:v>4/2026</c:v>
                </c:pt>
              </c:strCache>
            </c:strRef>
          </c:cat>
          <c:val>
            <c:numRef>
              <c:f>'NG các JIG khác'!$K$15:$P$15</c:f>
              <c:numCache>
                <c:formatCode>0.00%</c:formatCode>
                <c:ptCount val="6"/>
                <c:pt idx="0">
                  <c:v>2.2630640515704292E-2</c:v>
                </c:pt>
                <c:pt idx="1">
                  <c:v>1.6495302907019751E-2</c:v>
                </c:pt>
                <c:pt idx="2">
                  <c:v>1.5865498460809851E-2</c:v>
                </c:pt>
                <c:pt idx="3">
                  <c:v>1.9582054654391348E-2</c:v>
                </c:pt>
                <c:pt idx="4">
                  <c:v>2.4357239512855209E-2</c:v>
                </c:pt>
                <c:pt idx="5">
                  <c:v>1.8802913959440833E-2</c:v>
                </c:pt>
              </c:numCache>
            </c:numRef>
          </c:val>
          <c:smooth val="0"/>
          <c:extLst>
            <c:ext xmlns:c16="http://schemas.microsoft.com/office/drawing/2014/chart" uri="{C3380CC4-5D6E-409C-BE32-E72D297353CC}">
              <c16:uniqueId val="{0000000A-0DA2-4209-BC19-889048D55DFB}"/>
            </c:ext>
          </c:extLst>
        </c:ser>
        <c:dLbls>
          <c:showLegendKey val="0"/>
          <c:showVal val="0"/>
          <c:showCatName val="0"/>
          <c:showSerName val="0"/>
          <c:showPercent val="0"/>
          <c:showBubbleSize val="0"/>
        </c:dLbls>
        <c:dropLines>
          <c:spPr>
            <a:ln w="9525" cap="flat" cmpd="sng" algn="ctr">
              <a:solidFill>
                <a:schemeClr val="tx1">
                  <a:lumMod val="35000"/>
                  <a:lumOff val="65000"/>
                </a:schemeClr>
              </a:solidFill>
              <a:round/>
            </a:ln>
            <a:effectLst/>
          </c:spPr>
        </c:dropLines>
        <c:marker val="1"/>
        <c:smooth val="0"/>
        <c:axId val="1421476808"/>
        <c:axId val="1421474648"/>
      </c:lineChart>
      <c:catAx>
        <c:axId val="1421476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a:ea typeface="Times New Roman"/>
                <a:cs typeface="Times New Roman"/>
              </a:defRPr>
            </a:pPr>
            <a:endParaRPr lang="ja-JP"/>
          </a:p>
        </c:txPr>
        <c:crossAx val="1421474648"/>
        <c:crosses val="autoZero"/>
        <c:auto val="1"/>
        <c:lblAlgn val="ctr"/>
        <c:lblOffset val="100"/>
        <c:noMultiLvlLbl val="0"/>
      </c:catAx>
      <c:valAx>
        <c:axId val="1421474648"/>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a:ea typeface="Times New Roman"/>
                    <a:cs typeface="Times New Roman"/>
                  </a:defRPr>
                </a:pPr>
                <a:r>
                  <a:rPr lang="en-US"/>
                  <a:t>Tỷ lệ NG</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a:ea typeface="Times New Roman"/>
                  <a:cs typeface="Times New Roman"/>
                </a:defRPr>
              </a:pPr>
              <a:endParaRPr lang="ja-JP"/>
            </a:p>
          </c:txPr>
        </c:title>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a:ea typeface="Times New Roman"/>
                <a:cs typeface="Times New Roman"/>
              </a:defRPr>
            </a:pPr>
            <a:endParaRPr lang="ja-JP"/>
          </a:p>
        </c:txPr>
        <c:crossAx val="1421476808"/>
        <c:crosses val="autoZero"/>
        <c:crossBetween val="between"/>
      </c:valAx>
      <c:spPr>
        <a:noFill/>
        <a:ln>
          <a:noFill/>
        </a:ln>
        <a:effectLst/>
      </c:spPr>
    </c:plotArea>
    <c:legend>
      <c:legendPos val="r"/>
      <c:layout>
        <c:manualLayout>
          <c:xMode val="edge"/>
          <c:yMode val="edge"/>
          <c:x val="0.75101507653485655"/>
          <c:y val="9.2483809534114947E-2"/>
          <c:w val="0.24124967333603753"/>
          <c:h val="0.85297684100610827"/>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Times New Roman"/>
              <a:ea typeface="Times New Roman"/>
              <a:cs typeface="Times New Roman"/>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tx1">
                    <a:lumMod val="65000"/>
                    <a:lumOff val="35000"/>
                  </a:schemeClr>
                </a:solidFill>
                <a:latin typeface="Times New Roman"/>
                <a:ea typeface="Times New Roman"/>
                <a:cs typeface="Times New Roman"/>
              </a:defRPr>
            </a:pPr>
            <a:r>
              <a:rPr lang="en-US"/>
              <a:t>Xếp hạng NG BEAM trung bình (11/2025–03/2026)</a:t>
            </a:r>
          </a:p>
        </c:rich>
      </c:tx>
      <c:overlay val="0"/>
      <c:spPr>
        <a:noFill/>
        <a:ln>
          <a:noFill/>
        </a:ln>
        <a:effectLst/>
      </c:spPr>
      <c:txPr>
        <a:bodyPr rot="0" spcFirstLastPara="1" vertOverflow="ellipsis" vert="horz" wrap="square" anchor="ctr" anchorCtr="1"/>
        <a:lstStyle/>
        <a:p>
          <a:pPr>
            <a:defRPr sz="960" b="0" i="0" u="none" strike="noStrike" kern="1200" spc="0" baseline="0">
              <a:solidFill>
                <a:schemeClr val="tx1">
                  <a:lumMod val="65000"/>
                  <a:lumOff val="35000"/>
                </a:schemeClr>
              </a:solidFill>
              <a:latin typeface="Times New Roman"/>
              <a:ea typeface="Times New Roman"/>
              <a:cs typeface="Times New Roman"/>
            </a:defRPr>
          </a:pPr>
          <a:endParaRPr lang="ja-JP"/>
        </a:p>
      </c:txPr>
    </c:title>
    <c:autoTitleDeleted val="0"/>
    <c:plotArea>
      <c:layout/>
      <c:barChart>
        <c:barDir val="bar"/>
        <c:grouping val="clustered"/>
        <c:varyColors val="0"/>
        <c:ser>
          <c:idx val="0"/>
          <c:order val="0"/>
          <c:spPr>
            <a:solidFill>
              <a:srgbClr val="ED7D31"/>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Times New Roman"/>
                    <a:ea typeface="Times New Roman"/>
                    <a:cs typeface="Times New Roman"/>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'Báo cáo NG BEAM'!$B$15:$B$20</c:f>
              <c:strCache>
                <c:ptCount val="6"/>
                <c:pt idx="0">
                  <c:v>Iris_Jig Bowskew_4Beam</c:v>
                </c:pt>
                <c:pt idx="1">
                  <c:v>Iris_Jig Bowskew_2Beam</c:v>
                </c:pt>
                <c:pt idx="2">
                  <c:v>Iris_Jig Beam_4Beam</c:v>
                </c:pt>
                <c:pt idx="3">
                  <c:v>A3</c:v>
                </c:pt>
                <c:pt idx="4">
                  <c:v>Iris_Jig Beam_2Beam</c:v>
                </c:pt>
                <c:pt idx="5">
                  <c:v>Libra</c:v>
                </c:pt>
              </c:strCache>
            </c:strRef>
          </c:cat>
          <c:val>
            <c:numRef>
              <c:f>'Báo cáo NG BEAM'!$C$15:$C$20</c:f>
              <c:numCache>
                <c:formatCode>0.0%</c:formatCode>
                <c:ptCount val="6"/>
                <c:pt idx="0">
                  <c:v>0.3373552927554696</c:v>
                </c:pt>
                <c:pt idx="1">
                  <c:v>0.19806521494123341</c:v>
                </c:pt>
                <c:pt idx="2">
                  <c:v>0.1408684333472762</c:v>
                </c:pt>
                <c:pt idx="3">
                  <c:v>0.11894414710122996</c:v>
                </c:pt>
                <c:pt idx="4">
                  <c:v>2.994052702364151E-2</c:v>
                </c:pt>
                <c:pt idx="5">
                  <c:v>2.9300748721690546E-2</c:v>
                </c:pt>
              </c:numCache>
            </c:numRef>
          </c:val>
          <c:extLst>
            <c:ext xmlns:c16="http://schemas.microsoft.com/office/drawing/2014/chart" uri="{C3380CC4-5D6E-409C-BE32-E72D297353CC}">
              <c16:uniqueId val="{00000000-F38F-412A-85B6-590C65ECF50E}"/>
            </c:ext>
          </c:extLst>
        </c:ser>
        <c:dLbls>
          <c:showLegendKey val="0"/>
          <c:showVal val="0"/>
          <c:showCatName val="0"/>
          <c:showSerName val="0"/>
          <c:showPercent val="0"/>
          <c:showBubbleSize val="0"/>
        </c:dLbls>
        <c:gapWidth val="182"/>
        <c:axId val="2107830728"/>
        <c:axId val="2107821728"/>
      </c:barChart>
      <c:catAx>
        <c:axId val="210783072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Times New Roman"/>
                <a:ea typeface="Times New Roman"/>
                <a:cs typeface="Times New Roman"/>
              </a:defRPr>
            </a:pPr>
            <a:endParaRPr lang="ja-JP"/>
          </a:p>
        </c:txPr>
        <c:crossAx val="2107821728"/>
        <c:crosses val="autoZero"/>
        <c:auto val="1"/>
        <c:lblAlgn val="ctr"/>
        <c:lblOffset val="100"/>
        <c:noMultiLvlLbl val="0"/>
      </c:catAx>
      <c:valAx>
        <c:axId val="2107821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800" b="0" i="0" u="none" strike="noStrike" kern="1200" baseline="0">
                    <a:solidFill>
                      <a:schemeClr val="tx1">
                        <a:lumMod val="65000"/>
                        <a:lumOff val="35000"/>
                      </a:schemeClr>
                    </a:solidFill>
                    <a:latin typeface="Times New Roman"/>
                    <a:ea typeface="Times New Roman"/>
                    <a:cs typeface="Times New Roman"/>
                  </a:defRPr>
                </a:pPr>
                <a:r>
                  <a:rPr lang="en-US"/>
                  <a:t>NG trung bình</a:t>
                </a:r>
              </a:p>
            </c:rich>
          </c:tx>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Times New Roman"/>
                  <a:ea typeface="Times New Roman"/>
                  <a:cs typeface="Times New Roman"/>
                </a:defRPr>
              </a:pPr>
              <a:endParaRPr lang="ja-JP"/>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Times New Roman"/>
                <a:ea typeface="Times New Roman"/>
                <a:cs typeface="Times New Roman"/>
              </a:defRPr>
            </a:pPr>
            <a:endParaRPr lang="ja-JP"/>
          </a:p>
        </c:txPr>
        <c:crossAx val="2107830728"/>
        <c:crosses val="autoZero"/>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solidFill>
    <a:ln w="9525" cap="flat" cmpd="sng" algn="ctr">
      <a:solidFill>
        <a:schemeClr val="tx1">
          <a:lumMod val="15000"/>
          <a:lumOff val="85000"/>
        </a:schemeClr>
      </a:solidFill>
      <a:round/>
    </a:ln>
    <a:effectLst/>
  </c:spPr>
  <c:txPr>
    <a:bodyPr/>
    <a:lstStyle/>
    <a:p>
      <a:pPr>
        <a:defRPr sz="800"/>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2B8215-61F6-4779-8E2D-F03E765AB833}" type="doc">
      <dgm:prSet loTypeId="urn:microsoft.com/office/officeart/2009/layout/CircleArrowProcess" loCatId="cycle" qsTypeId="urn:microsoft.com/office/officeart/2005/8/quickstyle/simple1#1" qsCatId="simple" csTypeId="urn:microsoft.com/office/officeart/2005/8/colors/accent1_2#3" csCatId="accent1" phldr="1"/>
      <dgm:spPr/>
      <dgm:t>
        <a:bodyPr/>
        <a:lstStyle/>
        <a:p>
          <a:endParaRPr lang="en-US"/>
        </a:p>
      </dgm:t>
    </dgm:pt>
    <dgm:pt modelId="{2726C46C-B23E-4C72-8BBF-BDE2B954A315}">
      <dgm:prSet phldrT="[Text]" custT="1"/>
      <dgm:spPr/>
      <dgm:t>
        <a:bodyPr/>
        <a:lstStyle/>
        <a:p>
          <a:r>
            <a:rPr lang="en-US" sz="1600" b="1" dirty="0" err="1">
              <a:latin typeface="Times New Roman" panose="02020603050405020304" pitchFamily="18" charset="0"/>
              <a:cs typeface="Times New Roman" panose="02020603050405020304" pitchFamily="18" charset="0"/>
            </a:rPr>
            <a:t>Đánh</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giá</a:t>
          </a:r>
          <a:endParaRPr lang="en-US" sz="1600" b="1" dirty="0">
            <a:latin typeface="Times New Roman" panose="02020603050405020304" pitchFamily="18" charset="0"/>
            <a:cs typeface="Times New Roman" panose="02020603050405020304" pitchFamily="18" charset="0"/>
          </a:endParaRPr>
        </a:p>
      </dgm:t>
    </dgm:pt>
    <dgm:pt modelId="{69565AF3-9F54-45B4-A504-C3D3548E7479}" type="parTrans" cxnId="{9C04FA00-154F-4B65-BB01-5868F91C9F7E}">
      <dgm:prSet/>
      <dgm:spPr/>
      <dgm:t>
        <a:bodyPr/>
        <a:lstStyle/>
        <a:p>
          <a:endParaRPr lang="en-US"/>
        </a:p>
      </dgm:t>
    </dgm:pt>
    <dgm:pt modelId="{336D9D16-346E-4018-9F96-A41EA24D7089}" type="sibTrans" cxnId="{9C04FA00-154F-4B65-BB01-5868F91C9F7E}">
      <dgm:prSet/>
      <dgm:spPr/>
      <dgm:t>
        <a:bodyPr/>
        <a:lstStyle/>
        <a:p>
          <a:endParaRPr lang="en-US"/>
        </a:p>
      </dgm:t>
    </dgm:pt>
    <dgm:pt modelId="{D37FBD71-3B6D-43BA-8C52-18B9BEA1ADCF}">
      <dgm:prSet phldrT="[Text]" custT="1"/>
      <dgm:spPr/>
      <dgm:t>
        <a:bodyPr/>
        <a:lstStyle/>
        <a:p>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endParaRPr lang="en-US" sz="1600" b="1" dirty="0">
            <a:latin typeface="Times New Roman" panose="02020603050405020304" pitchFamily="18" charset="0"/>
            <a:cs typeface="Times New Roman" panose="02020603050405020304" pitchFamily="18" charset="0"/>
          </a:endParaRPr>
        </a:p>
      </dgm:t>
    </dgm:pt>
    <dgm:pt modelId="{84A420FC-BFA0-4AF2-9233-C5C78DFE31F3}" type="parTrans" cxnId="{E7680DF3-9636-43BB-9EBA-048BB6105637}">
      <dgm:prSet/>
      <dgm:spPr/>
      <dgm:t>
        <a:bodyPr/>
        <a:lstStyle/>
        <a:p>
          <a:endParaRPr lang="en-US"/>
        </a:p>
      </dgm:t>
    </dgm:pt>
    <dgm:pt modelId="{14A8038C-98D9-420C-B961-098CB79B543D}" type="sibTrans" cxnId="{E7680DF3-9636-43BB-9EBA-048BB6105637}">
      <dgm:prSet/>
      <dgm:spPr/>
      <dgm:t>
        <a:bodyPr/>
        <a:lstStyle/>
        <a:p>
          <a:endParaRPr lang="en-US"/>
        </a:p>
      </dgm:t>
    </dgm:pt>
    <dgm:pt modelId="{BF3F26AE-4C8F-4E6F-BCAB-4378EA8158BB}">
      <dgm:prSet phldrT="[Text]" custT="1"/>
      <dgm:spPr/>
      <dgm:t>
        <a:bodyPr/>
        <a:lstStyle/>
        <a:p>
          <a:r>
            <a:rPr lang="en-US" sz="1600" b="1" dirty="0" err="1">
              <a:latin typeface="Times New Roman" panose="02020603050405020304" pitchFamily="18" charset="0"/>
              <a:cs typeface="Times New Roman" panose="02020603050405020304" pitchFamily="18" charset="0"/>
            </a:rPr>
            <a:t>Cập</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nhật</a:t>
          </a:r>
          <a:r>
            <a:rPr lang="en-US" sz="1600" b="1" dirty="0">
              <a:latin typeface="Times New Roman" panose="02020603050405020304" pitchFamily="18" charset="0"/>
              <a:cs typeface="Times New Roman" panose="02020603050405020304" pitchFamily="18" charset="0"/>
            </a:rPr>
            <a:t> </a:t>
          </a:r>
        </a:p>
      </dgm:t>
    </dgm:pt>
    <dgm:pt modelId="{FF4464A1-9C91-4D81-960B-E6BEF29882CA}" type="parTrans" cxnId="{C2F03B0A-FE14-48E6-8372-FDF6F245CCDA}">
      <dgm:prSet/>
      <dgm:spPr/>
      <dgm:t>
        <a:bodyPr/>
        <a:lstStyle/>
        <a:p>
          <a:endParaRPr lang="en-US"/>
        </a:p>
      </dgm:t>
    </dgm:pt>
    <dgm:pt modelId="{295A726F-9CD7-48F6-9AC0-AA7960C1CBDE}" type="sibTrans" cxnId="{C2F03B0A-FE14-48E6-8372-FDF6F245CCDA}">
      <dgm:prSet/>
      <dgm:spPr/>
      <dgm:t>
        <a:bodyPr/>
        <a:lstStyle/>
        <a:p>
          <a:endParaRPr lang="en-US"/>
        </a:p>
      </dgm:t>
    </dgm:pt>
    <dgm:pt modelId="{E18EEB20-974E-43D6-9377-32835EC7F0AC}" type="pres">
      <dgm:prSet presAssocID="{122B8215-61F6-4779-8E2D-F03E765AB833}" presName="Name0" presStyleCnt="0">
        <dgm:presLayoutVars>
          <dgm:chMax val="7"/>
          <dgm:chPref val="7"/>
          <dgm:dir/>
          <dgm:animLvl val="lvl"/>
        </dgm:presLayoutVars>
      </dgm:prSet>
      <dgm:spPr/>
    </dgm:pt>
    <dgm:pt modelId="{E775BE5D-0982-4967-8FDC-37A35C2CF26F}" type="pres">
      <dgm:prSet presAssocID="{2726C46C-B23E-4C72-8BBF-BDE2B954A315}" presName="Accent1" presStyleCnt="0"/>
      <dgm:spPr/>
    </dgm:pt>
    <dgm:pt modelId="{F8A6B689-F8BC-4DEF-A343-F998C06C1D34}" type="pres">
      <dgm:prSet presAssocID="{2726C46C-B23E-4C72-8BBF-BDE2B954A315}" presName="Accent" presStyleLbl="node1" presStyleIdx="0" presStyleCnt="3" custLinFactX="-30887" custLinFactNeighborX="-100000" custLinFactNeighborY="1807"/>
      <dgm:spPr>
        <a:solidFill>
          <a:srgbClr val="D7C9EF"/>
        </a:solidFill>
      </dgm:spPr>
    </dgm:pt>
    <dgm:pt modelId="{8B8294E7-F48F-483E-80B3-41B94418B7B0}" type="pres">
      <dgm:prSet presAssocID="{2726C46C-B23E-4C72-8BBF-BDE2B954A315}" presName="Parent1" presStyleLbl="revTx" presStyleIdx="0" presStyleCnt="3" custLinFactX="-100000" custLinFactNeighborX="-130083" custLinFactNeighborY="-18980">
        <dgm:presLayoutVars>
          <dgm:chMax val="1"/>
          <dgm:chPref val="1"/>
          <dgm:bulletEnabled val="1"/>
        </dgm:presLayoutVars>
      </dgm:prSet>
      <dgm:spPr/>
    </dgm:pt>
    <dgm:pt modelId="{86F19974-09CC-4F95-93BF-28707B0C634A}" type="pres">
      <dgm:prSet presAssocID="{D37FBD71-3B6D-43BA-8C52-18B9BEA1ADCF}" presName="Accent2" presStyleCnt="0"/>
      <dgm:spPr/>
    </dgm:pt>
    <dgm:pt modelId="{548723D0-5C40-4EC2-9755-7A26604159A8}" type="pres">
      <dgm:prSet presAssocID="{D37FBD71-3B6D-43BA-8C52-18B9BEA1ADCF}" presName="Accent" presStyleLbl="node1" presStyleIdx="1" presStyleCnt="3" custLinFactX="-26841" custLinFactNeighborX="-100000" custLinFactNeighborY="-2744"/>
      <dgm:spPr>
        <a:solidFill>
          <a:schemeClr val="accent4">
            <a:lumMod val="60000"/>
            <a:lumOff val="40000"/>
          </a:schemeClr>
        </a:solidFill>
      </dgm:spPr>
    </dgm:pt>
    <dgm:pt modelId="{8D9B6524-52F4-4714-87C6-1AB427C154B3}" type="pres">
      <dgm:prSet presAssocID="{D37FBD71-3B6D-43BA-8C52-18B9BEA1ADCF}" presName="Parent2" presStyleLbl="revTx" presStyleIdx="1" presStyleCnt="3" custLinFactX="-100000" custLinFactNeighborX="-131899" custLinFactNeighborY="-33572">
        <dgm:presLayoutVars>
          <dgm:chMax val="1"/>
          <dgm:chPref val="1"/>
          <dgm:bulletEnabled val="1"/>
        </dgm:presLayoutVars>
      </dgm:prSet>
      <dgm:spPr/>
    </dgm:pt>
    <dgm:pt modelId="{78AD227C-6C4F-4CCC-9419-5A6FB18CA370}" type="pres">
      <dgm:prSet presAssocID="{BF3F26AE-4C8F-4E6F-BCAB-4378EA8158BB}" presName="Accent3" presStyleCnt="0"/>
      <dgm:spPr/>
    </dgm:pt>
    <dgm:pt modelId="{2D4FEFFF-9CF4-4D12-A576-8613B20C9832}" type="pres">
      <dgm:prSet presAssocID="{BF3F26AE-4C8F-4E6F-BCAB-4378EA8158BB}" presName="Accent" presStyleLbl="node1" presStyleIdx="2" presStyleCnt="3" custLinFactX="-52932" custLinFactNeighborX="-100000" custLinFactNeighborY="-9076"/>
      <dgm:spPr>
        <a:solidFill>
          <a:srgbClr val="00B0F0"/>
        </a:solidFill>
      </dgm:spPr>
    </dgm:pt>
    <dgm:pt modelId="{7F22381C-5E0D-4D1F-80A4-2EB1583BE271}" type="pres">
      <dgm:prSet presAssocID="{BF3F26AE-4C8F-4E6F-BCAB-4378EA8158BB}" presName="Parent3" presStyleLbl="revTx" presStyleIdx="2" presStyleCnt="3" custLinFactX="-100000" custLinFactNeighborX="-130249" custLinFactNeighborY="-33589">
        <dgm:presLayoutVars>
          <dgm:chMax val="1"/>
          <dgm:chPref val="1"/>
          <dgm:bulletEnabled val="1"/>
        </dgm:presLayoutVars>
      </dgm:prSet>
      <dgm:spPr/>
    </dgm:pt>
  </dgm:ptLst>
  <dgm:cxnLst>
    <dgm:cxn modelId="{9C04FA00-154F-4B65-BB01-5868F91C9F7E}" srcId="{122B8215-61F6-4779-8E2D-F03E765AB833}" destId="{2726C46C-B23E-4C72-8BBF-BDE2B954A315}" srcOrd="0" destOrd="0" parTransId="{69565AF3-9F54-45B4-A504-C3D3548E7479}" sibTransId="{336D9D16-346E-4018-9F96-A41EA24D7089}"/>
    <dgm:cxn modelId="{FE556A04-E69A-40D3-AC0D-81D3347B10E5}" type="presOf" srcId="{2726C46C-B23E-4C72-8BBF-BDE2B954A315}" destId="{8B8294E7-F48F-483E-80B3-41B94418B7B0}" srcOrd="0" destOrd="0" presId="urn:microsoft.com/office/officeart/2009/layout/CircleArrowProcess"/>
    <dgm:cxn modelId="{C2F03B0A-FE14-48E6-8372-FDF6F245CCDA}" srcId="{122B8215-61F6-4779-8E2D-F03E765AB833}" destId="{BF3F26AE-4C8F-4E6F-BCAB-4378EA8158BB}" srcOrd="2" destOrd="0" parTransId="{FF4464A1-9C91-4D81-960B-E6BEF29882CA}" sibTransId="{295A726F-9CD7-48F6-9AC0-AA7960C1CBDE}"/>
    <dgm:cxn modelId="{2918243B-FCC0-441F-B4F7-2C1A6CB11984}" type="presOf" srcId="{BF3F26AE-4C8F-4E6F-BCAB-4378EA8158BB}" destId="{7F22381C-5E0D-4D1F-80A4-2EB1583BE271}" srcOrd="0" destOrd="0" presId="urn:microsoft.com/office/officeart/2009/layout/CircleArrowProcess"/>
    <dgm:cxn modelId="{D1AD9DD4-041C-4EF1-864E-EFC7492E4DE8}" type="presOf" srcId="{D37FBD71-3B6D-43BA-8C52-18B9BEA1ADCF}" destId="{8D9B6524-52F4-4714-87C6-1AB427C154B3}" srcOrd="0" destOrd="0" presId="urn:microsoft.com/office/officeart/2009/layout/CircleArrowProcess"/>
    <dgm:cxn modelId="{E95AF2EE-9A7F-4BE0-A4C3-C50E8D8AB847}" type="presOf" srcId="{122B8215-61F6-4779-8E2D-F03E765AB833}" destId="{E18EEB20-974E-43D6-9377-32835EC7F0AC}" srcOrd="0" destOrd="0" presId="urn:microsoft.com/office/officeart/2009/layout/CircleArrowProcess"/>
    <dgm:cxn modelId="{E7680DF3-9636-43BB-9EBA-048BB6105637}" srcId="{122B8215-61F6-4779-8E2D-F03E765AB833}" destId="{D37FBD71-3B6D-43BA-8C52-18B9BEA1ADCF}" srcOrd="1" destOrd="0" parTransId="{84A420FC-BFA0-4AF2-9233-C5C78DFE31F3}" sibTransId="{14A8038C-98D9-420C-B961-098CB79B543D}"/>
    <dgm:cxn modelId="{6A6B9451-7DD8-45A6-9534-427C6B826DD2}" type="presParOf" srcId="{E18EEB20-974E-43D6-9377-32835EC7F0AC}" destId="{E775BE5D-0982-4967-8FDC-37A35C2CF26F}" srcOrd="0" destOrd="0" presId="urn:microsoft.com/office/officeart/2009/layout/CircleArrowProcess"/>
    <dgm:cxn modelId="{857C4B5D-4F56-4841-AA29-B47FDAF93332}" type="presParOf" srcId="{E775BE5D-0982-4967-8FDC-37A35C2CF26F}" destId="{F8A6B689-F8BC-4DEF-A343-F998C06C1D34}" srcOrd="0" destOrd="0" presId="urn:microsoft.com/office/officeart/2009/layout/CircleArrowProcess"/>
    <dgm:cxn modelId="{C8CA27A2-8631-4F7B-8954-9DE7E8DB803B}" type="presParOf" srcId="{E18EEB20-974E-43D6-9377-32835EC7F0AC}" destId="{8B8294E7-F48F-483E-80B3-41B94418B7B0}" srcOrd="1" destOrd="0" presId="urn:microsoft.com/office/officeart/2009/layout/CircleArrowProcess"/>
    <dgm:cxn modelId="{ED993477-C476-4AC8-94CD-FA68DD65EB71}" type="presParOf" srcId="{E18EEB20-974E-43D6-9377-32835EC7F0AC}" destId="{86F19974-09CC-4F95-93BF-28707B0C634A}" srcOrd="2" destOrd="0" presId="urn:microsoft.com/office/officeart/2009/layout/CircleArrowProcess"/>
    <dgm:cxn modelId="{E347946D-BFDD-41FA-894F-D80FF4364006}" type="presParOf" srcId="{86F19974-09CC-4F95-93BF-28707B0C634A}" destId="{548723D0-5C40-4EC2-9755-7A26604159A8}" srcOrd="0" destOrd="0" presId="urn:microsoft.com/office/officeart/2009/layout/CircleArrowProcess"/>
    <dgm:cxn modelId="{1F1B1A04-3ABA-4CFD-B79A-A061FE006DCC}" type="presParOf" srcId="{E18EEB20-974E-43D6-9377-32835EC7F0AC}" destId="{8D9B6524-52F4-4714-87C6-1AB427C154B3}" srcOrd="3" destOrd="0" presId="urn:microsoft.com/office/officeart/2009/layout/CircleArrowProcess"/>
    <dgm:cxn modelId="{FFF62D6D-9932-4F1B-9F03-09CC057FEA6D}" type="presParOf" srcId="{E18EEB20-974E-43D6-9377-32835EC7F0AC}" destId="{78AD227C-6C4F-4CCC-9419-5A6FB18CA370}" srcOrd="4" destOrd="0" presId="urn:microsoft.com/office/officeart/2009/layout/CircleArrowProcess"/>
    <dgm:cxn modelId="{7D17FCD5-8CC9-4A0A-8FCA-C9954BE6446B}" type="presParOf" srcId="{78AD227C-6C4F-4CCC-9419-5A6FB18CA370}" destId="{2D4FEFFF-9CF4-4D12-A576-8613B20C9832}" srcOrd="0" destOrd="0" presId="urn:microsoft.com/office/officeart/2009/layout/CircleArrowProcess"/>
    <dgm:cxn modelId="{9C4CB06E-384C-46C9-AA84-D4407C8D4A68}" type="presParOf" srcId="{E18EEB20-974E-43D6-9377-32835EC7F0AC}" destId="{7F22381C-5E0D-4D1F-80A4-2EB1583BE271}" srcOrd="5"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A6B689-F8BC-4DEF-A343-F998C06C1D34}">
      <dsp:nvSpPr>
        <dsp:cNvPr id="0" name=""/>
        <dsp:cNvSpPr/>
      </dsp:nvSpPr>
      <dsp:spPr>
        <a:xfrm>
          <a:off x="429793" y="44137"/>
          <a:ext cx="2442239" cy="2442611"/>
        </a:xfrm>
        <a:prstGeom prst="circularArrow">
          <a:avLst>
            <a:gd name="adj1" fmla="val 10980"/>
            <a:gd name="adj2" fmla="val 1142322"/>
            <a:gd name="adj3" fmla="val 4500000"/>
            <a:gd name="adj4" fmla="val 10800000"/>
            <a:gd name="adj5" fmla="val 12500"/>
          </a:avLst>
        </a:prstGeom>
        <a:solidFill>
          <a:srgbClr val="D7C9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8294E7-F48F-483E-80B3-41B94418B7B0}">
      <dsp:nvSpPr>
        <dsp:cNvPr id="0" name=""/>
        <dsp:cNvSpPr/>
      </dsp:nvSpPr>
      <dsp:spPr>
        <a:xfrm>
          <a:off x="1043713" y="753098"/>
          <a:ext cx="1357105" cy="6783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err="1">
              <a:latin typeface="Times New Roman" panose="02020603050405020304" pitchFamily="18" charset="0"/>
              <a:cs typeface="Times New Roman" panose="02020603050405020304" pitchFamily="18" charset="0"/>
            </a:rPr>
            <a:t>Đánh</a:t>
          </a:r>
          <a:r>
            <a:rPr lang="en-US" sz="1600" b="1" kern="1200" dirty="0">
              <a:latin typeface="Times New Roman" panose="02020603050405020304" pitchFamily="18" charset="0"/>
              <a:cs typeface="Times New Roman" panose="02020603050405020304" pitchFamily="18" charset="0"/>
            </a:rPr>
            <a:t> </a:t>
          </a:r>
          <a:r>
            <a:rPr lang="en-US" sz="1600" b="1" kern="1200" dirty="0" err="1">
              <a:latin typeface="Times New Roman" panose="02020603050405020304" pitchFamily="18" charset="0"/>
              <a:cs typeface="Times New Roman" panose="02020603050405020304" pitchFamily="18" charset="0"/>
            </a:rPr>
            <a:t>giá</a:t>
          </a:r>
          <a:endParaRPr lang="en-US" sz="1600" b="1" kern="1200" dirty="0">
            <a:latin typeface="Times New Roman" panose="02020603050405020304" pitchFamily="18" charset="0"/>
            <a:cs typeface="Times New Roman" panose="02020603050405020304" pitchFamily="18" charset="0"/>
          </a:endParaRPr>
        </a:p>
      </dsp:txBody>
      <dsp:txXfrm>
        <a:off x="1043713" y="753098"/>
        <a:ext cx="1357105" cy="678390"/>
      </dsp:txXfrm>
    </dsp:sp>
    <dsp:sp modelId="{548723D0-5C40-4EC2-9755-7A26604159A8}">
      <dsp:nvSpPr>
        <dsp:cNvPr id="0" name=""/>
        <dsp:cNvSpPr/>
      </dsp:nvSpPr>
      <dsp:spPr>
        <a:xfrm>
          <a:off x="-149717" y="1336436"/>
          <a:ext cx="2442239" cy="2442611"/>
        </a:xfrm>
        <a:prstGeom prst="leftCircularArrow">
          <a:avLst>
            <a:gd name="adj1" fmla="val 10980"/>
            <a:gd name="adj2" fmla="val 1142322"/>
            <a:gd name="adj3" fmla="val 6300000"/>
            <a:gd name="adj4" fmla="val 18900000"/>
            <a:gd name="adj5" fmla="val 12500"/>
          </a:avLst>
        </a:prstGeom>
        <a:solidFill>
          <a:schemeClr val="accent4">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9B6524-52F4-4714-87C6-1AB427C154B3}">
      <dsp:nvSpPr>
        <dsp:cNvPr id="0" name=""/>
        <dsp:cNvSpPr/>
      </dsp:nvSpPr>
      <dsp:spPr>
        <a:xfrm>
          <a:off x="343496" y="2065687"/>
          <a:ext cx="1357105" cy="6783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err="1">
              <a:latin typeface="Times New Roman" panose="02020603050405020304" pitchFamily="18" charset="0"/>
              <a:cs typeface="Times New Roman" panose="02020603050405020304" pitchFamily="18" charset="0"/>
            </a:rPr>
            <a:t>Kiểm</a:t>
          </a:r>
          <a:r>
            <a:rPr lang="en-US" sz="1600" b="1" kern="1200" dirty="0">
              <a:latin typeface="Times New Roman" panose="02020603050405020304" pitchFamily="18" charset="0"/>
              <a:cs typeface="Times New Roman" panose="02020603050405020304" pitchFamily="18" charset="0"/>
            </a:rPr>
            <a:t> </a:t>
          </a:r>
          <a:r>
            <a:rPr lang="en-US" sz="1600" b="1" kern="1200" dirty="0" err="1">
              <a:latin typeface="Times New Roman" panose="02020603050405020304" pitchFamily="18" charset="0"/>
              <a:cs typeface="Times New Roman" panose="02020603050405020304" pitchFamily="18" charset="0"/>
            </a:rPr>
            <a:t>tra</a:t>
          </a:r>
          <a:endParaRPr lang="en-US" sz="1600" b="1" kern="1200" dirty="0">
            <a:latin typeface="Times New Roman" panose="02020603050405020304" pitchFamily="18" charset="0"/>
            <a:cs typeface="Times New Roman" panose="02020603050405020304" pitchFamily="18" charset="0"/>
          </a:endParaRPr>
        </a:p>
      </dsp:txBody>
      <dsp:txXfrm>
        <a:off x="343496" y="2065687"/>
        <a:ext cx="1357105" cy="678390"/>
      </dsp:txXfrm>
    </dsp:sp>
    <dsp:sp modelId="{2D4FEFFF-9CF4-4D12-A576-8613B20C9832}">
      <dsp:nvSpPr>
        <dsp:cNvPr id="0" name=""/>
        <dsp:cNvSpPr/>
      </dsp:nvSpPr>
      <dsp:spPr>
        <a:xfrm>
          <a:off x="591276" y="2784356"/>
          <a:ext cx="2098262" cy="2099103"/>
        </a:xfrm>
        <a:prstGeom prst="blockArc">
          <a:avLst>
            <a:gd name="adj1" fmla="val 13500000"/>
            <a:gd name="adj2" fmla="val 10800000"/>
            <a:gd name="adj3" fmla="val 1274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22381C-5E0D-4D1F-80A4-2EB1583BE271}">
      <dsp:nvSpPr>
        <dsp:cNvPr id="0" name=""/>
        <dsp:cNvSpPr/>
      </dsp:nvSpPr>
      <dsp:spPr>
        <a:xfrm>
          <a:off x="1044671" y="3479181"/>
          <a:ext cx="1357105" cy="6783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err="1">
              <a:latin typeface="Times New Roman" panose="02020603050405020304" pitchFamily="18" charset="0"/>
              <a:cs typeface="Times New Roman" panose="02020603050405020304" pitchFamily="18" charset="0"/>
            </a:rPr>
            <a:t>Cập</a:t>
          </a:r>
          <a:r>
            <a:rPr lang="en-US" sz="1600" b="1" kern="1200" dirty="0">
              <a:latin typeface="Times New Roman" panose="02020603050405020304" pitchFamily="18" charset="0"/>
              <a:cs typeface="Times New Roman" panose="02020603050405020304" pitchFamily="18" charset="0"/>
            </a:rPr>
            <a:t> </a:t>
          </a:r>
          <a:r>
            <a:rPr lang="en-US" sz="1600" b="1" kern="1200" dirty="0" err="1">
              <a:latin typeface="Times New Roman" panose="02020603050405020304" pitchFamily="18" charset="0"/>
              <a:cs typeface="Times New Roman" panose="02020603050405020304" pitchFamily="18" charset="0"/>
            </a:rPr>
            <a:t>nhật</a:t>
          </a:r>
          <a:r>
            <a:rPr lang="en-US" sz="1600" b="1" kern="1200" dirty="0">
              <a:latin typeface="Times New Roman" panose="02020603050405020304" pitchFamily="18" charset="0"/>
              <a:cs typeface="Times New Roman" panose="02020603050405020304" pitchFamily="18" charset="0"/>
            </a:rPr>
            <a:t> </a:t>
          </a:r>
        </a:p>
      </dsp:txBody>
      <dsp:txXfrm>
        <a:off x="1044671" y="3479181"/>
        <a:ext cx="1357105" cy="678390"/>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30" tIns="45716" rIns="91430" bIns="45716"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49689" y="0"/>
            <a:ext cx="2946400" cy="496888"/>
          </a:xfrm>
          <a:prstGeom prst="rect">
            <a:avLst/>
          </a:prstGeom>
        </p:spPr>
        <p:txBody>
          <a:bodyPr vert="horz" lIns="91430" tIns="45716" rIns="91430" bIns="45716" rtlCol="0"/>
          <a:lstStyle>
            <a:lvl1pPr algn="r">
              <a:defRPr sz="1200"/>
            </a:lvl1pPr>
          </a:lstStyle>
          <a:p>
            <a:fld id="{D5CF7B6E-06F8-4EA4-9972-29E59E3DA8F7}" type="datetimeFigureOut">
              <a:rPr kumimoji="1" lang="ja-JP" altLang="en-US" smtClean="0"/>
              <a:t>2026/9/4</a:t>
            </a:fld>
            <a:endParaRPr kumimoji="1" lang="ja-JP" altLang="en-US"/>
          </a:p>
        </p:txBody>
      </p:sp>
      <p:sp>
        <p:nvSpPr>
          <p:cNvPr id="4" name="フッター プレースホルダー 3"/>
          <p:cNvSpPr>
            <a:spLocks noGrp="1"/>
          </p:cNvSpPr>
          <p:nvPr>
            <p:ph type="ftr" sz="quarter" idx="2"/>
          </p:nvPr>
        </p:nvSpPr>
        <p:spPr>
          <a:xfrm>
            <a:off x="0" y="9429751"/>
            <a:ext cx="2946400" cy="496888"/>
          </a:xfrm>
          <a:prstGeom prst="rect">
            <a:avLst/>
          </a:prstGeom>
        </p:spPr>
        <p:txBody>
          <a:bodyPr vert="horz" lIns="91430" tIns="45716" rIns="91430" bIns="45716"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49689" y="9429751"/>
            <a:ext cx="2946400" cy="496888"/>
          </a:xfrm>
          <a:prstGeom prst="rect">
            <a:avLst/>
          </a:prstGeom>
        </p:spPr>
        <p:txBody>
          <a:bodyPr vert="horz" lIns="91430" tIns="45716" rIns="91430" bIns="45716" rtlCol="0" anchor="b"/>
          <a:lstStyle>
            <a:lvl1pPr algn="r">
              <a:defRPr sz="1200"/>
            </a:lvl1pPr>
          </a:lstStyle>
          <a:p>
            <a:fld id="{CAB48240-D91F-4129-BF79-2A71E83D0D37}" type="slidenum">
              <a:rPr kumimoji="1" lang="ja-JP" altLang="en-US" smtClean="0"/>
              <a:t>‹#›</a:t>
            </a:fld>
            <a:endParaRPr kumimoji="1" lang="ja-JP" altLang="en-US"/>
          </a:p>
        </p:txBody>
      </p:sp>
    </p:spTree>
    <p:extLst>
      <p:ext uri="{BB962C8B-B14F-4D97-AF65-F5344CB8AC3E}">
        <p14:creationId xmlns:p14="http://schemas.microsoft.com/office/powerpoint/2010/main" val="2957974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30" tIns="45716" rIns="91430" bIns="45716"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9689" y="0"/>
            <a:ext cx="2946400" cy="496888"/>
          </a:xfrm>
          <a:prstGeom prst="rect">
            <a:avLst/>
          </a:prstGeom>
        </p:spPr>
        <p:txBody>
          <a:bodyPr vert="horz" lIns="91430" tIns="45716" rIns="91430" bIns="45716" rtlCol="0"/>
          <a:lstStyle>
            <a:lvl1pPr algn="r">
              <a:defRPr sz="1200"/>
            </a:lvl1pPr>
          </a:lstStyle>
          <a:p>
            <a:fld id="{FE9E4F50-57D5-4638-8961-5783F5566392}" type="datetimeFigureOut">
              <a:rPr kumimoji="1" lang="ja-JP" altLang="en-US" smtClean="0"/>
              <a:t>2026/9/4</a:t>
            </a:fld>
            <a:endParaRPr kumimoji="1"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30" tIns="45716" rIns="91430" bIns="45716" rtlCol="0" anchor="ctr"/>
          <a:lstStyle/>
          <a:p>
            <a:endParaRPr lang="ja-JP" altLang="en-US"/>
          </a:p>
        </p:txBody>
      </p:sp>
      <p:sp>
        <p:nvSpPr>
          <p:cNvPr id="5" name="ノート プレースホルダー 4"/>
          <p:cNvSpPr>
            <a:spLocks noGrp="1"/>
          </p:cNvSpPr>
          <p:nvPr>
            <p:ph type="body" sz="quarter" idx="3"/>
          </p:nvPr>
        </p:nvSpPr>
        <p:spPr>
          <a:xfrm>
            <a:off x="679451" y="4776788"/>
            <a:ext cx="5438775" cy="3908425"/>
          </a:xfrm>
          <a:prstGeom prst="rect">
            <a:avLst/>
          </a:prstGeom>
        </p:spPr>
        <p:txBody>
          <a:bodyPr vert="horz" lIns="91430" tIns="45716" rIns="91430" bIns="45716"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9751"/>
            <a:ext cx="2946400" cy="496888"/>
          </a:xfrm>
          <a:prstGeom prst="rect">
            <a:avLst/>
          </a:prstGeom>
        </p:spPr>
        <p:txBody>
          <a:bodyPr vert="horz" lIns="91430" tIns="45716" rIns="91430" bIns="45716"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9689" y="9429751"/>
            <a:ext cx="2946400" cy="496888"/>
          </a:xfrm>
          <a:prstGeom prst="rect">
            <a:avLst/>
          </a:prstGeom>
        </p:spPr>
        <p:txBody>
          <a:bodyPr vert="horz" lIns="91430" tIns="45716" rIns="91430" bIns="45716" rtlCol="0" anchor="b"/>
          <a:lstStyle>
            <a:lvl1pPr algn="r">
              <a:defRPr sz="1200"/>
            </a:lvl1pPr>
          </a:lstStyle>
          <a:p>
            <a:fld id="{0E1B736C-7E22-4286-9492-6D135922483F}" type="slidenum">
              <a:rPr kumimoji="1" lang="ja-JP" altLang="en-US" smtClean="0"/>
              <a:t>‹#›</a:t>
            </a:fld>
            <a:endParaRPr kumimoji="1" lang="ja-JP" altLang="en-US"/>
          </a:p>
        </p:txBody>
      </p:sp>
    </p:spTree>
    <p:extLst>
      <p:ext uri="{BB962C8B-B14F-4D97-AF65-F5344CB8AC3E}">
        <p14:creationId xmlns:p14="http://schemas.microsoft.com/office/powerpoint/2010/main" val="281029248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err="1"/>
              <a:t>Lời</a:t>
            </a:r>
            <a:r>
              <a:t> </a:t>
            </a:r>
            <a:r>
              <a:rPr err="1"/>
              <a:t>thoại</a:t>
            </a:r>
            <a:r>
              <a:t> </a:t>
            </a:r>
            <a:r>
              <a:rPr err="1"/>
              <a:t>đề</a:t>
            </a:r>
            <a:r>
              <a:t> </a:t>
            </a:r>
            <a:r>
              <a:rPr err="1"/>
              <a:t>xuất</a:t>
            </a:r>
            <a:r>
              <a:t>:</a:t>
            </a:r>
          </a:p>
          <a:p>
            <a:endParaRPr/>
          </a:p>
          <a:p>
            <a:r>
              <a:t>Ở </a:t>
            </a:r>
            <a:r>
              <a:rPr err="1"/>
              <a:t>trang</a:t>
            </a:r>
            <a:r>
              <a:t> </a:t>
            </a:r>
            <a:r>
              <a:rPr err="1"/>
              <a:t>này</a:t>
            </a:r>
            <a:r>
              <a:t>, </a:t>
            </a:r>
            <a:r>
              <a:rPr err="1"/>
              <a:t>nhóm</a:t>
            </a:r>
            <a:r>
              <a:t> </a:t>
            </a:r>
            <a:r>
              <a:rPr err="1"/>
              <a:t>đã</a:t>
            </a:r>
            <a:r>
              <a:t> </a:t>
            </a:r>
            <a:r>
              <a:rPr err="1"/>
              <a:t>tổng</a:t>
            </a:r>
            <a:r>
              <a:t> </a:t>
            </a:r>
            <a:r>
              <a:rPr err="1"/>
              <a:t>hợp</a:t>
            </a:r>
            <a:r>
              <a:t> </a:t>
            </a:r>
            <a:r>
              <a:rPr err="1"/>
              <a:t>và</a:t>
            </a:r>
            <a:r>
              <a:t> so </a:t>
            </a:r>
            <a:r>
              <a:rPr err="1"/>
              <a:t>sánh</a:t>
            </a:r>
            <a:r>
              <a:t> </a:t>
            </a:r>
            <a:r>
              <a:rPr err="1"/>
              <a:t>tỷ</a:t>
            </a:r>
            <a:r>
              <a:t> </a:t>
            </a:r>
            <a:r>
              <a:rPr err="1"/>
              <a:t>lệ</a:t>
            </a:r>
            <a:r>
              <a:t> NG </a:t>
            </a:r>
            <a:r>
              <a:rPr err="1"/>
              <a:t>của</a:t>
            </a:r>
            <a:r>
              <a:t> </a:t>
            </a:r>
            <a:r>
              <a:rPr err="1"/>
              <a:t>toàn</a:t>
            </a:r>
            <a:r>
              <a:t> </a:t>
            </a:r>
            <a:r>
              <a:rPr err="1"/>
              <a:t>bộ</a:t>
            </a:r>
            <a:r>
              <a:t> </a:t>
            </a:r>
            <a:r>
              <a:rPr err="1"/>
              <a:t>các</a:t>
            </a:r>
            <a:r>
              <a:t> JIG </a:t>
            </a:r>
            <a:r>
              <a:rPr err="1"/>
              <a:t>điều</a:t>
            </a:r>
            <a:r>
              <a:t> </a:t>
            </a:r>
            <a:r>
              <a:rPr err="1"/>
              <a:t>chỉnh</a:t>
            </a:r>
            <a:r>
              <a:t> </a:t>
            </a:r>
            <a:r>
              <a:rPr err="1"/>
              <a:t>trong</a:t>
            </a:r>
            <a:r>
              <a:t> </a:t>
            </a:r>
            <a:r>
              <a:rPr err="1"/>
              <a:t>giai</a:t>
            </a:r>
            <a:r>
              <a:t> </a:t>
            </a:r>
            <a:r>
              <a:rPr err="1"/>
              <a:t>đoạn</a:t>
            </a:r>
            <a:r>
              <a:t> </a:t>
            </a:r>
            <a:r>
              <a:rPr err="1"/>
              <a:t>từ</a:t>
            </a:r>
            <a:r>
              <a:t> </a:t>
            </a:r>
            <a:r>
              <a:rPr err="1"/>
              <a:t>tháng</a:t>
            </a:r>
            <a:r>
              <a:t> 11/2025 </a:t>
            </a:r>
            <a:r>
              <a:rPr err="1"/>
              <a:t>đến</a:t>
            </a:r>
            <a:r>
              <a:t> </a:t>
            </a:r>
            <a:r>
              <a:rPr err="1"/>
              <a:t>tháng</a:t>
            </a:r>
            <a:r>
              <a:t> 03/2026.</a:t>
            </a:r>
          </a:p>
          <a:p>
            <a:endParaRPr/>
          </a:p>
          <a:p>
            <a:r>
              <a:rPr err="1"/>
              <a:t>Biểu</a:t>
            </a:r>
            <a:r>
              <a:t> </a:t>
            </a:r>
            <a:r>
              <a:rPr err="1"/>
              <a:t>đồ</a:t>
            </a:r>
            <a:r>
              <a:t> </a:t>
            </a:r>
            <a:r>
              <a:rPr err="1"/>
              <a:t>bên</a:t>
            </a:r>
            <a:r>
              <a:t> </a:t>
            </a:r>
            <a:r>
              <a:rPr err="1"/>
              <a:t>trái</a:t>
            </a:r>
            <a:r>
              <a:t> </a:t>
            </a:r>
            <a:r>
              <a:rPr err="1"/>
              <a:t>cho</a:t>
            </a:r>
            <a:r>
              <a:t> </a:t>
            </a:r>
            <a:r>
              <a:rPr err="1"/>
              <a:t>thấy</a:t>
            </a:r>
            <a:r>
              <a:t> </a:t>
            </a:r>
            <a:r>
              <a:rPr err="1"/>
              <a:t>tỷ</a:t>
            </a:r>
            <a:r>
              <a:t> </a:t>
            </a:r>
            <a:r>
              <a:rPr err="1"/>
              <a:t>lệ</a:t>
            </a:r>
            <a:r>
              <a:t> NG </a:t>
            </a:r>
            <a:r>
              <a:rPr err="1"/>
              <a:t>của</a:t>
            </a:r>
            <a:r>
              <a:t> 11 JIG </a:t>
            </a:r>
            <a:r>
              <a:rPr err="1"/>
              <a:t>ngoài</a:t>
            </a:r>
            <a:r>
              <a:t> </a:t>
            </a:r>
            <a:r>
              <a:rPr err="1"/>
              <a:t>nhóm</a:t>
            </a:r>
            <a:r>
              <a:t> BEAM </a:t>
            </a:r>
            <a:r>
              <a:rPr err="1"/>
              <a:t>nhìn</a:t>
            </a:r>
            <a:r>
              <a:t> chung ở </a:t>
            </a:r>
            <a:r>
              <a:rPr err="1"/>
              <a:t>mức</a:t>
            </a:r>
            <a:r>
              <a:t> </a:t>
            </a:r>
            <a:r>
              <a:rPr err="1"/>
              <a:t>thấp</a:t>
            </a:r>
            <a:r>
              <a:t> </a:t>
            </a:r>
            <a:r>
              <a:rPr err="1"/>
              <a:t>và</a:t>
            </a:r>
            <a:r>
              <a:t> </a:t>
            </a:r>
            <a:r>
              <a:rPr err="1"/>
              <a:t>tương</a:t>
            </a:r>
            <a:r>
              <a:t> </a:t>
            </a:r>
            <a:r>
              <a:rPr err="1"/>
              <a:t>đối</a:t>
            </a:r>
            <a:r>
              <a:t> </a:t>
            </a:r>
            <a:r>
              <a:rPr err="1"/>
              <a:t>ổn</a:t>
            </a:r>
            <a:r>
              <a:t> </a:t>
            </a:r>
            <a:r>
              <a:rPr err="1"/>
              <a:t>định</a:t>
            </a:r>
            <a:r>
              <a:t>. </a:t>
            </a:r>
            <a:r>
              <a:rPr err="1"/>
              <a:t>Điểm</a:t>
            </a:r>
            <a:r>
              <a:t> </a:t>
            </a:r>
            <a:r>
              <a:rPr err="1"/>
              <a:t>cần</a:t>
            </a:r>
            <a:r>
              <a:t> </a:t>
            </a:r>
            <a:r>
              <a:rPr err="1"/>
              <a:t>đặc</a:t>
            </a:r>
            <a:r>
              <a:t> </a:t>
            </a:r>
            <a:r>
              <a:rPr err="1"/>
              <a:t>biệt</a:t>
            </a:r>
            <a:r>
              <a:t> </a:t>
            </a:r>
            <a:r>
              <a:rPr err="1"/>
              <a:t>lưu</a:t>
            </a:r>
            <a:r>
              <a:t> ý </a:t>
            </a:r>
            <a:r>
              <a:rPr err="1"/>
              <a:t>nằm</a:t>
            </a:r>
            <a:r>
              <a:t> ở </a:t>
            </a:r>
            <a:r>
              <a:rPr err="1"/>
              <a:t>nhóm</a:t>
            </a:r>
            <a:r>
              <a:t> JIG BEAM </a:t>
            </a:r>
            <a:r>
              <a:rPr err="1"/>
              <a:t>trên</a:t>
            </a:r>
            <a:r>
              <a:t> </a:t>
            </a:r>
            <a:r>
              <a:rPr err="1"/>
              <a:t>biểu</a:t>
            </a:r>
            <a:r>
              <a:t> </a:t>
            </a:r>
            <a:r>
              <a:rPr err="1"/>
              <a:t>đồ</a:t>
            </a:r>
            <a:r>
              <a:t> </a:t>
            </a:r>
            <a:r>
              <a:rPr err="1"/>
              <a:t>bên</a:t>
            </a:r>
            <a:r>
              <a:t> </a:t>
            </a:r>
            <a:r>
              <a:rPr err="1"/>
              <a:t>phải</a:t>
            </a:r>
            <a:r>
              <a:t>: </a:t>
            </a:r>
            <a:r>
              <a:rPr err="1"/>
              <a:t>các</a:t>
            </a:r>
            <a:r>
              <a:t> JIG </a:t>
            </a:r>
            <a:r>
              <a:rPr err="1"/>
              <a:t>thuộc</a:t>
            </a:r>
            <a:r>
              <a:t> Iris LSU </a:t>
            </a:r>
            <a:r>
              <a:rPr err="1"/>
              <a:t>duy</a:t>
            </a:r>
            <a:r>
              <a:t> </a:t>
            </a:r>
            <a:r>
              <a:rPr err="1"/>
              <a:t>trì</a:t>
            </a:r>
            <a:r>
              <a:t> </a:t>
            </a:r>
            <a:r>
              <a:rPr err="1"/>
              <a:t>tỷ</a:t>
            </a:r>
            <a:r>
              <a:t> </a:t>
            </a:r>
            <a:r>
              <a:rPr err="1"/>
              <a:t>lệ</a:t>
            </a:r>
            <a:r>
              <a:t> NG </a:t>
            </a:r>
            <a:r>
              <a:rPr err="1"/>
              <a:t>cao</a:t>
            </a:r>
            <a:r>
              <a:t> </a:t>
            </a:r>
            <a:r>
              <a:rPr err="1"/>
              <a:t>hơn</a:t>
            </a:r>
            <a:r>
              <a:t> </a:t>
            </a:r>
            <a:r>
              <a:rPr err="1"/>
              <a:t>rõ</a:t>
            </a:r>
            <a:r>
              <a:t> </a:t>
            </a:r>
            <a:r>
              <a:rPr err="1"/>
              <a:t>rệt</a:t>
            </a:r>
            <a:r>
              <a:t> so </a:t>
            </a:r>
            <a:r>
              <a:rPr err="1"/>
              <a:t>với</a:t>
            </a:r>
            <a:r>
              <a:t> </a:t>
            </a:r>
            <a:r>
              <a:rPr err="1"/>
              <a:t>các</a:t>
            </a:r>
            <a:r>
              <a:t> </a:t>
            </a:r>
            <a:r>
              <a:rPr err="1"/>
              <a:t>dòng</a:t>
            </a:r>
            <a:r>
              <a:t> </a:t>
            </a:r>
            <a:r>
              <a:rPr err="1"/>
              <a:t>máy</a:t>
            </a:r>
            <a:r>
              <a:t> </a:t>
            </a:r>
            <a:r>
              <a:rPr err="1"/>
              <a:t>còn</a:t>
            </a:r>
            <a:r>
              <a:t> </a:t>
            </a:r>
            <a:r>
              <a:rPr err="1"/>
              <a:t>lại</a:t>
            </a:r>
            <a:r>
              <a:t>.</a:t>
            </a:r>
          </a:p>
          <a:p>
            <a:endParaRPr/>
          </a:p>
          <a:p>
            <a:r>
              <a:rPr err="1"/>
              <a:t>Cụ</a:t>
            </a:r>
            <a:r>
              <a:t> </a:t>
            </a:r>
            <a:r>
              <a:rPr err="1"/>
              <a:t>thể</a:t>
            </a:r>
            <a:r>
              <a:t>, Iris Jig BOWSKEW 4 BEAM </a:t>
            </a:r>
            <a:r>
              <a:rPr err="1"/>
              <a:t>luôn</a:t>
            </a:r>
            <a:r>
              <a:t> </a:t>
            </a:r>
            <a:r>
              <a:rPr err="1"/>
              <a:t>đứng</a:t>
            </a:r>
            <a:r>
              <a:t> </a:t>
            </a:r>
            <a:r>
              <a:rPr err="1"/>
              <a:t>cao</a:t>
            </a:r>
            <a:r>
              <a:t> </a:t>
            </a:r>
            <a:r>
              <a:rPr err="1"/>
              <a:t>nhất</a:t>
            </a:r>
            <a:r>
              <a:t> </a:t>
            </a:r>
            <a:r>
              <a:rPr err="1"/>
              <a:t>và</a:t>
            </a:r>
            <a:r>
              <a:t> </a:t>
            </a:r>
            <a:r>
              <a:rPr err="1"/>
              <a:t>tăng</a:t>
            </a:r>
            <a:r>
              <a:t> </a:t>
            </a:r>
            <a:r>
              <a:rPr err="1"/>
              <a:t>từ</a:t>
            </a:r>
            <a:r>
              <a:t> 25,42% </a:t>
            </a:r>
            <a:r>
              <a:rPr err="1"/>
              <a:t>lên</a:t>
            </a:r>
            <a:r>
              <a:t> 49,49% </a:t>
            </a:r>
            <a:r>
              <a:rPr err="1"/>
              <a:t>vào</a:t>
            </a:r>
            <a:r>
              <a:t> </a:t>
            </a:r>
            <a:r>
              <a:rPr err="1"/>
              <a:t>tháng</a:t>
            </a:r>
            <a:r>
              <a:t> 03/2026. </a:t>
            </a:r>
            <a:r>
              <a:rPr err="1"/>
              <a:t>Tiếp</a:t>
            </a:r>
            <a:r>
              <a:t> </a:t>
            </a:r>
            <a:r>
              <a:rPr err="1"/>
              <a:t>theo</a:t>
            </a:r>
            <a:r>
              <a:t> </a:t>
            </a:r>
            <a:r>
              <a:rPr err="1"/>
              <a:t>là</a:t>
            </a:r>
            <a:r>
              <a:t> Iris Jig BOWSKEW 2 BEAM, </a:t>
            </a:r>
            <a:r>
              <a:rPr err="1"/>
              <a:t>đạt</a:t>
            </a:r>
            <a:r>
              <a:t> 25,04%, </a:t>
            </a:r>
            <a:r>
              <a:rPr err="1"/>
              <a:t>và</a:t>
            </a:r>
            <a:r>
              <a:t> Iris Jig BEAM 4 BEAM, </a:t>
            </a:r>
            <a:r>
              <a:rPr err="1"/>
              <a:t>đạt</a:t>
            </a:r>
            <a:r>
              <a:t> 20,56% </a:t>
            </a:r>
            <a:r>
              <a:rPr err="1"/>
              <a:t>trong</a:t>
            </a:r>
            <a:r>
              <a:t> </a:t>
            </a:r>
            <a:r>
              <a:rPr err="1"/>
              <a:t>cùng</a:t>
            </a:r>
            <a:r>
              <a:t> </a:t>
            </a:r>
            <a:r>
              <a:rPr err="1"/>
              <a:t>kỳ</a:t>
            </a:r>
            <a:r>
              <a:t>.</a:t>
            </a:r>
          </a:p>
          <a:p>
            <a:endParaRPr/>
          </a:p>
          <a:p>
            <a:r>
              <a:t>Từ </a:t>
            </a:r>
            <a:r>
              <a:rPr err="1"/>
              <a:t>kết</a:t>
            </a:r>
            <a:r>
              <a:t> </a:t>
            </a:r>
            <a:r>
              <a:rPr err="1"/>
              <a:t>quả</a:t>
            </a:r>
            <a:r>
              <a:t> </a:t>
            </a:r>
            <a:r>
              <a:rPr err="1"/>
              <a:t>phân</a:t>
            </a:r>
            <a:r>
              <a:t> </a:t>
            </a:r>
            <a:r>
              <a:rPr err="1"/>
              <a:t>tích</a:t>
            </a:r>
            <a:r>
              <a:t>, </a:t>
            </a:r>
            <a:r>
              <a:rPr err="1"/>
              <a:t>có</a:t>
            </a:r>
            <a:r>
              <a:t> </a:t>
            </a:r>
            <a:r>
              <a:rPr err="1"/>
              <a:t>thể</a:t>
            </a:r>
            <a:r>
              <a:t> </a:t>
            </a:r>
            <a:r>
              <a:rPr err="1"/>
              <a:t>kết</a:t>
            </a:r>
            <a:r>
              <a:t> </a:t>
            </a:r>
            <a:r>
              <a:rPr err="1"/>
              <a:t>luận</a:t>
            </a:r>
            <a:r>
              <a:t> </a:t>
            </a:r>
            <a:r>
              <a:rPr err="1"/>
              <a:t>rằng</a:t>
            </a:r>
            <a:r>
              <a:t> Iris LSU </a:t>
            </a:r>
            <a:r>
              <a:rPr err="1"/>
              <a:t>là</a:t>
            </a:r>
            <a:r>
              <a:t> </a:t>
            </a:r>
            <a:r>
              <a:rPr err="1"/>
              <a:t>nhóm</a:t>
            </a:r>
            <a:r>
              <a:t> </a:t>
            </a:r>
            <a:r>
              <a:rPr err="1"/>
              <a:t>chiếm</a:t>
            </a:r>
            <a:r>
              <a:t> </a:t>
            </a:r>
            <a:r>
              <a:rPr err="1"/>
              <a:t>tỷ</a:t>
            </a:r>
            <a:r>
              <a:t> </a:t>
            </a:r>
            <a:r>
              <a:rPr err="1"/>
              <a:t>lệ</a:t>
            </a:r>
            <a:r>
              <a:t> NG </a:t>
            </a:r>
            <a:r>
              <a:rPr err="1"/>
              <a:t>cao</a:t>
            </a:r>
            <a:r>
              <a:t> </a:t>
            </a:r>
            <a:r>
              <a:rPr err="1"/>
              <a:t>nhất</a:t>
            </a:r>
            <a:r>
              <a:t> </a:t>
            </a:r>
            <a:r>
              <a:rPr err="1"/>
              <a:t>trong</a:t>
            </a:r>
            <a:r>
              <a:t> </a:t>
            </a:r>
            <a:r>
              <a:rPr err="1"/>
              <a:t>tất</a:t>
            </a:r>
            <a:r>
              <a:t> </a:t>
            </a:r>
            <a:r>
              <a:rPr err="1"/>
              <a:t>cả</a:t>
            </a:r>
            <a:r>
              <a:t> </a:t>
            </a:r>
            <a:r>
              <a:rPr err="1"/>
              <a:t>các</a:t>
            </a:r>
            <a:r>
              <a:t> JIG </a:t>
            </a:r>
            <a:r>
              <a:rPr err="1"/>
              <a:t>điều</a:t>
            </a:r>
            <a:r>
              <a:t> </a:t>
            </a:r>
            <a:r>
              <a:rPr err="1"/>
              <a:t>chỉnh</a:t>
            </a:r>
            <a:r>
              <a:t> </a:t>
            </a:r>
            <a:r>
              <a:rPr err="1"/>
              <a:t>tại</a:t>
            </a:r>
            <a:r>
              <a:t> </a:t>
            </a:r>
            <a:r>
              <a:rPr err="1"/>
              <a:t>xưởng</a:t>
            </a:r>
            <a:r>
              <a:t>. Ba </a:t>
            </a:r>
            <a:r>
              <a:rPr err="1"/>
              <a:t>đối</a:t>
            </a:r>
            <a:r>
              <a:t> </a:t>
            </a:r>
            <a:r>
              <a:rPr err="1"/>
              <a:t>tượng</a:t>
            </a:r>
            <a:r>
              <a:t> </a:t>
            </a:r>
            <a:r>
              <a:rPr err="1"/>
              <a:t>cần</a:t>
            </a:r>
            <a:r>
              <a:t> </a:t>
            </a:r>
            <a:r>
              <a:rPr err="1"/>
              <a:t>ưu</a:t>
            </a:r>
            <a:r>
              <a:t> </a:t>
            </a:r>
            <a:r>
              <a:rPr err="1"/>
              <a:t>tiên</a:t>
            </a:r>
            <a:r>
              <a:t> </a:t>
            </a:r>
            <a:r>
              <a:rPr err="1"/>
              <a:t>là</a:t>
            </a:r>
            <a:r>
              <a:t> JIG BOWSKEW </a:t>
            </a:r>
            <a:r>
              <a:rPr err="1"/>
              <a:t>loại</a:t>
            </a:r>
            <a:r>
              <a:t> 4 BEAM, JIG BOWSKEW </a:t>
            </a:r>
            <a:r>
              <a:rPr err="1"/>
              <a:t>loại</a:t>
            </a:r>
            <a:r>
              <a:t> 2 BEAM </a:t>
            </a:r>
            <a:r>
              <a:rPr err="1"/>
              <a:t>và</a:t>
            </a:r>
            <a:r>
              <a:t> JIG BEAM </a:t>
            </a:r>
            <a:r>
              <a:rPr err="1"/>
              <a:t>loại</a:t>
            </a:r>
            <a:r>
              <a:t> 4 BEAM; </a:t>
            </a:r>
            <a:r>
              <a:rPr err="1"/>
              <a:t>trong</a:t>
            </a:r>
            <a:r>
              <a:t> </a:t>
            </a:r>
            <a:r>
              <a:rPr err="1"/>
              <a:t>đó</a:t>
            </a:r>
            <a:r>
              <a:t> BOWSKEW 4 BEAM </a:t>
            </a:r>
            <a:r>
              <a:rPr err="1"/>
              <a:t>là</a:t>
            </a:r>
            <a:r>
              <a:t> </a:t>
            </a:r>
            <a:r>
              <a:rPr err="1"/>
              <a:t>trọng</a:t>
            </a:r>
            <a:r>
              <a:t> </a:t>
            </a:r>
            <a:r>
              <a:rPr err="1"/>
              <a:t>tâm</a:t>
            </a:r>
            <a:r>
              <a:t> </a:t>
            </a:r>
            <a:r>
              <a:rPr err="1"/>
              <a:t>số</a:t>
            </a:r>
            <a:r>
              <a:t> </a:t>
            </a:r>
            <a:r>
              <a:rPr err="1"/>
              <a:t>một</a:t>
            </a:r>
            <a:r>
              <a:t>.</a:t>
            </a:r>
          </a:p>
          <a:p>
            <a:endParaRPr/>
          </a:p>
          <a:p>
            <a:r>
              <a:rPr err="1"/>
              <a:t>Vì</a:t>
            </a:r>
            <a:r>
              <a:t> </a:t>
            </a:r>
            <a:r>
              <a:rPr err="1"/>
              <a:t>vậy</a:t>
            </a:r>
            <a:r>
              <a:t>, </a:t>
            </a:r>
            <a:r>
              <a:rPr err="1"/>
              <a:t>nhóm</a:t>
            </a:r>
            <a:r>
              <a:t> </a:t>
            </a:r>
            <a:r>
              <a:rPr err="1"/>
              <a:t>đề</a:t>
            </a:r>
            <a:r>
              <a:t> </a:t>
            </a:r>
            <a:r>
              <a:rPr err="1"/>
              <a:t>xuất</a:t>
            </a:r>
            <a:r>
              <a:t> </a:t>
            </a:r>
            <a:r>
              <a:rPr err="1"/>
              <a:t>tập</a:t>
            </a:r>
            <a:r>
              <a:t> trung </a:t>
            </a:r>
            <a:r>
              <a:rPr err="1"/>
              <a:t>phân</a:t>
            </a:r>
            <a:r>
              <a:t> </a:t>
            </a:r>
            <a:r>
              <a:rPr err="1"/>
              <a:t>tích</a:t>
            </a:r>
            <a:r>
              <a:t> </a:t>
            </a:r>
            <a:r>
              <a:rPr err="1"/>
              <a:t>nguyên</a:t>
            </a:r>
            <a:r>
              <a:t> </a:t>
            </a:r>
            <a:r>
              <a:rPr err="1"/>
              <a:t>nhân</a:t>
            </a:r>
            <a:r>
              <a:t> </a:t>
            </a:r>
            <a:r>
              <a:rPr err="1"/>
              <a:t>gốc</a:t>
            </a:r>
            <a:r>
              <a:t>, </a:t>
            </a:r>
            <a:r>
              <a:rPr err="1"/>
              <a:t>rà</a:t>
            </a:r>
            <a:r>
              <a:t> </a:t>
            </a:r>
            <a:r>
              <a:rPr err="1"/>
              <a:t>soát</a:t>
            </a:r>
            <a:r>
              <a:t> </a:t>
            </a:r>
            <a:r>
              <a:rPr err="1"/>
              <a:t>tiêu</a:t>
            </a:r>
            <a:r>
              <a:t> </a:t>
            </a:r>
            <a:r>
              <a:rPr err="1"/>
              <a:t>chuẩn</a:t>
            </a:r>
            <a:r>
              <a:t> </a:t>
            </a:r>
            <a:r>
              <a:rPr err="1"/>
              <a:t>và</a:t>
            </a:r>
            <a:r>
              <a:t> </a:t>
            </a:r>
            <a:r>
              <a:rPr err="1"/>
              <a:t>thao</a:t>
            </a:r>
            <a:r>
              <a:t> </a:t>
            </a:r>
            <a:r>
              <a:rPr err="1"/>
              <a:t>tác</a:t>
            </a:r>
            <a:r>
              <a:t> </a:t>
            </a:r>
            <a:r>
              <a:rPr err="1"/>
              <a:t>điều</a:t>
            </a:r>
            <a:r>
              <a:t> </a:t>
            </a:r>
            <a:r>
              <a:rPr err="1"/>
              <a:t>chỉnh</a:t>
            </a:r>
            <a:r>
              <a:t>, </a:t>
            </a:r>
            <a:r>
              <a:rPr err="1"/>
              <a:t>đồng</a:t>
            </a:r>
            <a:r>
              <a:t> </a:t>
            </a:r>
            <a:r>
              <a:rPr err="1"/>
              <a:t>thời</a:t>
            </a:r>
            <a:r>
              <a:t> </a:t>
            </a:r>
            <a:r>
              <a:rPr err="1"/>
              <a:t>theo</a:t>
            </a:r>
            <a:r>
              <a:t> </a:t>
            </a:r>
            <a:r>
              <a:rPr err="1"/>
              <a:t>dõi</a:t>
            </a:r>
            <a:r>
              <a:t> xu </a:t>
            </a:r>
            <a:r>
              <a:rPr err="1"/>
              <a:t>hướng</a:t>
            </a:r>
            <a:r>
              <a:t> </a:t>
            </a:r>
            <a:r>
              <a:rPr err="1"/>
              <a:t>theo</a:t>
            </a:r>
            <a:r>
              <a:t> </a:t>
            </a:r>
            <a:r>
              <a:rPr err="1"/>
              <a:t>tháng</a:t>
            </a:r>
            <a:r>
              <a:t> </a:t>
            </a:r>
            <a:r>
              <a:rPr err="1"/>
              <a:t>đối</a:t>
            </a:r>
            <a:r>
              <a:t> </a:t>
            </a:r>
            <a:r>
              <a:rPr err="1"/>
              <a:t>với</a:t>
            </a:r>
            <a:r>
              <a:t> </a:t>
            </a:r>
            <a:r>
              <a:rPr err="1"/>
              <a:t>ba</a:t>
            </a:r>
            <a:r>
              <a:t> JIG </a:t>
            </a:r>
            <a:r>
              <a:rPr err="1"/>
              <a:t>này</a:t>
            </a:r>
            <a:r>
              <a:t> </a:t>
            </a:r>
            <a:r>
              <a:rPr err="1"/>
              <a:t>để</a:t>
            </a:r>
            <a:r>
              <a:t> </a:t>
            </a:r>
            <a:r>
              <a:rPr err="1"/>
              <a:t>xác</a:t>
            </a:r>
            <a:r>
              <a:t> </a:t>
            </a:r>
            <a:r>
              <a:rPr err="1"/>
              <a:t>nhận</a:t>
            </a:r>
            <a:r>
              <a:t> </a:t>
            </a:r>
            <a:r>
              <a:rPr err="1"/>
              <a:t>hiệu</a:t>
            </a:r>
            <a:r>
              <a:t> </a:t>
            </a:r>
            <a:r>
              <a:rPr err="1"/>
              <a:t>quả</a:t>
            </a:r>
            <a:r>
              <a:t> </a:t>
            </a:r>
            <a:r>
              <a:rPr err="1"/>
              <a:t>cải</a:t>
            </a:r>
            <a:r>
              <a:t> </a:t>
            </a:r>
            <a:r>
              <a:rPr err="1"/>
              <a:t>tiến</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Mục tiêu của ứng dụng này là phát hiện lỗi trước khi nó thực sự xảy ra.</a:t>
            </a:r>
          </a:p>
          <a:p>
            <a:r>
              <a:rPr lang="vi-VN"/>
              <a:t>Bước một, hệ thống thu thập thông số của linh kiện đơn, được quản lý theo từng lot trước khi lắp ráp vào Unit.</a:t>
            </a:r>
          </a:p>
          <a:p>
            <a:r>
              <a:rPr lang="vi-VN"/>
              <a:t>Bước hai, sau khi Unit được lắp hoàn chỉnh và đưa vào jig, dữ liệu đo trên jig được ghi nhận và gắn với đúng lot linh kiện đã sử dụng.</a:t>
            </a:r>
          </a:p>
          <a:p>
            <a:r>
              <a:rPr lang="vi-VN"/>
              <a:t>Bước ba, AI đối chiếu tương quan giữa thông số linh kiện của từng lot và biến đổi dữ liệu jig tương ứng, dựa trên tri thức kỹ thuật đã được học.</a:t>
            </a:r>
          </a:p>
          <a:p>
            <a:r>
              <a:rPr lang="vi-VN"/>
              <a:t>Bước bốn, khi dữ liệu jig có xu hướng dịch dần về mức NG, hệ thống đưa ra dự đoán và cảnh báo sớm cho lot đó.</a:t>
            </a:r>
          </a:p>
          <a:p>
            <a:r>
              <a:rPr lang="vi-VN"/>
              <a:t>Nhờ vậy, chúng ta có thể can thiệp trước khi hàng NG phát sinh, thay vì chỉ phát hiện sau khi đã kiểm tra xong.</a:t>
            </a:r>
            <a:endParaRPr lang="en-US"/>
          </a:p>
        </p:txBody>
      </p:sp>
      <p:sp>
        <p:nvSpPr>
          <p:cNvPr id="4" name="Slide Number Placeholder 3"/>
          <p:cNvSpPr>
            <a:spLocks noGrp="1"/>
          </p:cNvSpPr>
          <p:nvPr>
            <p:ph type="sldNum" sz="quarter" idx="5"/>
          </p:nvPr>
        </p:nvSpPr>
        <p:spPr/>
        <p:txBody>
          <a:bodyPr/>
          <a:lstStyle/>
          <a:p>
            <a:fld id="{0E1B736C-7E22-4286-9492-6D135922483F}" type="slidenum">
              <a:rPr kumimoji="1" lang="ja-JP" altLang="en-US" smtClean="0"/>
              <a:t>2</a:t>
            </a:fld>
            <a:endParaRPr kumimoji="1" lang="ja-JP" altLang="en-US"/>
          </a:p>
        </p:txBody>
      </p:sp>
    </p:spTree>
    <p:extLst>
      <p:ext uri="{BB962C8B-B14F-4D97-AF65-F5344CB8AC3E}">
        <p14:creationId xmlns:p14="http://schemas.microsoft.com/office/powerpoint/2010/main" val="3519569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1B736C-7E22-4286-9492-6D135922483F}" type="slidenum">
              <a:rPr kumimoji="1" lang="ja-JP" altLang="en-US" smtClean="0"/>
              <a:t>3</a:t>
            </a:fld>
            <a:endParaRPr kumimoji="1" lang="ja-JP" altLang="en-US"/>
          </a:p>
        </p:txBody>
      </p:sp>
    </p:spTree>
    <p:extLst>
      <p:ext uri="{BB962C8B-B14F-4D97-AF65-F5344CB8AC3E}">
        <p14:creationId xmlns:p14="http://schemas.microsoft.com/office/powerpoint/2010/main" val="2647545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2 tập trung vào dữ liệu. Thông số linh kiện nhựa được đo và quản lý theo từng lot. Sau khi lắp ráp, dữ liệu kiểm tra trên jig được ghi nhận tự động và gắn với đúng lot linh kiện đã dùng. Nhờ liên kết này, mọi kết quả đo đều truy ngược được về nguồn gốc linh kiện.</a:t>
            </a:r>
            <a:endParaRPr lang="en-US"/>
          </a:p>
        </p:txBody>
      </p:sp>
      <p:sp>
        <p:nvSpPr>
          <p:cNvPr id="4" name="Slide Number Placeholder 3"/>
          <p:cNvSpPr>
            <a:spLocks noGrp="1"/>
          </p:cNvSpPr>
          <p:nvPr>
            <p:ph type="sldNum" sz="quarter" idx="5"/>
          </p:nvPr>
        </p:nvSpPr>
        <p:spPr/>
        <p:txBody>
          <a:bodyPr/>
          <a:lstStyle/>
          <a:p>
            <a:fld id="{0E1B736C-7E22-4286-9492-6D135922483F}" type="slidenum">
              <a:rPr kumimoji="1" lang="ja-JP" altLang="en-US" smtClean="0"/>
              <a:t>4</a:t>
            </a:fld>
            <a:endParaRPr kumimoji="1" lang="ja-JP" altLang="en-US"/>
          </a:p>
        </p:txBody>
      </p:sp>
    </p:spTree>
    <p:extLst>
      <p:ext uri="{BB962C8B-B14F-4D97-AF65-F5344CB8AC3E}">
        <p14:creationId xmlns:p14="http://schemas.microsoft.com/office/powerpoint/2010/main" val="3417528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3 là huấn luyện AI. Mô hình học tương quan giữa thông số linh kiện và biến động dữ liệu jig, từ đó thiết lập ngưỡng cảnh báo trước khi chạm mức NG. Mô hình được kiểm chứng lại trên dữ liệu lỗi trong quá khứ để đánh giá độ chính xác.</a:t>
            </a:r>
            <a:endParaRPr lang="en-US"/>
          </a:p>
        </p:txBody>
      </p:sp>
      <p:sp>
        <p:nvSpPr>
          <p:cNvPr id="4" name="Slide Number Placeholder 3"/>
          <p:cNvSpPr>
            <a:spLocks noGrp="1"/>
          </p:cNvSpPr>
          <p:nvPr>
            <p:ph type="sldNum" sz="quarter" idx="5"/>
          </p:nvPr>
        </p:nvSpPr>
        <p:spPr/>
        <p:txBody>
          <a:bodyPr/>
          <a:lstStyle/>
          <a:p>
            <a:fld id="{0E1B736C-7E22-4286-9492-6D135922483F}" type="slidenum">
              <a:rPr kumimoji="1" lang="ja-JP" altLang="en-US" smtClean="0"/>
              <a:t>5</a:t>
            </a:fld>
            <a:endParaRPr kumimoji="1" lang="ja-JP" altLang="en-US"/>
          </a:p>
        </p:txBody>
      </p:sp>
    </p:spTree>
    <p:extLst>
      <p:ext uri="{BB962C8B-B14F-4D97-AF65-F5344CB8AC3E}">
        <p14:creationId xmlns:p14="http://schemas.microsoft.com/office/powerpoint/2010/main" val="3159772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4 là chạy thử tại hiện trường. Hệ thống cảnh báo trên các lot đang sản xuất, kết quả cảnh báo được đối chiếu với kết quả đo thực tế. Dữ liệu mới tiếp tục được đưa vào để hiệu chỉnh ngưỡng, giúp mô hình ngày càng chính xác hơn.</a:t>
            </a:r>
            <a:endParaRPr lang="en-US"/>
          </a:p>
        </p:txBody>
      </p:sp>
      <p:sp>
        <p:nvSpPr>
          <p:cNvPr id="4" name="Slide Number Placeholder 3"/>
          <p:cNvSpPr>
            <a:spLocks noGrp="1"/>
          </p:cNvSpPr>
          <p:nvPr>
            <p:ph type="sldNum" sz="quarter" idx="5"/>
          </p:nvPr>
        </p:nvSpPr>
        <p:spPr/>
        <p:txBody>
          <a:bodyPr/>
          <a:lstStyle/>
          <a:p>
            <a:fld id="{0E1B736C-7E22-4286-9492-6D135922483F}" type="slidenum">
              <a:rPr kumimoji="1" lang="ja-JP" altLang="en-US" smtClean="0"/>
              <a:t>6</a:t>
            </a:fld>
            <a:endParaRPr kumimoji="1" lang="ja-JP" altLang="en-US"/>
          </a:p>
        </p:txBody>
      </p:sp>
    </p:spTree>
    <p:extLst>
      <p:ext uri="{BB962C8B-B14F-4D97-AF65-F5344CB8AC3E}">
        <p14:creationId xmlns:p14="http://schemas.microsoft.com/office/powerpoint/2010/main" val="2844916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5 là đánh giá hiệu quả sau khi chạy thử. Chúng ta đo độ chính xác của cảnh báo so với kết quả thực tế. Nếu dữ liệu về linh kiện và check jig chưa đủ để dự đoán chính xác, sẽ đánh giá xác nhận lại toàn bộ quy trình lắp ráp LSU, từ khâu linh kiện đơn đến công đoạn chạy jig, nhằm tìm thêm các điều kiện giúp tăng độ chính xác và độ tin cậy của cảnh báo.</a:t>
            </a:r>
            <a:endParaRPr lang="en-US"/>
          </a:p>
        </p:txBody>
      </p:sp>
      <p:sp>
        <p:nvSpPr>
          <p:cNvPr id="4" name="Slide Number Placeholder 3"/>
          <p:cNvSpPr>
            <a:spLocks noGrp="1"/>
          </p:cNvSpPr>
          <p:nvPr>
            <p:ph type="sldNum" sz="quarter" idx="5"/>
          </p:nvPr>
        </p:nvSpPr>
        <p:spPr/>
        <p:txBody>
          <a:bodyPr/>
          <a:lstStyle/>
          <a:p>
            <a:fld id="{0E1B736C-7E22-4286-9492-6D135922483F}" type="slidenum">
              <a:rPr kumimoji="1" lang="ja-JP" altLang="en-US" smtClean="0"/>
              <a:t>7</a:t>
            </a:fld>
            <a:endParaRPr kumimoji="1" lang="ja-JP" altLang="en-US"/>
          </a:p>
        </p:txBody>
      </p:sp>
    </p:spTree>
    <p:extLst>
      <p:ext uri="{BB962C8B-B14F-4D97-AF65-F5344CB8AC3E}">
        <p14:creationId xmlns:p14="http://schemas.microsoft.com/office/powerpoint/2010/main" val="17657338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F114BEFE-30F4-06E8-6BE0-619CDBC06F00}"/>
              </a:ext>
            </a:extLst>
          </p:cNvPr>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80327" y="6523613"/>
            <a:ext cx="1032653" cy="227114"/>
          </a:xfrm>
          <a:prstGeom prst="rect">
            <a:avLst/>
          </a:prstGeom>
          <a:noFill/>
          <a:ln>
            <a:noFill/>
          </a:ln>
        </p:spPr>
      </p:pic>
    </p:spTree>
    <p:extLst>
      <p:ext uri="{BB962C8B-B14F-4D97-AF65-F5344CB8AC3E}">
        <p14:creationId xmlns:p14="http://schemas.microsoft.com/office/powerpoint/2010/main" val="158076037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27999" y="11832"/>
            <a:ext cx="11160840" cy="423341"/>
          </a:xfrm>
          <a:prstGeom prst="rect">
            <a:avLst/>
          </a:prstGeom>
        </p:spPr>
        <p:txBody>
          <a:bodyPr vert="horz" lIns="0" tIns="0" rIns="0" bIns="0" rtlCol="0" anchor="t" anchorCtr="0">
            <a:noAutofit/>
          </a:bodyPr>
          <a:lstStyle/>
          <a:p>
            <a:r>
              <a:rPr lang="ja-JP" altLang="en-US"/>
              <a:t>マスター タイトルの書式設定</a:t>
            </a:r>
            <a:endParaRPr lang="en-GB"/>
          </a:p>
        </p:txBody>
      </p:sp>
      <p:sp>
        <p:nvSpPr>
          <p:cNvPr id="8" name="Text Placeholder 2"/>
          <p:cNvSpPr>
            <a:spLocks noGrp="1"/>
          </p:cNvSpPr>
          <p:nvPr>
            <p:ph type="body" idx="1"/>
          </p:nvPr>
        </p:nvSpPr>
        <p:spPr>
          <a:xfrm>
            <a:off x="528001" y="1588958"/>
            <a:ext cx="11160839" cy="4062543"/>
          </a:xfrm>
          <a:prstGeom prst="rect">
            <a:avLst/>
          </a:prstGeom>
        </p:spPr>
        <p:txBody>
          <a:bodyPr vert="horz" lIns="0" tIns="0" rIns="0" bIns="0" rtlCol="0">
            <a:no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Slide Number Placeholder 5">
            <a:extLst>
              <a:ext uri="{FF2B5EF4-FFF2-40B4-BE49-F238E27FC236}">
                <a16:creationId xmlns:a16="http://schemas.microsoft.com/office/drawing/2014/main" id="{95723448-76E8-5A7D-4CE3-76075F2E9F20}"/>
              </a:ext>
            </a:extLst>
          </p:cNvPr>
          <p:cNvSpPr txBox="1">
            <a:spLocks/>
          </p:cNvSpPr>
          <p:nvPr userDrawn="1"/>
        </p:nvSpPr>
        <p:spPr>
          <a:xfrm>
            <a:off x="11358465" y="6505328"/>
            <a:ext cx="666276" cy="374975"/>
          </a:xfrm>
          <a:prstGeom prst="rect">
            <a:avLst/>
          </a:prstGeom>
        </p:spPr>
        <p:txBody>
          <a:bodyPr vert="horz" lIns="0" tIns="0" rIns="0" bIns="0" rtlCol="0" anchor="t" anchorCtr="0"/>
          <a:lstStyle>
            <a:defPPr>
              <a:defRPr lang="en-US"/>
            </a:defPPr>
            <a:lvl1pPr marL="0" algn="r"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3381702-59A5-4643-AE93-D7BF7F78153B}" type="slidenum">
              <a:rPr lang="en-GB" sz="1800" smtClean="0">
                <a:solidFill>
                  <a:prstClr val="black"/>
                </a:solidFill>
                <a:latin typeface="Meiryo UI"/>
                <a:ea typeface="Meiryo UI"/>
              </a:rPr>
              <a:pPr/>
              <a:t>‹#›</a:t>
            </a:fld>
            <a:endParaRPr lang="en-GB" sz="1800">
              <a:solidFill>
                <a:prstClr val="black"/>
              </a:solidFill>
              <a:latin typeface="Meiryo UI"/>
              <a:ea typeface="Meiryo UI"/>
            </a:endParaRPr>
          </a:p>
        </p:txBody>
      </p:sp>
      <p:sp>
        <p:nvSpPr>
          <p:cNvPr id="5" name="Footer Placeholder 4">
            <a:extLst>
              <a:ext uri="{FF2B5EF4-FFF2-40B4-BE49-F238E27FC236}">
                <a16:creationId xmlns:a16="http://schemas.microsoft.com/office/drawing/2014/main" id="{A33C1039-6B15-6CA8-3AE4-652276463C67}"/>
              </a:ext>
            </a:extLst>
          </p:cNvPr>
          <p:cNvSpPr txBox="1">
            <a:spLocks/>
          </p:cNvSpPr>
          <p:nvPr userDrawn="1"/>
        </p:nvSpPr>
        <p:spPr>
          <a:xfrm>
            <a:off x="7635268" y="6575094"/>
            <a:ext cx="3837497" cy="216000"/>
          </a:xfrm>
          <a:prstGeom prst="rect">
            <a:avLst/>
          </a:prstGeom>
        </p:spPr>
        <p:txBody>
          <a:bodyPr vert="horz" lIns="0" tIns="0" rIns="0" bIns="0" rtlCol="0" anchor="ctr" anchorCtr="0"/>
          <a:lstStyle>
            <a:defPPr>
              <a:defRPr lang="en-US"/>
            </a:defPPr>
            <a:lvl1pPr marL="0" algn="r" defTabSz="457200" rtl="0" eaLnBrk="1" latinLnBrk="0" hangingPunct="1">
              <a:defRPr sz="7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altLang="ja-JP" sz="700">
                <a:solidFill>
                  <a:prstClr val="black"/>
                </a:solidFill>
                <a:latin typeface="Meiryo UI"/>
                <a:ea typeface="Meiryo UI"/>
              </a:rPr>
              <a:t>©20</a:t>
            </a:r>
            <a:r>
              <a:rPr lang="en-US" altLang="ja-JP" sz="700">
                <a:solidFill>
                  <a:prstClr val="black"/>
                </a:solidFill>
                <a:latin typeface="Meiryo UI"/>
                <a:ea typeface="Meiryo UI"/>
              </a:rPr>
              <a:t>26</a:t>
            </a:r>
            <a:r>
              <a:rPr lang="fr-FR" altLang="ja-JP" sz="700">
                <a:solidFill>
                  <a:prstClr val="black"/>
                </a:solidFill>
                <a:latin typeface="Meiryo UI"/>
                <a:ea typeface="Meiryo UI"/>
              </a:rPr>
              <a:t> KYOCERA Document Solutions Inc.</a:t>
            </a:r>
            <a:endParaRPr lang="en-GB" sz="700">
              <a:solidFill>
                <a:prstClr val="black"/>
              </a:solidFill>
              <a:latin typeface="Meiryo UI"/>
              <a:ea typeface="Meiryo UI"/>
            </a:endParaRPr>
          </a:p>
        </p:txBody>
      </p:sp>
    </p:spTree>
    <p:extLst>
      <p:ext uri="{BB962C8B-B14F-4D97-AF65-F5344CB8AC3E}">
        <p14:creationId xmlns:p14="http://schemas.microsoft.com/office/powerpoint/2010/main" val="2952492359"/>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chart" Target="../charts/chart1.xml"/><Relationship Id="rId7"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package" Target="../embeddings/Microsoft_Excel_Worksheet1.xlsx"/><Relationship Id="rId5" Type="http://schemas.openxmlformats.org/officeDocument/2006/relationships/image" Target="../media/image2.emf"/><Relationship Id="rId4" Type="http://schemas.openxmlformats.org/officeDocument/2006/relationships/package" Target="../embeddings/Microsoft_Excel_Worksheet.xlsx"/><Relationship Id="rId9" Type="http://schemas.openxmlformats.org/officeDocument/2006/relationships/chart" Target="../charts/chart3.xml"/></Relationships>
</file>

<file path=ppt/slides/_rels/slide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jpe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8A14E-6DB1-8E4D-F6A6-07027C02D69B}"/>
            </a:ext>
          </a:extLst>
        </p:cNvPr>
        <p:cNvGrpSpPr/>
        <p:nvPr/>
      </p:nvGrpSpPr>
      <p:grpSpPr>
        <a:xfrm>
          <a:off x="0" y="0"/>
          <a:ext cx="0" cy="0"/>
          <a:chOff x="0" y="0"/>
          <a:chExt cx="0" cy="0"/>
        </a:xfrm>
      </p:grpSpPr>
      <p:graphicFrame>
        <p:nvGraphicFramePr>
          <p:cNvPr id="4" name="Biểu đồ tỷ lệ NG BEAM">
            <a:extLst>
              <a:ext uri="{FF2B5EF4-FFF2-40B4-BE49-F238E27FC236}">
                <a16:creationId xmlns:a16="http://schemas.microsoft.com/office/drawing/2014/main" id="{C47AB729-7C72-CC8C-632D-11F1E6D44839}"/>
              </a:ext>
            </a:extLst>
          </p:cNvPr>
          <p:cNvGraphicFramePr>
            <a:graphicFrameLocks/>
          </p:cNvGraphicFramePr>
          <p:nvPr/>
        </p:nvGraphicFramePr>
        <p:xfrm>
          <a:off x="4162728" y="2070091"/>
          <a:ext cx="5110423" cy="3363521"/>
        </p:xfrm>
        <a:graphic>
          <a:graphicData uri="http://schemas.openxmlformats.org/drawingml/2006/chart">
            <c:chart xmlns:c="http://schemas.openxmlformats.org/drawingml/2006/chart" xmlns:r="http://schemas.openxmlformats.org/officeDocument/2006/relationships" r:id="rId3"/>
          </a:graphicData>
        </a:graphic>
      </p:graphicFrame>
      <p:sp>
        <p:nvSpPr>
          <p:cNvPr id="3" name="タイトル 1">
            <a:extLst>
              <a:ext uri="{FF2B5EF4-FFF2-40B4-BE49-F238E27FC236}">
                <a16:creationId xmlns:a16="http://schemas.microsoft.com/office/drawing/2014/main" id="{C83EA210-4FA7-8DC1-3A53-C8E963C122B0}"/>
              </a:ext>
            </a:extLst>
          </p:cNvPr>
          <p:cNvSpPr txBox="1">
            <a:spLocks/>
          </p:cNvSpPr>
          <p:nvPr/>
        </p:nvSpPr>
        <p:spPr>
          <a:xfrm>
            <a:off x="1896825" y="961146"/>
            <a:ext cx="3666348" cy="317500"/>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endParaRPr lang="ja-JP" altLang="en-US" sz="1400" b="0">
              <a:latin typeface="Times New Roman" panose="020F0502020204030204" pitchFamily="34" charset="0"/>
              <a:cs typeface="Times New Roman" panose="020F0502020204030204" pitchFamily="34" charset="0"/>
            </a:endParaRPr>
          </a:p>
        </p:txBody>
      </p:sp>
      <p:graphicFrame>
        <p:nvGraphicFramePr>
          <p:cNvPr id="2" name="Object 1">
            <a:extLst>
              <a:ext uri="{FF2B5EF4-FFF2-40B4-BE49-F238E27FC236}">
                <a16:creationId xmlns:a16="http://schemas.microsoft.com/office/drawing/2014/main" id="{981C0E12-7652-381F-0246-B9A565A2E317}"/>
              </a:ext>
            </a:extLst>
          </p:cNvPr>
          <p:cNvGraphicFramePr>
            <a:graphicFrameLocks noChangeAspect="1"/>
          </p:cNvGraphicFramePr>
          <p:nvPr/>
        </p:nvGraphicFramePr>
        <p:xfrm>
          <a:off x="4557533" y="5117574"/>
          <a:ext cx="3138667" cy="1287402"/>
        </p:xfrm>
        <a:graphic>
          <a:graphicData uri="http://schemas.openxmlformats.org/presentationml/2006/ole">
            <mc:AlternateContent xmlns:mc="http://schemas.openxmlformats.org/markup-compatibility/2006">
              <mc:Choice xmlns:v="urn:schemas-microsoft-com:vml" Requires="v">
                <p:oleObj name="Worksheet" r:id="rId4" imgW="5991024" imgH="2457569" progId="Excel.Sheet.12">
                  <p:embed/>
                </p:oleObj>
              </mc:Choice>
              <mc:Fallback>
                <p:oleObj name="Worksheet" r:id="rId4" imgW="5991024" imgH="2457569" progId="Excel.Sheet.12">
                  <p:embed/>
                  <p:pic>
                    <p:nvPicPr>
                      <p:cNvPr id="2" name="Object 1">
                        <a:extLst>
                          <a:ext uri="{FF2B5EF4-FFF2-40B4-BE49-F238E27FC236}">
                            <a16:creationId xmlns:a16="http://schemas.microsoft.com/office/drawing/2014/main" id="{981C0E12-7652-381F-0246-B9A565A2E317}"/>
                          </a:ext>
                        </a:extLst>
                      </p:cNvPr>
                      <p:cNvPicPr/>
                      <p:nvPr/>
                    </p:nvPicPr>
                    <p:blipFill>
                      <a:blip r:embed="rId5"/>
                      <a:stretch>
                        <a:fillRect/>
                      </a:stretch>
                    </p:blipFill>
                    <p:spPr>
                      <a:xfrm>
                        <a:off x="4557533" y="5117574"/>
                        <a:ext cx="3138667" cy="1287402"/>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AB2444E0-04FA-5C92-7724-668FABDDC009}"/>
              </a:ext>
            </a:extLst>
          </p:cNvPr>
          <p:cNvGraphicFramePr>
            <a:graphicFrameLocks noChangeAspect="1"/>
          </p:cNvGraphicFramePr>
          <p:nvPr/>
        </p:nvGraphicFramePr>
        <p:xfrm>
          <a:off x="154499" y="5152200"/>
          <a:ext cx="4008229" cy="1254134"/>
        </p:xfrm>
        <a:graphic>
          <a:graphicData uri="http://schemas.openxmlformats.org/presentationml/2006/ole">
            <mc:AlternateContent xmlns:mc="http://schemas.openxmlformats.org/markup-compatibility/2006">
              <mc:Choice xmlns:v="urn:schemas-microsoft-com:vml" Requires="v">
                <p:oleObj name="Worksheet" r:id="rId6" imgW="9162966" imgH="2866882" progId="Excel.Sheet.12">
                  <p:embed/>
                </p:oleObj>
              </mc:Choice>
              <mc:Fallback>
                <p:oleObj name="Worksheet" r:id="rId6" imgW="9162966" imgH="2866882" progId="Excel.Sheet.12">
                  <p:embed/>
                  <p:pic>
                    <p:nvPicPr>
                      <p:cNvPr id="7" name="Object 6">
                        <a:extLst>
                          <a:ext uri="{FF2B5EF4-FFF2-40B4-BE49-F238E27FC236}">
                            <a16:creationId xmlns:a16="http://schemas.microsoft.com/office/drawing/2014/main" id="{AB2444E0-04FA-5C92-7724-668FABDDC009}"/>
                          </a:ext>
                        </a:extLst>
                      </p:cNvPr>
                      <p:cNvPicPr/>
                      <p:nvPr/>
                    </p:nvPicPr>
                    <p:blipFill>
                      <a:blip r:embed="rId7"/>
                      <a:stretch>
                        <a:fillRect/>
                      </a:stretch>
                    </p:blipFill>
                    <p:spPr>
                      <a:xfrm>
                        <a:off x="154499" y="5152200"/>
                        <a:ext cx="4008229" cy="1254134"/>
                      </a:xfrm>
                      <a:prstGeom prst="rect">
                        <a:avLst/>
                      </a:prstGeom>
                    </p:spPr>
                  </p:pic>
                </p:oleObj>
              </mc:Fallback>
            </mc:AlternateContent>
          </a:graphicData>
        </a:graphic>
      </p:graphicFrame>
      <p:graphicFrame>
        <p:nvGraphicFramePr>
          <p:cNvPr id="8" name="Xu hướng NG 11 JIG ngoài BEAM">
            <a:extLst>
              <a:ext uri="{FF2B5EF4-FFF2-40B4-BE49-F238E27FC236}">
                <a16:creationId xmlns:a16="http://schemas.microsoft.com/office/drawing/2014/main" id="{84968244-18F7-DBB0-8801-B19EE0D59641}"/>
              </a:ext>
            </a:extLst>
          </p:cNvPr>
          <p:cNvGraphicFramePr>
            <a:graphicFrameLocks/>
          </p:cNvGraphicFramePr>
          <p:nvPr/>
        </p:nvGraphicFramePr>
        <p:xfrm>
          <a:off x="83782" y="1954685"/>
          <a:ext cx="4149661" cy="2966437"/>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0" name="Xếp hạng NG BEAM trung bình 5 tháng">
            <a:extLst>
              <a:ext uri="{FF2B5EF4-FFF2-40B4-BE49-F238E27FC236}">
                <a16:creationId xmlns:a16="http://schemas.microsoft.com/office/drawing/2014/main" id="{CE42054F-3E2B-FF13-FAAD-A9D2AB16004C}"/>
              </a:ext>
            </a:extLst>
          </p:cNvPr>
          <p:cNvGraphicFramePr>
            <a:graphicFrameLocks/>
          </p:cNvGraphicFramePr>
          <p:nvPr/>
        </p:nvGraphicFramePr>
        <p:xfrm>
          <a:off x="8959882" y="4272806"/>
          <a:ext cx="3037867" cy="2273015"/>
        </p:xfrm>
        <a:graphic>
          <a:graphicData uri="http://schemas.openxmlformats.org/drawingml/2006/chart">
            <c:chart xmlns:c="http://schemas.openxmlformats.org/drawingml/2006/chart" xmlns:r="http://schemas.openxmlformats.org/officeDocument/2006/relationships" r:id="rId9"/>
          </a:graphicData>
        </a:graphic>
      </p:graphicFrame>
      <p:sp>
        <p:nvSpPr>
          <p:cNvPr id="13" name="TextBox 12">
            <a:extLst>
              <a:ext uri="{FF2B5EF4-FFF2-40B4-BE49-F238E27FC236}">
                <a16:creationId xmlns:a16="http://schemas.microsoft.com/office/drawing/2014/main" id="{A156E14D-5158-B82D-D158-490588CBB3C5}"/>
              </a:ext>
            </a:extLst>
          </p:cNvPr>
          <p:cNvSpPr txBox="1"/>
          <p:nvPr/>
        </p:nvSpPr>
        <p:spPr>
          <a:xfrm>
            <a:off x="9070351" y="1905000"/>
            <a:ext cx="3037867" cy="1492716"/>
          </a:xfrm>
          <a:prstGeom prst="rect">
            <a:avLst/>
          </a:prstGeom>
          <a:solidFill>
            <a:schemeClr val="accent1">
              <a:lumMod val="40000"/>
              <a:lumOff val="60000"/>
            </a:schemeClr>
          </a:solidFill>
        </p:spPr>
        <p:txBody>
          <a:bodyPr wrap="square" rtlCol="0">
            <a:spAutoFit/>
          </a:bodyPr>
          <a:lstStyle/>
          <a:p>
            <a:pPr algn="ctr"/>
            <a:r>
              <a:rPr lang="ja-JP" altLang="ja-JP" sz="1300" dirty="0">
                <a:latin typeface="Times New Roman" panose="02020603050405020304" pitchFamily="18" charset="0"/>
                <a:cs typeface="Times New Roman" panose="02020603050405020304" pitchFamily="18" charset="0"/>
              </a:rPr>
              <a:t>Biểu đồ cho thấy các JIG thuộc </a:t>
            </a:r>
            <a:r>
              <a:rPr lang="ja-JP" altLang="ja-JP" sz="1300" b="1" dirty="0">
                <a:latin typeface="Times New Roman" panose="02020603050405020304" pitchFamily="18" charset="0"/>
                <a:cs typeface="Times New Roman" panose="02020603050405020304" pitchFamily="18" charset="0"/>
              </a:rPr>
              <a:t>Iris LSU có tỷ lệ NG cao hơn rõ rệt</a:t>
            </a:r>
            <a:r>
              <a:rPr lang="ja-JP" altLang="ja-JP" sz="1300" dirty="0">
                <a:latin typeface="Times New Roman" panose="02020603050405020304" pitchFamily="18" charset="0"/>
                <a:cs typeface="Times New Roman" panose="02020603050405020304" pitchFamily="18" charset="0"/>
              </a:rPr>
              <a:t> so với các JIG còn lại. Vì vậy, cần ưu tiên cải tiến </a:t>
            </a:r>
            <a:r>
              <a:rPr lang="ja-JP" altLang="ja-JP" sz="1300" b="1" dirty="0">
                <a:latin typeface="Times New Roman" panose="02020603050405020304" pitchFamily="18" charset="0"/>
                <a:cs typeface="Times New Roman" panose="02020603050405020304" pitchFamily="18" charset="0"/>
              </a:rPr>
              <a:t>BOWSKEW 4 BEAM, BOWSKEW 2 BEAM và BEAM 4 BEAM</a:t>
            </a:r>
            <a:r>
              <a:rPr lang="ja-JP" altLang="ja-JP" sz="1300" dirty="0">
                <a:latin typeface="Times New Roman" panose="02020603050405020304" pitchFamily="18" charset="0"/>
                <a:cs typeface="Times New Roman" panose="02020603050405020304" pitchFamily="18" charset="0"/>
              </a:rPr>
              <a:t>, trong đó </a:t>
            </a:r>
            <a:r>
              <a:rPr lang="ja-JP" altLang="ja-JP" sz="1300" b="1" dirty="0">
                <a:latin typeface="Times New Roman" panose="02020603050405020304" pitchFamily="18" charset="0"/>
                <a:cs typeface="Times New Roman" panose="02020603050405020304" pitchFamily="18" charset="0"/>
              </a:rPr>
              <a:t>BOWSKEW 4 BEAM</a:t>
            </a:r>
            <a:r>
              <a:rPr lang="ja-JP" altLang="ja-JP" sz="1300" dirty="0">
                <a:latin typeface="Times New Roman" panose="02020603050405020304" pitchFamily="18" charset="0"/>
                <a:cs typeface="Times New Roman" panose="02020603050405020304" pitchFamily="18" charset="0"/>
              </a:rPr>
              <a:t> là đối tượng trọng tâm.</a:t>
            </a:r>
          </a:p>
        </p:txBody>
      </p:sp>
      <p:sp>
        <p:nvSpPr>
          <p:cNvPr id="14" name="Oval 13">
            <a:extLst>
              <a:ext uri="{FF2B5EF4-FFF2-40B4-BE49-F238E27FC236}">
                <a16:creationId xmlns:a16="http://schemas.microsoft.com/office/drawing/2014/main" id="{208FE0D9-743A-748B-5863-51EDE718F0A2}"/>
              </a:ext>
            </a:extLst>
          </p:cNvPr>
          <p:cNvSpPr/>
          <p:nvPr/>
        </p:nvSpPr>
        <p:spPr>
          <a:xfrm rot="20168519">
            <a:off x="6060419" y="3484665"/>
            <a:ext cx="1790700" cy="1041400"/>
          </a:xfrm>
          <a:prstGeom prst="ellipse">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TextBox 14">
            <a:extLst>
              <a:ext uri="{FF2B5EF4-FFF2-40B4-BE49-F238E27FC236}">
                <a16:creationId xmlns:a16="http://schemas.microsoft.com/office/drawing/2014/main" id="{797E8F54-8DDD-FF27-EC75-38734AB73FC9}"/>
              </a:ext>
            </a:extLst>
          </p:cNvPr>
          <p:cNvSpPr txBox="1"/>
          <p:nvPr/>
        </p:nvSpPr>
        <p:spPr>
          <a:xfrm>
            <a:off x="5862658" y="3085627"/>
            <a:ext cx="1067921" cy="369332"/>
          </a:xfrm>
          <a:prstGeom prst="rect">
            <a:avLst/>
          </a:prstGeom>
          <a:noFill/>
        </p:spPr>
        <p:txBody>
          <a:bodyPr wrap="none" rtlCol="0">
            <a:spAutoFit/>
          </a:bodyPr>
          <a:lstStyle/>
          <a:p>
            <a:r>
              <a:rPr kumimoji="1" lang="en-US" altLang="ja-JP"/>
              <a:t>Iris LSU</a:t>
            </a:r>
            <a:endParaRPr kumimoji="1" lang="ja-JP" altLang="en-US"/>
          </a:p>
        </p:txBody>
      </p:sp>
      <p:sp>
        <p:nvSpPr>
          <p:cNvPr id="16" name="Rectangle 15">
            <a:extLst>
              <a:ext uri="{FF2B5EF4-FFF2-40B4-BE49-F238E27FC236}">
                <a16:creationId xmlns:a16="http://schemas.microsoft.com/office/drawing/2014/main" id="{70C554CB-6788-7256-1073-312D1E2492CD}"/>
              </a:ext>
            </a:extLst>
          </p:cNvPr>
          <p:cNvSpPr/>
          <p:nvPr/>
        </p:nvSpPr>
        <p:spPr>
          <a:xfrm>
            <a:off x="8690040" y="5433612"/>
            <a:ext cx="3307709" cy="618625"/>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TextBox 31">
            <a:extLst>
              <a:ext uri="{FF2B5EF4-FFF2-40B4-BE49-F238E27FC236}">
                <a16:creationId xmlns:a16="http://schemas.microsoft.com/office/drawing/2014/main" id="{E571200D-33BD-03A7-FBBD-ECD3028239CE}"/>
              </a:ext>
            </a:extLst>
          </p:cNvPr>
          <p:cNvSpPr txBox="1"/>
          <p:nvPr/>
        </p:nvSpPr>
        <p:spPr>
          <a:xfrm>
            <a:off x="8091005" y="5039981"/>
            <a:ext cx="1067921" cy="369332"/>
          </a:xfrm>
          <a:prstGeom prst="rect">
            <a:avLst/>
          </a:prstGeom>
          <a:noFill/>
        </p:spPr>
        <p:txBody>
          <a:bodyPr wrap="none" rtlCol="0">
            <a:spAutoFit/>
          </a:bodyPr>
          <a:lstStyle/>
          <a:p>
            <a:r>
              <a:rPr kumimoji="1" lang="en-US" altLang="ja-JP"/>
              <a:t>Iris LSU</a:t>
            </a:r>
            <a:endParaRPr kumimoji="1" lang="ja-JP" altLang="en-US"/>
          </a:p>
        </p:txBody>
      </p:sp>
      <p:grpSp>
        <p:nvGrpSpPr>
          <p:cNvPr id="5" name="Group 4">
            <a:extLst>
              <a:ext uri="{FF2B5EF4-FFF2-40B4-BE49-F238E27FC236}">
                <a16:creationId xmlns:a16="http://schemas.microsoft.com/office/drawing/2014/main" id="{206B49F4-BD6C-6F58-3503-0B9693C6673B}"/>
              </a:ext>
            </a:extLst>
          </p:cNvPr>
          <p:cNvGrpSpPr/>
          <p:nvPr/>
        </p:nvGrpSpPr>
        <p:grpSpPr>
          <a:xfrm>
            <a:off x="3179835" y="72722"/>
            <a:ext cx="5890516" cy="526026"/>
            <a:chOff x="9603893" y="430511"/>
            <a:chExt cx="5890516" cy="605842"/>
          </a:xfrm>
        </p:grpSpPr>
        <p:sp>
          <p:nvSpPr>
            <p:cNvPr id="9" name="Google Shape;3112;p169">
              <a:extLst>
                <a:ext uri="{FF2B5EF4-FFF2-40B4-BE49-F238E27FC236}">
                  <a16:creationId xmlns:a16="http://schemas.microsoft.com/office/drawing/2014/main" id="{5FBB0C5B-82CF-7CA6-1F28-5FCEA8A0920F}"/>
                </a:ext>
              </a:extLst>
            </p:cNvPr>
            <p:cNvSpPr/>
            <p:nvPr/>
          </p:nvSpPr>
          <p:spPr>
            <a:xfrm>
              <a:off x="10050805" y="457775"/>
              <a:ext cx="2983199" cy="568501"/>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ED7DC461-6B82-FD08-92F7-C29816E47A2E}"/>
                </a:ext>
              </a:extLst>
            </p:cNvPr>
            <p:cNvGrpSpPr/>
            <p:nvPr/>
          </p:nvGrpSpPr>
          <p:grpSpPr>
            <a:xfrm>
              <a:off x="9603893" y="430511"/>
              <a:ext cx="5890516" cy="605842"/>
              <a:chOff x="9680198" y="256226"/>
              <a:chExt cx="5767917" cy="690195"/>
            </a:xfrm>
          </p:grpSpPr>
          <p:grpSp>
            <p:nvGrpSpPr>
              <p:cNvPr id="20" name="Google Shape;3110;p169">
                <a:extLst>
                  <a:ext uri="{FF2B5EF4-FFF2-40B4-BE49-F238E27FC236}">
                    <a16:creationId xmlns:a16="http://schemas.microsoft.com/office/drawing/2014/main" id="{95D54084-9773-6408-2434-D0E7B8220260}"/>
                  </a:ext>
                </a:extLst>
              </p:cNvPr>
              <p:cNvGrpSpPr/>
              <p:nvPr/>
            </p:nvGrpSpPr>
            <p:grpSpPr>
              <a:xfrm>
                <a:off x="9680198" y="256226"/>
                <a:ext cx="5767917" cy="690195"/>
                <a:chOff x="3099239" y="3615343"/>
                <a:chExt cx="1651576" cy="184687"/>
              </a:xfrm>
            </p:grpSpPr>
            <p:sp>
              <p:nvSpPr>
                <p:cNvPr id="33" name="Google Shape;3111;p169">
                  <a:extLst>
                    <a:ext uri="{FF2B5EF4-FFF2-40B4-BE49-F238E27FC236}">
                      <a16:creationId xmlns:a16="http://schemas.microsoft.com/office/drawing/2014/main" id="{2CF801E4-F5E0-783E-D305-73530AF4F7DC}"/>
                    </a:ext>
                  </a:extLst>
                </p:cNvPr>
                <p:cNvSpPr/>
                <p:nvPr/>
              </p:nvSpPr>
              <p:spPr>
                <a:xfrm>
                  <a:off x="3327296" y="3788725"/>
                  <a:ext cx="22611" cy="11305"/>
                </a:xfrm>
                <a:custGeom>
                  <a:avLst/>
                  <a:gdLst/>
                  <a:ahLst/>
                  <a:cxnLst/>
                  <a:rect l="l" t="t" r="r" b="b"/>
                  <a:pathLst>
                    <a:path w="1172" h="586" extrusionOk="0">
                      <a:moveTo>
                        <a:pt x="1" y="0"/>
                      </a:moveTo>
                      <a:lnTo>
                        <a:pt x="586" y="585"/>
                      </a:lnTo>
                      <a:lnTo>
                        <a:pt x="1171" y="0"/>
                      </a:lnTo>
                      <a:close/>
                    </a:path>
                  </a:pathLst>
                </a:custGeom>
                <a:solidFill>
                  <a:srgbClr val="448C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 name="Google Shape;3112;p169">
                  <a:extLst>
                    <a:ext uri="{FF2B5EF4-FFF2-40B4-BE49-F238E27FC236}">
                      <a16:creationId xmlns:a16="http://schemas.microsoft.com/office/drawing/2014/main" id="{9397E495-8B20-1438-2EA7-546C4C232D67}"/>
                    </a:ext>
                  </a:extLst>
                </p:cNvPr>
                <p:cNvSpPr/>
                <p:nvPr/>
              </p:nvSpPr>
              <p:spPr>
                <a:xfrm>
                  <a:off x="3213258" y="3626628"/>
                  <a:ext cx="799671"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5" name="Google Shape;3113;p169">
                  <a:extLst>
                    <a:ext uri="{FF2B5EF4-FFF2-40B4-BE49-F238E27FC236}">
                      <a16:creationId xmlns:a16="http://schemas.microsoft.com/office/drawing/2014/main" id="{CBDFFCF2-63D0-84D8-EDA5-99B9696FCEE4}"/>
                    </a:ext>
                  </a:extLst>
                </p:cNvPr>
                <p:cNvSpPr/>
                <p:nvPr/>
              </p:nvSpPr>
              <p:spPr>
                <a:xfrm>
                  <a:off x="3165220" y="3626629"/>
                  <a:ext cx="165202" cy="162115"/>
                </a:xfrm>
                <a:custGeom>
                  <a:avLst/>
                  <a:gdLst/>
                  <a:ahLst/>
                  <a:cxnLst/>
                  <a:rect l="l" t="t" r="r" b="b"/>
                  <a:pathLst>
                    <a:path w="8563" h="8403" extrusionOk="0">
                      <a:moveTo>
                        <a:pt x="0" y="1"/>
                      </a:moveTo>
                      <a:lnTo>
                        <a:pt x="8402" y="8402"/>
                      </a:lnTo>
                      <a:lnTo>
                        <a:pt x="8562" y="8402"/>
                      </a:lnTo>
                      <a:lnTo>
                        <a:pt x="2491" y="1"/>
                      </a:ln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6" name="Google Shape;3114;p169">
                  <a:extLst>
                    <a:ext uri="{FF2B5EF4-FFF2-40B4-BE49-F238E27FC236}">
                      <a16:creationId xmlns:a16="http://schemas.microsoft.com/office/drawing/2014/main" id="{F9697AC5-BB10-EABF-E7FF-6682A3265A67}"/>
                    </a:ext>
                  </a:extLst>
                </p:cNvPr>
                <p:cNvSpPr/>
                <p:nvPr/>
              </p:nvSpPr>
              <p:spPr>
                <a:xfrm>
                  <a:off x="3099239" y="3615343"/>
                  <a:ext cx="239381" cy="184687"/>
                </a:xfrm>
                <a:custGeom>
                  <a:avLst/>
                  <a:gdLst/>
                  <a:ahLst/>
                  <a:cxnLst/>
                  <a:rect l="l" t="t" r="r" b="b"/>
                  <a:pathLst>
                    <a:path w="12408" h="9573" extrusionOk="0">
                      <a:moveTo>
                        <a:pt x="1240" y="0"/>
                      </a:moveTo>
                      <a:cubicBezTo>
                        <a:pt x="563" y="0"/>
                        <a:pt x="0" y="551"/>
                        <a:pt x="12" y="1240"/>
                      </a:cubicBezTo>
                      <a:lnTo>
                        <a:pt x="12" y="8344"/>
                      </a:lnTo>
                      <a:cubicBezTo>
                        <a:pt x="12" y="9022"/>
                        <a:pt x="563" y="9572"/>
                        <a:pt x="1240" y="9572"/>
                      </a:cubicBezTo>
                      <a:lnTo>
                        <a:pt x="12407" y="9572"/>
                      </a:lnTo>
                      <a:lnTo>
                        <a:pt x="11822" y="8987"/>
                      </a:lnTo>
                      <a:lnTo>
                        <a:pt x="3420" y="586"/>
                      </a:lnTo>
                      <a:lnTo>
                        <a:pt x="2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7" name="Google Shape;3112;p169">
                  <a:extLst>
                    <a:ext uri="{FF2B5EF4-FFF2-40B4-BE49-F238E27FC236}">
                      <a16:creationId xmlns:a16="http://schemas.microsoft.com/office/drawing/2014/main" id="{C0E241D8-E7C2-7B81-8E3B-B203608BBEA7}"/>
                    </a:ext>
                  </a:extLst>
                </p:cNvPr>
                <p:cNvSpPr/>
                <p:nvPr/>
              </p:nvSpPr>
              <p:spPr>
                <a:xfrm>
                  <a:off x="3229068" y="3626367"/>
                  <a:ext cx="1521747"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21" name="タイトル 1">
                <a:extLst>
                  <a:ext uri="{FF2B5EF4-FFF2-40B4-BE49-F238E27FC236}">
                    <a16:creationId xmlns:a16="http://schemas.microsoft.com/office/drawing/2014/main" id="{EDEAB80C-C43E-2A79-765E-80F724025772}"/>
                  </a:ext>
                </a:extLst>
              </p:cNvPr>
              <p:cNvSpPr txBox="1">
                <a:spLocks/>
              </p:cNvSpPr>
              <p:nvPr/>
            </p:nvSpPr>
            <p:spPr>
              <a:xfrm>
                <a:off x="10683978" y="456244"/>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r>
                  <a:rPr lang="en-US" altLang="ja-JP" dirty="0">
                    <a:latin typeface="Times New Roman" panose="02020603050405020304" pitchFamily="18" charset="0"/>
                    <a:cs typeface="Times New Roman" panose="02020603050405020304" pitchFamily="18" charset="0"/>
                  </a:rPr>
                  <a:t>AI </a:t>
                </a:r>
                <a:r>
                  <a:rPr lang="en-US" altLang="ja-JP" dirty="0" err="1">
                    <a:latin typeface="Times New Roman" panose="02020603050405020304" pitchFamily="18" charset="0"/>
                    <a:cs typeface="Times New Roman" panose="02020603050405020304" pitchFamily="18" charset="0"/>
                  </a:rPr>
                  <a:t>dự</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đoán</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và</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cảnh</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báo</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lỗi</a:t>
                </a:r>
                <a:endParaRPr lang="en-US" altLang="ja-JP" dirty="0">
                  <a:latin typeface="Times New Roman" panose="02020603050405020304" pitchFamily="18" charset="0"/>
                  <a:cs typeface="Times New Roman" panose="02020603050405020304" pitchFamily="18" charset="0"/>
                </a:endParaRPr>
              </a:p>
            </p:txBody>
          </p:sp>
          <p:sp>
            <p:nvSpPr>
              <p:cNvPr id="31" name="タイトル 1">
                <a:extLst>
                  <a:ext uri="{FF2B5EF4-FFF2-40B4-BE49-F238E27FC236}">
                    <a16:creationId xmlns:a16="http://schemas.microsoft.com/office/drawing/2014/main" id="{EC0AFB86-4D54-A2C7-C4C8-CCD1EBF95238}"/>
                  </a:ext>
                </a:extLst>
              </p:cNvPr>
              <p:cNvSpPr txBox="1">
                <a:spLocks/>
              </p:cNvSpPr>
              <p:nvPr/>
            </p:nvSpPr>
            <p:spPr>
              <a:xfrm>
                <a:off x="9839575" y="531261"/>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endParaRPr lang="ja-JP" altLang="en-US" dirty="0">
                  <a:latin typeface="Times New Roman" panose="02020603050405020304" pitchFamily="18" charset="0"/>
                  <a:cs typeface="Times New Roman" panose="02020603050405020304" pitchFamily="18" charset="0"/>
                </a:endParaRPr>
              </a:p>
            </p:txBody>
          </p:sp>
        </p:grpSp>
      </p:grpSp>
      <p:sp>
        <p:nvSpPr>
          <p:cNvPr id="39" name="T4">
            <a:extLst>
              <a:ext uri="{FF2B5EF4-FFF2-40B4-BE49-F238E27FC236}">
                <a16:creationId xmlns:a16="http://schemas.microsoft.com/office/drawing/2014/main" id="{1A036DE9-C583-A4B3-43B3-3F03FEE7CA46}"/>
              </a:ext>
            </a:extLst>
          </p:cNvPr>
          <p:cNvSpPr txBox="1"/>
          <p:nvPr/>
        </p:nvSpPr>
        <p:spPr>
          <a:xfrm>
            <a:off x="154499" y="894369"/>
            <a:ext cx="9987028" cy="520000"/>
          </a:xfrm>
          <a:prstGeom prst="roundRect">
            <a:avLst>
              <a:gd name="adj" fmla="val 22000"/>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p:spPr>
        <p:txBody>
          <a:bodyPr wrap="square" lIns="228600" tIns="0" rIns="114300" bIns="0" anchor="ctr">
            <a:normAutofit/>
          </a:bodyPr>
          <a:lstStyle/>
          <a:p>
            <a:r>
              <a:rPr lang="vi-VN" altLang="ja-JP" sz="1600" b="1" dirty="0">
                <a:latin typeface="Times New Roman" panose="02020603050405020304" pitchFamily="18" charset="0"/>
                <a:cs typeface="Times New Roman" panose="02020603050405020304" pitchFamily="18" charset="0"/>
              </a:rPr>
              <a:t>Nắm bắt hiện trạng</a:t>
            </a:r>
            <a:r>
              <a:rPr lang="en-US" altLang="ja-JP" sz="1600" b="1" dirty="0">
                <a:latin typeface="Times New Roman" panose="02020603050405020304" pitchFamily="18" charset="0"/>
                <a:cs typeface="Times New Roman" panose="02020603050405020304" pitchFamily="18" charset="0"/>
              </a:rPr>
              <a:t> </a:t>
            </a:r>
            <a:r>
              <a:rPr lang="en-US" altLang="ja-JP" sz="1600" b="1" dirty="0" err="1">
                <a:latin typeface="Times New Roman" panose="02020603050405020304" pitchFamily="18" charset="0"/>
                <a:cs typeface="Times New Roman" panose="02020603050405020304" pitchFamily="18" charset="0"/>
              </a:rPr>
              <a:t>lỗi</a:t>
            </a:r>
            <a:r>
              <a:rPr lang="en-US" altLang="ja-JP" sz="1600" b="1" dirty="0">
                <a:latin typeface="Times New Roman" panose="02020603050405020304" pitchFamily="18" charset="0"/>
                <a:cs typeface="Times New Roman" panose="02020603050405020304" pitchFamily="18" charset="0"/>
              </a:rPr>
              <a:t> </a:t>
            </a:r>
            <a:r>
              <a:rPr lang="ja-JP" altLang="en-US" sz="1600" b="1" dirty="0">
                <a:latin typeface="Times New Roman" panose="02020603050405020304" pitchFamily="18" charset="0"/>
                <a:cs typeface="Times New Roman" panose="02020603050405020304" pitchFamily="18" charset="0"/>
              </a:rPr>
              <a:t> </a:t>
            </a:r>
            <a:r>
              <a:rPr lang="en-US" altLang="ja-JP" sz="1600" b="1"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Tiến </a:t>
            </a:r>
            <a:r>
              <a:rPr lang="en-US" sz="1600" b="1" dirty="0" err="1">
                <a:latin typeface="Times New Roman" panose="02020603050405020304" pitchFamily="18" charset="0"/>
                <a:cs typeface="Times New Roman" panose="02020603050405020304" pitchFamily="18" charset="0"/>
              </a:rPr>
              <a:t>hành</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phân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tích</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dữ</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liệu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lỗi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của</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các</a:t>
            </a:r>
            <a:r>
              <a:rPr lang="en-US" sz="1600" b="1" dirty="0">
                <a:latin typeface="Times New Roman" panose="02020603050405020304" pitchFamily="18" charset="0"/>
                <a:cs typeface="Times New Roman" panose="02020603050405020304" pitchFamily="18" charset="0"/>
              </a:rPr>
              <a:t> JIG </a:t>
            </a:r>
            <a:r>
              <a:rPr lang="en-US" sz="1600" b="1" dirty="0" err="1">
                <a:latin typeface="Times New Roman" panose="02020603050405020304" pitchFamily="18" charset="0"/>
                <a:cs typeface="Times New Roman" panose="02020603050405020304" pitchFamily="18" charset="0"/>
              </a:rPr>
              <a:t>điều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chỉnh</a:t>
            </a:r>
            <a:r>
              <a:rPr lang="en-US" sz="1600" b="1" dirty="0">
                <a:latin typeface="Times New Roman" panose="02020603050405020304" pitchFamily="18" charset="0"/>
                <a:cs typeface="Times New Roman" panose="02020603050405020304" pitchFamily="18" charset="0"/>
              </a:rPr>
              <a:t> Ranks S </a:t>
            </a:r>
            <a:r>
              <a:rPr lang="en-US" sz="1600" b="1" dirty="0" err="1">
                <a:latin typeface="Times New Roman" panose="02020603050405020304" pitchFamily="18" charset="0"/>
                <a:cs typeface="Times New Roman" panose="02020603050405020304" pitchFamily="18" charset="0"/>
              </a:rPr>
              <a:t>tại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xưởng</a:t>
            </a:r>
            <a:r>
              <a:rPr lang="en-US" sz="1600" b="1" dirty="0">
                <a:latin typeface="Times New Roman" panose="02020603050405020304" pitchFamily="18" charset="0"/>
                <a:cs typeface="Times New Roman" panose="02020603050405020304" pitchFamily="18" charset="0"/>
              </a:rPr>
              <a:t> KDTVN </a:t>
            </a:r>
          </a:p>
        </p:txBody>
      </p:sp>
    </p:spTree>
    <p:extLst>
      <p:ext uri="{BB962C8B-B14F-4D97-AF65-F5344CB8AC3E}">
        <p14:creationId xmlns:p14="http://schemas.microsoft.com/office/powerpoint/2010/main" val="4141066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anim calcmode="lin" valueType="num">
                                      <p:cBhvr>
                                        <p:cTn id="8" dur="500" fill="hold"/>
                                        <p:tgtEl>
                                          <p:spTgt spid="13"/>
                                        </p:tgtEl>
                                        <p:attrNameLst>
                                          <p:attrName>ppt_x</p:attrName>
                                        </p:attrNameLst>
                                      </p:cBhvr>
                                      <p:tavLst>
                                        <p:tav tm="0">
                                          <p:val>
                                            <p:strVal val="#ppt_x"/>
                                          </p:val>
                                        </p:tav>
                                        <p:tav tm="100000">
                                          <p:val>
                                            <p:strVal val="#ppt_x"/>
                                          </p:val>
                                        </p:tav>
                                      </p:tavLst>
                                    </p:anim>
                                    <p:anim calcmode="lin" valueType="num">
                                      <p:cBhvr>
                                        <p:cTn id="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4"/>
          <p:cNvSpPr txBox="1"/>
          <p:nvPr/>
        </p:nvSpPr>
        <p:spPr>
          <a:xfrm>
            <a:off x="101600" y="651626"/>
            <a:ext cx="11958320" cy="585908"/>
          </a:xfrm>
          <a:prstGeom prst="roundRect">
            <a:avLst>
              <a:gd name="adj" fmla="val 22000"/>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p:spPr>
        <p:txBody>
          <a:bodyPr wrap="square" lIns="228600" tIns="0" rIns="114300" bIns="0" anchor="ctr">
            <a:normAutofit/>
          </a:bodyPr>
          <a:lstStyle/>
          <a:p>
            <a:pPr algn="l">
              <a:lnSpc>
                <a:spcPct val="100000"/>
              </a:lnSpc>
              <a:spcBef>
                <a:spcPts val="0"/>
              </a:spcBef>
            </a:pPr>
            <a:r>
              <a:rPr lang="en-US" sz="1600" b="1" dirty="0" err="1">
                <a:latin typeface="Times New Roman" panose="02020603050405020304" pitchFamily="18" charset="0"/>
                <a:cs typeface="Times New Roman" panose="02020603050405020304" pitchFamily="18" charset="0"/>
              </a:rPr>
              <a:t>Giới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thiệu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tổng</a:t>
            </a:r>
            <a:r>
              <a:rPr lang="en-US" sz="1600" b="1" dirty="0">
                <a:latin typeface="Times New Roman" panose="02020603050405020304" pitchFamily="18" charset="0"/>
                <a:cs typeface="Times New Roman" panose="02020603050405020304" pitchFamily="18" charset="0"/>
              </a:rPr>
              <a:t> quan </a:t>
            </a:r>
            <a:r>
              <a:rPr lang="en-US" sz="1600" b="1" dirty="0" err="1">
                <a:latin typeface="Times New Roman" panose="02020603050405020304" pitchFamily="18" charset="0"/>
                <a:cs typeface="Times New Roman" panose="02020603050405020304" pitchFamily="18" charset="0"/>
              </a:rPr>
              <a:t>mô</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hình</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hoạt</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động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của</a:t>
            </a:r>
            <a:r>
              <a:rPr lang="en-US" sz="1600" b="1" dirty="0">
                <a:latin typeface="Times New Roman" panose="02020603050405020304" pitchFamily="18" charset="0"/>
                <a:cs typeface="Times New Roman" panose="02020603050405020304" pitchFamily="18" charset="0"/>
              </a:rPr>
              <a:t> AI </a:t>
            </a:r>
            <a:r>
              <a:rPr lang="en-US" sz="1600" b="1" dirty="0" err="1">
                <a:latin typeface="Times New Roman" panose="02020603050405020304" pitchFamily="18" charset="0"/>
                <a:cs typeface="Times New Roman" panose="02020603050405020304" pitchFamily="18" charset="0"/>
              </a:rPr>
              <a:t>sau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khi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đã</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hoàn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thành</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xây</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dựng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áp</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dụng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ứng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dụng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cho</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dự</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đoán</a:t>
            </a:r>
            <a:r>
              <a:rPr lang="en-US" sz="1600" b="1" dirty="0">
                <a:latin typeface="Times New Roman" panose="02020603050405020304" pitchFamily="18" charset="0"/>
                <a:cs typeface="Times New Roman" panose="02020603050405020304" pitchFamily="18" charset="0"/>
              </a:rPr>
              <a:t> , </a:t>
            </a:r>
            <a:r>
              <a:rPr lang="en-US" sz="1600" b="1" dirty="0" err="1">
                <a:latin typeface="Times New Roman" panose="02020603050405020304" pitchFamily="18" charset="0"/>
                <a:cs typeface="Times New Roman" panose="02020603050405020304" pitchFamily="18" charset="0"/>
              </a:rPr>
              <a:t>cảnh</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báo</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lỗi</a:t>
            </a:r>
            <a:r>
              <a:rPr lang="en-US" sz="1600" b="1" dirty="0">
                <a:latin typeface="Times New Roman" panose="02020603050405020304" pitchFamily="18" charset="0"/>
                <a:cs typeface="Times New Roman" panose="02020603050405020304" pitchFamily="18" charset="0"/>
              </a:rPr>
              <a:t>.</a:t>
            </a:r>
            <a:endParaRPr lang="vi-VN" sz="1600" b="1" dirty="0">
              <a:latin typeface="Times New Roman" panose="02020603050405020304" pitchFamily="18" charset="0"/>
              <a:cs typeface="Times New Roman" panose="02020603050405020304" pitchFamily="18" charset="0"/>
            </a:endParaRPr>
          </a:p>
        </p:txBody>
      </p:sp>
      <p:sp>
        <p:nvSpPr>
          <p:cNvPr id="300" name="Arrow0"/>
          <p:cNvSpPr/>
          <p:nvPr/>
        </p:nvSpPr>
        <p:spPr>
          <a:xfrm>
            <a:off x="880000" y="2450000"/>
            <a:ext cx="260000" cy="400000"/>
          </a:xfrm>
          <a:prstGeom prst="downArrow">
            <a:avLst>
              <a:gd name="adj1" fmla="val 50000"/>
              <a:gd name="adj2" fmla="val 50000"/>
            </a:avLst>
          </a:prstGeom>
          <a:solidFill>
            <a:srgbClr val="B9B4E0"/>
          </a:solidFill>
          <a:ln>
            <a:noFill/>
          </a:ln>
        </p:spPr>
        <p:txBody>
          <a:bodyPr/>
          <a:lstStyle/>
          <a:p>
            <a:endParaRPr lang="vi-VN">
              <a:latin typeface="Times New Roman" panose="02020603050405020304" pitchFamily="18" charset="0"/>
              <a:cs typeface="Times New Roman" panose="02020603050405020304" pitchFamily="18" charset="0"/>
            </a:endParaRPr>
          </a:p>
        </p:txBody>
      </p:sp>
      <p:sp>
        <p:nvSpPr>
          <p:cNvPr id="301" name="Arrow1"/>
          <p:cNvSpPr/>
          <p:nvPr/>
        </p:nvSpPr>
        <p:spPr>
          <a:xfrm>
            <a:off x="880000" y="3530000"/>
            <a:ext cx="260000" cy="400000"/>
          </a:xfrm>
          <a:prstGeom prst="downArrow">
            <a:avLst>
              <a:gd name="adj1" fmla="val 50000"/>
              <a:gd name="adj2" fmla="val 50000"/>
            </a:avLst>
          </a:prstGeom>
          <a:solidFill>
            <a:srgbClr val="B9B4E0"/>
          </a:solidFill>
          <a:ln>
            <a:noFill/>
          </a:ln>
        </p:spPr>
        <p:txBody>
          <a:bodyPr/>
          <a:lstStyle/>
          <a:p>
            <a:endParaRPr lang="vi-VN">
              <a:latin typeface="Times New Roman" panose="02020603050405020304" pitchFamily="18" charset="0"/>
              <a:cs typeface="Times New Roman" panose="02020603050405020304" pitchFamily="18" charset="0"/>
            </a:endParaRPr>
          </a:p>
        </p:txBody>
      </p:sp>
      <p:sp>
        <p:nvSpPr>
          <p:cNvPr id="302" name="Arrow2"/>
          <p:cNvSpPr/>
          <p:nvPr/>
        </p:nvSpPr>
        <p:spPr>
          <a:xfrm>
            <a:off x="880000" y="4610000"/>
            <a:ext cx="260000" cy="400000"/>
          </a:xfrm>
          <a:prstGeom prst="downArrow">
            <a:avLst>
              <a:gd name="adj1" fmla="val 50000"/>
              <a:gd name="adj2" fmla="val 50000"/>
            </a:avLst>
          </a:prstGeom>
          <a:solidFill>
            <a:srgbClr val="B9B4E0"/>
          </a:solidFill>
          <a:ln>
            <a:noFill/>
          </a:ln>
        </p:spPr>
        <p:txBody>
          <a:bodyPr/>
          <a:lstStyle/>
          <a:p>
            <a:endParaRPr lang="vi-VN">
              <a:latin typeface="Times New Roman" panose="02020603050405020304" pitchFamily="18" charset="0"/>
              <a:cs typeface="Times New Roman" panose="02020603050405020304" pitchFamily="18" charset="0"/>
            </a:endParaRPr>
          </a:p>
        </p:txBody>
      </p:sp>
      <p:sp>
        <p:nvSpPr>
          <p:cNvPr id="100" name="S100"/>
          <p:cNvSpPr/>
          <p:nvPr/>
        </p:nvSpPr>
        <p:spPr>
          <a:xfrm>
            <a:off x="1400000" y="1650000"/>
            <a:ext cx="7600000" cy="920000"/>
          </a:xfrm>
          <a:prstGeom prst="roundRect">
            <a:avLst>
              <a:gd name="adj" fmla="val 9000"/>
            </a:avLst>
          </a:prstGeom>
          <a:solidFill>
            <a:srgbClr val="FFFFFF"/>
          </a:solidFill>
          <a:ln w="9525">
            <a:solidFill>
              <a:srgbClr val="DCDEF2"/>
            </a:solidFill>
          </a:ln>
        </p:spPr>
        <p:txBody>
          <a:bodyPr/>
          <a:lstStyle/>
          <a:p>
            <a:endParaRPr lang="vi-VN">
              <a:latin typeface="Times New Roman" panose="02020603050405020304" pitchFamily="18" charset="0"/>
              <a:cs typeface="Times New Roman" panose="02020603050405020304" pitchFamily="18" charset="0"/>
            </a:endParaRPr>
          </a:p>
        </p:txBody>
      </p:sp>
      <p:pic>
        <p:nvPicPr>
          <p:cNvPr id="101" name="I101"/>
          <p:cNvPicPr>
            <a:picLocks noChangeAspect="1"/>
          </p:cNvPicPr>
          <p:nvPr/>
        </p:nvPicPr>
        <p:blipFill>
          <a:blip r:embed="rId3"/>
          <a:stretch>
            <a:fillRect/>
          </a:stretch>
        </p:blipFill>
        <p:spPr>
          <a:xfrm>
            <a:off x="1620000" y="1800000"/>
            <a:ext cx="620000" cy="620000"/>
          </a:xfrm>
          <a:prstGeom prst="rect">
            <a:avLst/>
          </a:prstGeom>
        </p:spPr>
      </p:pic>
      <p:sp>
        <p:nvSpPr>
          <p:cNvPr id="102" name="T102"/>
          <p:cNvSpPr txBox="1">
            <a:spLocks/>
          </p:cNvSpPr>
          <p:nvPr/>
        </p:nvSpPr>
        <p:spPr>
          <a:xfrm>
            <a:off x="2420000" y="1800000"/>
            <a:ext cx="3000000" cy="620000"/>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Đầu vào</a:t>
            </a:r>
          </a:p>
        </p:txBody>
      </p:sp>
      <p:sp>
        <p:nvSpPr>
          <p:cNvPr id="103" name="T103"/>
          <p:cNvSpPr txBox="1"/>
          <p:nvPr/>
        </p:nvSpPr>
        <p:spPr>
          <a:xfrm>
            <a:off x="5600000" y="1800000"/>
            <a:ext cx="3300000" cy="620000"/>
          </a:xfrm>
          <a:prstGeom prst="rect">
            <a:avLst/>
          </a:prstGeom>
          <a:noFill/>
        </p:spPr>
        <p:txBody>
          <a:bodyPr wrap="square" lIns="0" tIns="0" rIns="0" bIns="0" anchor="ctr">
            <a:normAutofit/>
          </a:bodyPr>
          <a:lstStyle/>
          <a:p>
            <a:pPr algn="l">
              <a:lnSpc>
                <a:spcPct val="100000"/>
              </a:lnSpc>
              <a:spcBef>
                <a:spcPts val="0"/>
              </a:spcBef>
            </a:pPr>
            <a:r>
              <a:rPr lang="vi-VN" sz="1300" b="0" dirty="0">
                <a:solidFill>
                  <a:srgbClr val="505050"/>
                </a:solidFill>
                <a:latin typeface="Times New Roman" panose="02020603050405020304" pitchFamily="18" charset="0"/>
                <a:cs typeface="Times New Roman" panose="02020603050405020304" pitchFamily="18" charset="0"/>
              </a:rPr>
              <a:t>Thông số linh kiện nhựa theo lot và dữ liệu check jig ứng với từng lot</a:t>
            </a:r>
          </a:p>
        </p:txBody>
      </p:sp>
      <p:sp>
        <p:nvSpPr>
          <p:cNvPr id="104" name="B01"/>
          <p:cNvSpPr>
            <a:spLocks/>
          </p:cNvSpPr>
          <p:nvPr/>
        </p:nvSpPr>
        <p:spPr>
          <a:xfrm>
            <a:off x="730000" y="1830000"/>
            <a:ext cx="560000" cy="560000"/>
          </a:xfrm>
          <a:prstGeom prst="ellipse">
            <a:avLst/>
          </a:prstGeom>
          <a:solidFill>
            <a:srgbClr val="2E1C9E"/>
          </a:solidFill>
          <a:ln w="38100">
            <a:solidFill>
              <a:srgbClr val="FFFFFF"/>
            </a:solidFill>
          </a:ln>
        </p:spPr>
        <p:txBody>
          <a:bodyPr wrap="none" anchor="ctr"/>
          <a:lstStyle/>
          <a:p>
            <a:pPr algn="ctr"/>
            <a:r>
              <a:rPr lang="en-US" sz="1400" b="1" dirty="0">
                <a:solidFill>
                  <a:srgbClr val="FFFFFF"/>
                </a:solidFill>
                <a:latin typeface="Times New Roman" panose="02020603050405020304" pitchFamily="18" charset="0"/>
                <a:cs typeface="Times New Roman" panose="02020603050405020304" pitchFamily="18" charset="0"/>
              </a:rPr>
              <a:t>01</a:t>
            </a:r>
          </a:p>
        </p:txBody>
      </p:sp>
      <p:sp>
        <p:nvSpPr>
          <p:cNvPr id="105" name="S105"/>
          <p:cNvSpPr/>
          <p:nvPr/>
        </p:nvSpPr>
        <p:spPr>
          <a:xfrm>
            <a:off x="1400000" y="2730000"/>
            <a:ext cx="7600000" cy="920000"/>
          </a:xfrm>
          <a:prstGeom prst="roundRect">
            <a:avLst>
              <a:gd name="adj" fmla="val 9000"/>
            </a:avLst>
          </a:prstGeom>
          <a:solidFill>
            <a:srgbClr val="FFFFFF"/>
          </a:solidFill>
          <a:ln w="9525">
            <a:solidFill>
              <a:srgbClr val="DCDEF2"/>
            </a:solidFill>
          </a:ln>
        </p:spPr>
        <p:txBody>
          <a:bodyPr/>
          <a:lstStyle/>
          <a:p>
            <a:endParaRPr lang="vi-VN">
              <a:latin typeface="Times New Roman" panose="02020603050405020304" pitchFamily="18" charset="0"/>
              <a:cs typeface="Times New Roman" panose="02020603050405020304" pitchFamily="18" charset="0"/>
            </a:endParaRPr>
          </a:p>
        </p:txBody>
      </p:sp>
      <p:pic>
        <p:nvPicPr>
          <p:cNvPr id="106" name="I106"/>
          <p:cNvPicPr>
            <a:picLocks noChangeAspect="1"/>
          </p:cNvPicPr>
          <p:nvPr/>
        </p:nvPicPr>
        <p:blipFill>
          <a:blip r:embed="rId4"/>
          <a:stretch>
            <a:fillRect/>
          </a:stretch>
        </p:blipFill>
        <p:spPr>
          <a:xfrm>
            <a:off x="1620000" y="2880000"/>
            <a:ext cx="620000" cy="620000"/>
          </a:xfrm>
          <a:prstGeom prst="rect">
            <a:avLst/>
          </a:prstGeom>
        </p:spPr>
      </p:pic>
      <p:sp>
        <p:nvSpPr>
          <p:cNvPr id="107" name="T107"/>
          <p:cNvSpPr txBox="1">
            <a:spLocks/>
          </p:cNvSpPr>
          <p:nvPr/>
        </p:nvSpPr>
        <p:spPr>
          <a:xfrm>
            <a:off x="2420000" y="2880000"/>
            <a:ext cx="3000000" cy="620000"/>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Tra cứu và phân tích</a:t>
            </a:r>
          </a:p>
        </p:txBody>
      </p:sp>
      <p:sp>
        <p:nvSpPr>
          <p:cNvPr id="108" name="T108"/>
          <p:cNvSpPr txBox="1"/>
          <p:nvPr/>
        </p:nvSpPr>
        <p:spPr>
          <a:xfrm>
            <a:off x="5600000" y="2880000"/>
            <a:ext cx="3300000" cy="620000"/>
          </a:xfrm>
          <a:prstGeom prst="rect">
            <a:avLst/>
          </a:prstGeom>
          <a:noFill/>
        </p:spPr>
        <p:txBody>
          <a:bodyPr wrap="square" lIns="0" tIns="0" rIns="0" bIns="0" anchor="ctr">
            <a:normAutofit/>
          </a:bodyPr>
          <a:lstStyle/>
          <a:p>
            <a:pPr algn="l">
              <a:lnSpc>
                <a:spcPct val="100000"/>
              </a:lnSpc>
              <a:spcBef>
                <a:spcPts val="0"/>
              </a:spcBef>
            </a:pPr>
            <a:r>
              <a:rPr lang="vi-VN" sz="1300" b="0" dirty="0">
                <a:solidFill>
                  <a:srgbClr val="505050"/>
                </a:solidFill>
                <a:latin typeface="Times New Roman" panose="02020603050405020304" pitchFamily="18" charset="0"/>
                <a:cs typeface="Times New Roman" panose="02020603050405020304" pitchFamily="18" charset="0"/>
              </a:rPr>
              <a:t>AI đối chiếu tương quan giữa thông số linh kiện và biến đổi dữ liệu trên jig</a:t>
            </a:r>
          </a:p>
        </p:txBody>
      </p:sp>
      <p:sp>
        <p:nvSpPr>
          <p:cNvPr id="109" name="B02"/>
          <p:cNvSpPr>
            <a:spLocks/>
          </p:cNvSpPr>
          <p:nvPr/>
        </p:nvSpPr>
        <p:spPr>
          <a:xfrm>
            <a:off x="730000" y="2910000"/>
            <a:ext cx="560000" cy="560000"/>
          </a:xfrm>
          <a:prstGeom prst="ellipse">
            <a:avLst/>
          </a:prstGeom>
          <a:solidFill>
            <a:srgbClr val="11A0D8"/>
          </a:solidFill>
          <a:ln w="38100">
            <a:solidFill>
              <a:srgbClr val="FFFFFF"/>
            </a:solidFill>
          </a:ln>
        </p:spPr>
        <p:txBody>
          <a:bodyPr wrap="none" anchor="ctr"/>
          <a:lstStyle/>
          <a:p>
            <a:pPr algn="ctr"/>
            <a:r>
              <a:rPr lang="en-US" sz="1400" b="1" dirty="0">
                <a:solidFill>
                  <a:srgbClr val="FFFFFF"/>
                </a:solidFill>
                <a:latin typeface="Times New Roman" panose="02020603050405020304" pitchFamily="18" charset="0"/>
                <a:cs typeface="Times New Roman" panose="02020603050405020304" pitchFamily="18" charset="0"/>
              </a:rPr>
              <a:t>02</a:t>
            </a:r>
          </a:p>
        </p:txBody>
      </p:sp>
      <p:sp>
        <p:nvSpPr>
          <p:cNvPr id="110" name="S110"/>
          <p:cNvSpPr/>
          <p:nvPr/>
        </p:nvSpPr>
        <p:spPr>
          <a:xfrm>
            <a:off x="1400000" y="3810000"/>
            <a:ext cx="7600000" cy="920000"/>
          </a:xfrm>
          <a:prstGeom prst="roundRect">
            <a:avLst>
              <a:gd name="adj" fmla="val 9000"/>
            </a:avLst>
          </a:prstGeom>
          <a:solidFill>
            <a:srgbClr val="FFFFFF"/>
          </a:solidFill>
          <a:ln w="9525">
            <a:solidFill>
              <a:srgbClr val="DCDEF2"/>
            </a:solidFill>
          </a:ln>
        </p:spPr>
        <p:txBody>
          <a:bodyPr/>
          <a:lstStyle/>
          <a:p>
            <a:endParaRPr lang="vi-VN">
              <a:latin typeface="Times New Roman" panose="02020603050405020304" pitchFamily="18" charset="0"/>
              <a:cs typeface="Times New Roman" panose="02020603050405020304" pitchFamily="18" charset="0"/>
            </a:endParaRPr>
          </a:p>
        </p:txBody>
      </p:sp>
      <p:pic>
        <p:nvPicPr>
          <p:cNvPr id="111" name="I111"/>
          <p:cNvPicPr>
            <a:picLocks noChangeAspect="1"/>
          </p:cNvPicPr>
          <p:nvPr/>
        </p:nvPicPr>
        <p:blipFill>
          <a:blip r:embed="rId5"/>
          <a:stretch>
            <a:fillRect/>
          </a:stretch>
        </p:blipFill>
        <p:spPr>
          <a:xfrm>
            <a:off x="1620000" y="3960000"/>
            <a:ext cx="620000" cy="620000"/>
          </a:xfrm>
          <a:prstGeom prst="rect">
            <a:avLst/>
          </a:prstGeom>
        </p:spPr>
      </p:pic>
      <p:sp>
        <p:nvSpPr>
          <p:cNvPr id="112" name="T112"/>
          <p:cNvSpPr txBox="1">
            <a:spLocks/>
          </p:cNvSpPr>
          <p:nvPr/>
        </p:nvSpPr>
        <p:spPr>
          <a:xfrm>
            <a:off x="2420000" y="3960000"/>
            <a:ext cx="3000000" cy="620000"/>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Phản hồi dựa trên dữ liệu</a:t>
            </a:r>
          </a:p>
        </p:txBody>
      </p:sp>
      <p:sp>
        <p:nvSpPr>
          <p:cNvPr id="113" name="T113"/>
          <p:cNvSpPr txBox="1"/>
          <p:nvPr/>
        </p:nvSpPr>
        <p:spPr>
          <a:xfrm>
            <a:off x="5600000" y="3960000"/>
            <a:ext cx="3300000" cy="620000"/>
          </a:xfrm>
          <a:prstGeom prst="rect">
            <a:avLst/>
          </a:prstGeom>
          <a:noFill/>
        </p:spPr>
        <p:txBody>
          <a:bodyPr wrap="square" lIns="0" tIns="0" rIns="0" bIns="0" anchor="ctr">
            <a:normAutofit/>
          </a:bodyPr>
          <a:lstStyle/>
          <a:p>
            <a:pPr algn="l">
              <a:lnSpc>
                <a:spcPct val="100000"/>
              </a:lnSpc>
              <a:spcBef>
                <a:spcPts val="0"/>
              </a:spcBef>
            </a:pPr>
            <a:r>
              <a:rPr lang="vi-VN" sz="1300" b="0" dirty="0">
                <a:solidFill>
                  <a:srgbClr val="505050"/>
                </a:solidFill>
                <a:latin typeface="Times New Roman" panose="02020603050405020304" pitchFamily="18" charset="0"/>
                <a:cs typeface="Times New Roman" panose="02020603050405020304" pitchFamily="18" charset="0"/>
              </a:rPr>
              <a:t>Dựa theo tri thức đã học và dữ liệu thực tế để dự đoán, cảnh báo sớm khi tiến gần mức NG</a:t>
            </a:r>
          </a:p>
        </p:txBody>
      </p:sp>
      <p:sp>
        <p:nvSpPr>
          <p:cNvPr id="114" name="B03"/>
          <p:cNvSpPr>
            <a:spLocks/>
          </p:cNvSpPr>
          <p:nvPr/>
        </p:nvSpPr>
        <p:spPr>
          <a:xfrm>
            <a:off x="730000" y="3990000"/>
            <a:ext cx="560000" cy="560000"/>
          </a:xfrm>
          <a:prstGeom prst="ellipse">
            <a:avLst/>
          </a:prstGeom>
          <a:solidFill>
            <a:srgbClr val="00B050"/>
          </a:solidFill>
          <a:ln w="38100">
            <a:solidFill>
              <a:srgbClr val="FFFFFF"/>
            </a:solidFill>
          </a:ln>
        </p:spPr>
        <p:txBody>
          <a:bodyPr wrap="none" anchor="ctr"/>
          <a:lstStyle/>
          <a:p>
            <a:pPr algn="ctr"/>
            <a:r>
              <a:rPr lang="en-US" sz="1400" b="1" dirty="0">
                <a:solidFill>
                  <a:srgbClr val="FFFFFF"/>
                </a:solidFill>
                <a:latin typeface="Times New Roman" panose="02020603050405020304" pitchFamily="18" charset="0"/>
                <a:cs typeface="Times New Roman" panose="02020603050405020304" pitchFamily="18" charset="0"/>
              </a:rPr>
              <a:t>03</a:t>
            </a:r>
          </a:p>
        </p:txBody>
      </p:sp>
      <p:sp>
        <p:nvSpPr>
          <p:cNvPr id="115" name="S115"/>
          <p:cNvSpPr/>
          <p:nvPr/>
        </p:nvSpPr>
        <p:spPr>
          <a:xfrm>
            <a:off x="1400000" y="4890000"/>
            <a:ext cx="7600000" cy="920000"/>
          </a:xfrm>
          <a:prstGeom prst="roundRect">
            <a:avLst>
              <a:gd name="adj" fmla="val 9000"/>
            </a:avLst>
          </a:prstGeom>
          <a:solidFill>
            <a:srgbClr val="FFFFFF"/>
          </a:solidFill>
          <a:ln w="9525">
            <a:solidFill>
              <a:srgbClr val="DCDEF2"/>
            </a:solidFill>
          </a:ln>
        </p:spPr>
        <p:txBody>
          <a:bodyPr/>
          <a:lstStyle/>
          <a:p>
            <a:endParaRPr lang="vi-VN">
              <a:latin typeface="Times New Roman" panose="02020603050405020304" pitchFamily="18" charset="0"/>
              <a:cs typeface="Times New Roman" panose="02020603050405020304" pitchFamily="18" charset="0"/>
            </a:endParaRPr>
          </a:p>
        </p:txBody>
      </p:sp>
      <p:pic>
        <p:nvPicPr>
          <p:cNvPr id="116" name="I116"/>
          <p:cNvPicPr>
            <a:picLocks noChangeAspect="1"/>
          </p:cNvPicPr>
          <p:nvPr/>
        </p:nvPicPr>
        <p:blipFill>
          <a:blip r:embed="rId6"/>
          <a:stretch>
            <a:fillRect/>
          </a:stretch>
        </p:blipFill>
        <p:spPr>
          <a:xfrm>
            <a:off x="1620000" y="5040000"/>
            <a:ext cx="620000" cy="620000"/>
          </a:xfrm>
          <a:prstGeom prst="rect">
            <a:avLst/>
          </a:prstGeom>
        </p:spPr>
      </p:pic>
      <p:sp>
        <p:nvSpPr>
          <p:cNvPr id="117" name="T117"/>
          <p:cNvSpPr txBox="1">
            <a:spLocks/>
          </p:cNvSpPr>
          <p:nvPr/>
        </p:nvSpPr>
        <p:spPr>
          <a:xfrm>
            <a:off x="2420000" y="5040000"/>
            <a:ext cx="3000000" cy="620000"/>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Đối chiếu / Kiểm tra</a:t>
            </a:r>
          </a:p>
        </p:txBody>
      </p:sp>
      <p:sp>
        <p:nvSpPr>
          <p:cNvPr id="118" name="T118"/>
          <p:cNvSpPr txBox="1"/>
          <p:nvPr/>
        </p:nvSpPr>
        <p:spPr>
          <a:xfrm>
            <a:off x="5600000" y="5040000"/>
            <a:ext cx="3300000" cy="620000"/>
          </a:xfrm>
          <a:prstGeom prst="rect">
            <a:avLst/>
          </a:prstGeom>
          <a:noFill/>
        </p:spPr>
        <p:txBody>
          <a:bodyPr wrap="square" lIns="0" tIns="0" rIns="0" bIns="0" anchor="ctr">
            <a:normAutofit/>
          </a:bodyPr>
          <a:lstStyle/>
          <a:p>
            <a:pPr algn="l">
              <a:lnSpc>
                <a:spcPct val="100000"/>
              </a:lnSpc>
              <a:spcBef>
                <a:spcPts val="0"/>
              </a:spcBef>
            </a:pPr>
            <a:r>
              <a:rPr lang="vi-VN" sz="1300" b="0" dirty="0">
                <a:solidFill>
                  <a:srgbClr val="505050"/>
                </a:solidFill>
                <a:latin typeface="Times New Roman" panose="02020603050405020304" pitchFamily="18" charset="0"/>
                <a:cs typeface="Times New Roman" panose="02020603050405020304" pitchFamily="18" charset="0"/>
              </a:rPr>
              <a:t>Tham chiếu kết quả dự đoán với kết quả đo thực tế để hiệu chỉnh và học tiếp</a:t>
            </a:r>
          </a:p>
        </p:txBody>
      </p:sp>
      <p:sp>
        <p:nvSpPr>
          <p:cNvPr id="119" name="B04"/>
          <p:cNvSpPr>
            <a:spLocks/>
          </p:cNvSpPr>
          <p:nvPr/>
        </p:nvSpPr>
        <p:spPr>
          <a:xfrm>
            <a:off x="730000" y="5070000"/>
            <a:ext cx="560000" cy="560000"/>
          </a:xfrm>
          <a:prstGeom prst="ellipse">
            <a:avLst/>
          </a:prstGeom>
          <a:solidFill>
            <a:schemeClr val="accent5">
              <a:lumMod val="60000"/>
              <a:lumOff val="40000"/>
            </a:schemeClr>
          </a:solidFill>
          <a:ln w="38100">
            <a:solidFill>
              <a:srgbClr val="FFFFFF"/>
            </a:solidFill>
          </a:ln>
        </p:spPr>
        <p:txBody>
          <a:bodyPr wrap="none" anchor="ctr"/>
          <a:lstStyle/>
          <a:p>
            <a:pPr algn="ctr"/>
            <a:r>
              <a:rPr lang="en-US" sz="1400" b="1" dirty="0">
                <a:solidFill>
                  <a:srgbClr val="FFFFFF"/>
                </a:solidFill>
                <a:latin typeface="Times New Roman" panose="02020603050405020304" pitchFamily="18" charset="0"/>
                <a:cs typeface="Times New Roman" panose="02020603050405020304" pitchFamily="18" charset="0"/>
              </a:rPr>
              <a:t>04</a:t>
            </a:r>
          </a:p>
        </p:txBody>
      </p:sp>
      <p:sp>
        <p:nvSpPr>
          <p:cNvPr id="120" name="S120"/>
          <p:cNvSpPr/>
          <p:nvPr/>
        </p:nvSpPr>
        <p:spPr>
          <a:xfrm>
            <a:off x="9007579" y="1630865"/>
            <a:ext cx="2937829" cy="2080000"/>
          </a:xfrm>
          <a:prstGeom prst="roundRect">
            <a:avLst>
              <a:gd name="adj" fmla="val 9000"/>
            </a:avLst>
          </a:prstGeom>
          <a:solidFill>
            <a:srgbClr val="F2F1FB"/>
          </a:solidFill>
          <a:ln>
            <a:noFill/>
          </a:ln>
        </p:spPr>
        <p:txBody>
          <a:bodyPr/>
          <a:lstStyle/>
          <a:p>
            <a:endParaRPr lang="vi-VN" sz="1300">
              <a:latin typeface="Times New Roman" panose="02020603050405020304" pitchFamily="18" charset="0"/>
              <a:cs typeface="Times New Roman" panose="02020603050405020304" pitchFamily="18" charset="0"/>
            </a:endParaRPr>
          </a:p>
        </p:txBody>
      </p:sp>
      <p:pic>
        <p:nvPicPr>
          <p:cNvPr id="121" name="I121"/>
          <p:cNvPicPr>
            <a:picLocks noChangeAspect="1"/>
          </p:cNvPicPr>
          <p:nvPr/>
        </p:nvPicPr>
        <p:blipFill>
          <a:blip r:embed="rId7"/>
          <a:stretch>
            <a:fillRect/>
          </a:stretch>
        </p:blipFill>
        <p:spPr>
          <a:xfrm>
            <a:off x="9998437" y="1618205"/>
            <a:ext cx="793563" cy="793563"/>
          </a:xfrm>
          <a:prstGeom prst="rect">
            <a:avLst/>
          </a:prstGeom>
        </p:spPr>
      </p:pic>
      <p:sp>
        <p:nvSpPr>
          <p:cNvPr id="122" name="T122"/>
          <p:cNvSpPr txBox="1"/>
          <p:nvPr/>
        </p:nvSpPr>
        <p:spPr>
          <a:xfrm>
            <a:off x="9157579" y="2512676"/>
            <a:ext cx="2743200" cy="1097280"/>
          </a:xfrm>
          <a:prstGeom prst="rect">
            <a:avLst/>
          </a:prstGeom>
          <a:noFill/>
        </p:spPr>
        <p:txBody>
          <a:bodyPr wrap="square" lIns="0" tIns="0" rIns="0" bIns="0" anchor="ctr">
            <a:normAutofit/>
          </a:bodyPr>
          <a:lstStyle/>
          <a:p>
            <a:r>
              <a:rPr lang="vi-VN" sz="1300" b="1" dirty="0">
                <a:solidFill>
                  <a:srgbClr val="2E1C9E"/>
                </a:solidFill>
                <a:latin typeface="Times New Roman" panose="02020603050405020304" pitchFamily="18" charset="0"/>
                <a:cs typeface="Times New Roman" panose="02020603050405020304" pitchFamily="18" charset="0"/>
              </a:rPr>
              <a:t>Kết quả: phát hiện sớm nguy cơ NG ngay từ khâu linh kiện và kiểm tra jig, giảm </a:t>
            </a:r>
            <a:r>
              <a:rPr lang="en-US" sz="1300" b="1" dirty="0" err="1">
                <a:solidFill>
                  <a:srgbClr val="2E1C9E"/>
                </a:solidFill>
                <a:latin typeface="Times New Roman" panose="02020603050405020304" pitchFamily="18" charset="0"/>
                <a:cs typeface="Times New Roman" panose="02020603050405020304" pitchFamily="18" charset="0"/>
              </a:rPr>
              <a:t>tỉ</a:t>
            </a:r>
            <a:r>
              <a:rPr lang="en-US" sz="1300" b="1" dirty="0">
                <a:solidFill>
                  <a:srgbClr val="2E1C9E"/>
                </a:solidFill>
                <a:latin typeface="Times New Roman" panose="02020603050405020304" pitchFamily="18" charset="0"/>
                <a:cs typeface="Times New Roman" panose="02020603050405020304" pitchFamily="18" charset="0"/>
              </a:rPr>
              <a:t> </a:t>
            </a:r>
            <a:r>
              <a:rPr lang="en-US" sz="1300" b="1" dirty="0" err="1">
                <a:solidFill>
                  <a:srgbClr val="2E1C9E"/>
                </a:solidFill>
                <a:latin typeface="Times New Roman" panose="02020603050405020304" pitchFamily="18" charset="0"/>
                <a:cs typeface="Times New Roman" panose="02020603050405020304" pitchFamily="18" charset="0"/>
              </a:rPr>
              <a:t>lệ</a:t>
            </a:r>
            <a:r>
              <a:rPr lang="vi-VN" sz="1300" b="1" dirty="0">
                <a:solidFill>
                  <a:srgbClr val="2E1C9E"/>
                </a:solidFill>
                <a:latin typeface="Times New Roman" panose="02020603050405020304" pitchFamily="18" charset="0"/>
                <a:cs typeface="Times New Roman" panose="02020603050405020304" pitchFamily="18" charset="0"/>
              </a:rPr>
              <a:t> lỗi và giảm thời gian phân tích nguyên nhân</a:t>
            </a:r>
          </a:p>
        </p:txBody>
      </p:sp>
      <p:grpSp>
        <p:nvGrpSpPr>
          <p:cNvPr id="15" name="Group 14">
            <a:extLst>
              <a:ext uri="{FF2B5EF4-FFF2-40B4-BE49-F238E27FC236}">
                <a16:creationId xmlns:a16="http://schemas.microsoft.com/office/drawing/2014/main" id="{8367B92D-7A12-1BB7-8654-997A662D373D}"/>
              </a:ext>
            </a:extLst>
          </p:cNvPr>
          <p:cNvGrpSpPr/>
          <p:nvPr/>
        </p:nvGrpSpPr>
        <p:grpSpPr>
          <a:xfrm>
            <a:off x="2878176" y="102888"/>
            <a:ext cx="5890516" cy="526026"/>
            <a:chOff x="9603893" y="430511"/>
            <a:chExt cx="5890516" cy="605842"/>
          </a:xfrm>
        </p:grpSpPr>
        <p:sp>
          <p:nvSpPr>
            <p:cNvPr id="16" name="Google Shape;3112;p169">
              <a:extLst>
                <a:ext uri="{FF2B5EF4-FFF2-40B4-BE49-F238E27FC236}">
                  <a16:creationId xmlns:a16="http://schemas.microsoft.com/office/drawing/2014/main" id="{86132B67-5FCD-4970-5FB4-D932192794A0}"/>
                </a:ext>
              </a:extLst>
            </p:cNvPr>
            <p:cNvSpPr/>
            <p:nvPr/>
          </p:nvSpPr>
          <p:spPr>
            <a:xfrm>
              <a:off x="10050805" y="457775"/>
              <a:ext cx="2983199" cy="568501"/>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C330133F-F1F2-06DB-0C77-F68149E8C116}"/>
                </a:ext>
              </a:extLst>
            </p:cNvPr>
            <p:cNvGrpSpPr/>
            <p:nvPr/>
          </p:nvGrpSpPr>
          <p:grpSpPr>
            <a:xfrm>
              <a:off x="9603893" y="430511"/>
              <a:ext cx="5890516" cy="605842"/>
              <a:chOff x="9680198" y="256226"/>
              <a:chExt cx="5767917" cy="690195"/>
            </a:xfrm>
          </p:grpSpPr>
          <p:grpSp>
            <p:nvGrpSpPr>
              <p:cNvPr id="18" name="Google Shape;3110;p169">
                <a:extLst>
                  <a:ext uri="{FF2B5EF4-FFF2-40B4-BE49-F238E27FC236}">
                    <a16:creationId xmlns:a16="http://schemas.microsoft.com/office/drawing/2014/main" id="{331D47AC-F508-3BF4-B5DC-2526160AF655}"/>
                  </a:ext>
                </a:extLst>
              </p:cNvPr>
              <p:cNvGrpSpPr/>
              <p:nvPr/>
            </p:nvGrpSpPr>
            <p:grpSpPr>
              <a:xfrm>
                <a:off x="9680198" y="256226"/>
                <a:ext cx="5767917" cy="690195"/>
                <a:chOff x="3099239" y="3615343"/>
                <a:chExt cx="1651576" cy="184687"/>
              </a:xfrm>
            </p:grpSpPr>
            <p:sp>
              <p:nvSpPr>
                <p:cNvPr id="21" name="Google Shape;3111;p169">
                  <a:extLst>
                    <a:ext uri="{FF2B5EF4-FFF2-40B4-BE49-F238E27FC236}">
                      <a16:creationId xmlns:a16="http://schemas.microsoft.com/office/drawing/2014/main" id="{56286025-1890-2302-A73E-8769DEDA9800}"/>
                    </a:ext>
                  </a:extLst>
                </p:cNvPr>
                <p:cNvSpPr/>
                <p:nvPr/>
              </p:nvSpPr>
              <p:spPr>
                <a:xfrm>
                  <a:off x="3327296" y="3788725"/>
                  <a:ext cx="22611" cy="11305"/>
                </a:xfrm>
                <a:custGeom>
                  <a:avLst/>
                  <a:gdLst/>
                  <a:ahLst/>
                  <a:cxnLst/>
                  <a:rect l="l" t="t" r="r" b="b"/>
                  <a:pathLst>
                    <a:path w="1172" h="586" extrusionOk="0">
                      <a:moveTo>
                        <a:pt x="1" y="0"/>
                      </a:moveTo>
                      <a:lnTo>
                        <a:pt x="586" y="585"/>
                      </a:lnTo>
                      <a:lnTo>
                        <a:pt x="1171" y="0"/>
                      </a:lnTo>
                      <a:close/>
                    </a:path>
                  </a:pathLst>
                </a:custGeom>
                <a:solidFill>
                  <a:srgbClr val="448C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2" name="Google Shape;3112;p169">
                  <a:extLst>
                    <a:ext uri="{FF2B5EF4-FFF2-40B4-BE49-F238E27FC236}">
                      <a16:creationId xmlns:a16="http://schemas.microsoft.com/office/drawing/2014/main" id="{A1308ABE-F363-3E10-B1A7-6147E5FF7B5A}"/>
                    </a:ext>
                  </a:extLst>
                </p:cNvPr>
                <p:cNvSpPr/>
                <p:nvPr/>
              </p:nvSpPr>
              <p:spPr>
                <a:xfrm>
                  <a:off x="3213258" y="3626628"/>
                  <a:ext cx="799671"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3" name="Google Shape;3113;p169">
                  <a:extLst>
                    <a:ext uri="{FF2B5EF4-FFF2-40B4-BE49-F238E27FC236}">
                      <a16:creationId xmlns:a16="http://schemas.microsoft.com/office/drawing/2014/main" id="{19BC03DF-B5B3-AFD5-5E7D-3B1E53A4B7D0}"/>
                    </a:ext>
                  </a:extLst>
                </p:cNvPr>
                <p:cNvSpPr/>
                <p:nvPr/>
              </p:nvSpPr>
              <p:spPr>
                <a:xfrm>
                  <a:off x="3165220" y="3626629"/>
                  <a:ext cx="165202" cy="162115"/>
                </a:xfrm>
                <a:custGeom>
                  <a:avLst/>
                  <a:gdLst/>
                  <a:ahLst/>
                  <a:cxnLst/>
                  <a:rect l="l" t="t" r="r" b="b"/>
                  <a:pathLst>
                    <a:path w="8563" h="8403" extrusionOk="0">
                      <a:moveTo>
                        <a:pt x="0" y="1"/>
                      </a:moveTo>
                      <a:lnTo>
                        <a:pt x="8402" y="8402"/>
                      </a:lnTo>
                      <a:lnTo>
                        <a:pt x="8562" y="8402"/>
                      </a:lnTo>
                      <a:lnTo>
                        <a:pt x="2491" y="1"/>
                      </a:ln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4" name="Google Shape;3114;p169">
                  <a:extLst>
                    <a:ext uri="{FF2B5EF4-FFF2-40B4-BE49-F238E27FC236}">
                      <a16:creationId xmlns:a16="http://schemas.microsoft.com/office/drawing/2014/main" id="{AF3D6225-1F7B-DFD4-7E64-C84B41453E13}"/>
                    </a:ext>
                  </a:extLst>
                </p:cNvPr>
                <p:cNvSpPr/>
                <p:nvPr/>
              </p:nvSpPr>
              <p:spPr>
                <a:xfrm>
                  <a:off x="3099239" y="3615343"/>
                  <a:ext cx="239381" cy="184687"/>
                </a:xfrm>
                <a:custGeom>
                  <a:avLst/>
                  <a:gdLst/>
                  <a:ahLst/>
                  <a:cxnLst/>
                  <a:rect l="l" t="t" r="r" b="b"/>
                  <a:pathLst>
                    <a:path w="12408" h="9573" extrusionOk="0">
                      <a:moveTo>
                        <a:pt x="1240" y="0"/>
                      </a:moveTo>
                      <a:cubicBezTo>
                        <a:pt x="563" y="0"/>
                        <a:pt x="0" y="551"/>
                        <a:pt x="12" y="1240"/>
                      </a:cubicBezTo>
                      <a:lnTo>
                        <a:pt x="12" y="8344"/>
                      </a:lnTo>
                      <a:cubicBezTo>
                        <a:pt x="12" y="9022"/>
                        <a:pt x="563" y="9572"/>
                        <a:pt x="1240" y="9572"/>
                      </a:cubicBezTo>
                      <a:lnTo>
                        <a:pt x="12407" y="9572"/>
                      </a:lnTo>
                      <a:lnTo>
                        <a:pt x="11822" y="8987"/>
                      </a:lnTo>
                      <a:lnTo>
                        <a:pt x="3420" y="586"/>
                      </a:lnTo>
                      <a:lnTo>
                        <a:pt x="2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 name="Google Shape;3112;p169">
                  <a:extLst>
                    <a:ext uri="{FF2B5EF4-FFF2-40B4-BE49-F238E27FC236}">
                      <a16:creationId xmlns:a16="http://schemas.microsoft.com/office/drawing/2014/main" id="{2B680158-5CC3-026B-87C0-025A2B359542}"/>
                    </a:ext>
                  </a:extLst>
                </p:cNvPr>
                <p:cNvSpPr/>
                <p:nvPr/>
              </p:nvSpPr>
              <p:spPr>
                <a:xfrm>
                  <a:off x="3229068" y="3626367"/>
                  <a:ext cx="1521747"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19" name="タイトル 1">
                <a:extLst>
                  <a:ext uri="{FF2B5EF4-FFF2-40B4-BE49-F238E27FC236}">
                    <a16:creationId xmlns:a16="http://schemas.microsoft.com/office/drawing/2014/main" id="{B66BCF5E-7646-76C6-0215-CC5244D589F4}"/>
                  </a:ext>
                </a:extLst>
              </p:cNvPr>
              <p:cNvSpPr txBox="1">
                <a:spLocks/>
              </p:cNvSpPr>
              <p:nvPr/>
            </p:nvSpPr>
            <p:spPr>
              <a:xfrm>
                <a:off x="10683978" y="456244"/>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r>
                  <a:rPr lang="en-US" altLang="ja-JP" dirty="0">
                    <a:latin typeface="Times New Roman" panose="02020603050405020304" pitchFamily="18" charset="0"/>
                    <a:cs typeface="Times New Roman" panose="02020603050405020304" pitchFamily="18" charset="0"/>
                  </a:rPr>
                  <a:t>AI </a:t>
                </a:r>
                <a:r>
                  <a:rPr lang="en-US" altLang="ja-JP" dirty="0" err="1">
                    <a:latin typeface="Times New Roman" panose="02020603050405020304" pitchFamily="18" charset="0"/>
                    <a:cs typeface="Times New Roman" panose="02020603050405020304" pitchFamily="18" charset="0"/>
                  </a:rPr>
                  <a:t>dự</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đoán</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và</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cảnh</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báo</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lỗi</a:t>
                </a:r>
                <a:endParaRPr lang="en-US" altLang="ja-JP" dirty="0">
                  <a:latin typeface="Times New Roman" panose="02020603050405020304" pitchFamily="18" charset="0"/>
                  <a:cs typeface="Times New Roman" panose="02020603050405020304" pitchFamily="18" charset="0"/>
                </a:endParaRPr>
              </a:p>
            </p:txBody>
          </p:sp>
          <p:sp>
            <p:nvSpPr>
              <p:cNvPr id="20" name="タイトル 1">
                <a:extLst>
                  <a:ext uri="{FF2B5EF4-FFF2-40B4-BE49-F238E27FC236}">
                    <a16:creationId xmlns:a16="http://schemas.microsoft.com/office/drawing/2014/main" id="{2C8A31AA-54B2-7977-A67B-60094C11E334}"/>
                  </a:ext>
                </a:extLst>
              </p:cNvPr>
              <p:cNvSpPr txBox="1">
                <a:spLocks/>
              </p:cNvSpPr>
              <p:nvPr/>
            </p:nvSpPr>
            <p:spPr>
              <a:xfrm>
                <a:off x="9839575" y="531261"/>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endParaRPr lang="ja-JP" altLang="en-US" dirty="0">
                  <a:latin typeface="Times New Roman" panose="02020603050405020304" pitchFamily="18" charset="0"/>
                  <a:cs typeface="Times New Roman" panose="02020603050405020304" pitchFamily="18" charset="0"/>
                </a:endParaRPr>
              </a:p>
            </p:txBody>
          </p:sp>
        </p:grpSp>
      </p:grpSp>
      <p:pic>
        <p:nvPicPr>
          <p:cNvPr id="317" name="Picture 316">
            <a:extLst>
              <a:ext uri="{FF2B5EF4-FFF2-40B4-BE49-F238E27FC236}">
                <a16:creationId xmlns:a16="http://schemas.microsoft.com/office/drawing/2014/main" id="{6D8638B7-A976-DD1A-644F-E96018205BF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034692" y="3783573"/>
            <a:ext cx="3025228" cy="20168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4"/>
          <p:cNvSpPr txBox="1"/>
          <p:nvPr/>
        </p:nvSpPr>
        <p:spPr>
          <a:xfrm>
            <a:off x="548964" y="1370000"/>
            <a:ext cx="6600000" cy="520000"/>
          </a:xfrm>
          <a:prstGeom prst="roundRect">
            <a:avLst>
              <a:gd name="adj" fmla="val 22000"/>
            </a:avLst>
          </a:prstGeom>
          <a:gradFill rotWithShape="1">
            <a:gsLst>
              <a:gs pos="0">
                <a:srgbClr val="1B1464"/>
              </a:gs>
              <a:gs pos="100000">
                <a:srgbClr val="3C2BC8"/>
              </a:gs>
            </a:gsLst>
            <a:lin ang="0" scaled="0"/>
          </a:gradFill>
        </p:spPr>
        <p:txBody>
          <a:bodyPr wrap="square" lIns="228600" tIns="0" rIns="114300" bIns="0" anchor="ctr">
            <a:normAutofit/>
          </a:bodyPr>
          <a:lstStyle/>
          <a:p>
            <a:pPr algn="l">
              <a:lnSpc>
                <a:spcPct val="100000"/>
              </a:lnSpc>
              <a:spcBef>
                <a:spcPts val="0"/>
              </a:spcBef>
            </a:pPr>
            <a:r>
              <a:rPr lang="en-US" sz="1600" b="1" err="1">
                <a:solidFill>
                  <a:srgbClr val="FFFFFF"/>
                </a:solidFill>
                <a:latin typeface="Times New Roman" panose="02020603050405020304" pitchFamily="18" charset="0"/>
                <a:cs typeface="Times New Roman" panose="02020603050405020304" pitchFamily="18" charset="0"/>
              </a:rPr>
              <a:t>Bước</a:t>
            </a:r>
            <a:r>
              <a:rPr lang="en-US" sz="1600" b="1">
                <a:solidFill>
                  <a:srgbClr val="FFFFFF"/>
                </a:solidFill>
                <a:latin typeface="Times New Roman" panose="02020603050405020304" pitchFamily="18" charset="0"/>
                <a:cs typeface="Times New Roman" panose="02020603050405020304" pitchFamily="18" charset="0"/>
              </a:rPr>
              <a:t> 1: </a:t>
            </a:r>
            <a:r>
              <a:rPr lang="en-US" sz="1600" b="1" err="1">
                <a:solidFill>
                  <a:srgbClr val="FFFFFF"/>
                </a:solidFill>
                <a:latin typeface="Times New Roman" panose="02020603050405020304" pitchFamily="18" charset="0"/>
                <a:cs typeface="Times New Roman" panose="02020603050405020304" pitchFamily="18" charset="0"/>
              </a:rPr>
              <a:t>Tạo</a:t>
            </a:r>
            <a:r>
              <a:rPr lang="en-US" sz="1600" b="1">
                <a:solidFill>
                  <a:srgbClr val="FFFFFF"/>
                </a:solidFill>
                <a:latin typeface="Times New Roman" panose="02020603050405020304" pitchFamily="18" charset="0"/>
                <a:cs typeface="Times New Roman" panose="02020603050405020304" pitchFamily="18" charset="0"/>
              </a:rPr>
              <a:t> </a:t>
            </a:r>
            <a:r>
              <a:rPr lang="en-US" sz="1600" b="1" err="1">
                <a:solidFill>
                  <a:srgbClr val="FFFFFF"/>
                </a:solidFill>
                <a:latin typeface="Times New Roman" panose="02020603050405020304" pitchFamily="18" charset="0"/>
                <a:cs typeface="Times New Roman" panose="02020603050405020304" pitchFamily="18" charset="0"/>
              </a:rPr>
              <a:t>ra</a:t>
            </a:r>
            <a:r>
              <a:rPr lang="en-US" sz="1600" b="1">
                <a:solidFill>
                  <a:srgbClr val="FFFFFF"/>
                </a:solidFill>
                <a:latin typeface="Times New Roman" panose="02020603050405020304" pitchFamily="18" charset="0"/>
                <a:cs typeface="Times New Roman" panose="02020603050405020304" pitchFamily="18" charset="0"/>
              </a:rPr>
              <a:t> 1 AI </a:t>
            </a:r>
            <a:r>
              <a:rPr lang="en-US" sz="1600" b="1" err="1">
                <a:solidFill>
                  <a:srgbClr val="FFFFFF"/>
                </a:solidFill>
                <a:latin typeface="Times New Roman" panose="02020603050405020304" pitchFamily="18" charset="0"/>
                <a:cs typeface="Times New Roman" panose="02020603050405020304" pitchFamily="18" charset="0"/>
              </a:rPr>
              <a:t>chuyên</a:t>
            </a:r>
            <a:r>
              <a:rPr lang="en-US" sz="1600" b="1">
                <a:solidFill>
                  <a:srgbClr val="FFFFFF"/>
                </a:solidFill>
                <a:latin typeface="Times New Roman" panose="02020603050405020304" pitchFamily="18" charset="0"/>
                <a:cs typeface="Times New Roman" panose="02020603050405020304" pitchFamily="18" charset="0"/>
              </a:rPr>
              <a:t> </a:t>
            </a:r>
            <a:r>
              <a:rPr lang="en-US" sz="1600" b="1" err="1">
                <a:solidFill>
                  <a:srgbClr val="FFFFFF"/>
                </a:solidFill>
                <a:latin typeface="Times New Roman" panose="02020603050405020304" pitchFamily="18" charset="0"/>
                <a:cs typeface="Times New Roman" panose="02020603050405020304" pitchFamily="18" charset="0"/>
              </a:rPr>
              <a:t>gia</a:t>
            </a:r>
            <a:r>
              <a:rPr lang="en-US" sz="1600" b="1">
                <a:solidFill>
                  <a:srgbClr val="FFFFFF"/>
                </a:solidFill>
                <a:latin typeface="Times New Roman" panose="02020603050405020304" pitchFamily="18" charset="0"/>
                <a:cs typeface="Times New Roman" panose="02020603050405020304" pitchFamily="18" charset="0"/>
              </a:rPr>
              <a:t> </a:t>
            </a:r>
            <a:r>
              <a:rPr lang="en-US" sz="1600" b="1" err="1">
                <a:solidFill>
                  <a:srgbClr val="FFFFFF"/>
                </a:solidFill>
                <a:latin typeface="Times New Roman" panose="02020603050405020304" pitchFamily="18" charset="0"/>
                <a:cs typeface="Times New Roman" panose="02020603050405020304" pitchFamily="18" charset="0"/>
              </a:rPr>
              <a:t>về</a:t>
            </a:r>
            <a:r>
              <a:rPr lang="en-US" sz="1600" b="1">
                <a:solidFill>
                  <a:srgbClr val="FFFFFF"/>
                </a:solidFill>
                <a:latin typeface="Times New Roman" panose="02020603050405020304" pitchFamily="18" charset="0"/>
                <a:cs typeface="Times New Roman" panose="02020603050405020304" pitchFamily="18" charset="0"/>
              </a:rPr>
              <a:t> LSU Unit </a:t>
            </a:r>
            <a:endParaRPr lang="vi-VN" sz="1600" b="1">
              <a:solidFill>
                <a:srgbClr val="FFFFFF"/>
              </a:solidFill>
              <a:latin typeface="Times New Roman" panose="02020603050405020304" pitchFamily="18" charset="0"/>
              <a:cs typeface="Times New Roman" panose="02020603050405020304" pitchFamily="18" charset="0"/>
            </a:endParaRPr>
          </a:p>
        </p:txBody>
      </p:sp>
      <p:sp>
        <p:nvSpPr>
          <p:cNvPr id="7" name="T7"/>
          <p:cNvSpPr txBox="1"/>
          <p:nvPr/>
        </p:nvSpPr>
        <p:spPr>
          <a:xfrm>
            <a:off x="7906482" y="5139345"/>
            <a:ext cx="3335518" cy="700000"/>
          </a:xfrm>
          <a:prstGeom prst="rect">
            <a:avLst/>
          </a:prstGeom>
          <a:noFill/>
        </p:spPr>
        <p:txBody>
          <a:bodyPr wrap="square" lIns="0" tIns="0" rIns="0" bIns="0" anchor="t">
            <a:normAutofit/>
          </a:bodyPr>
          <a:lstStyle/>
          <a:p>
            <a:pPr algn="ctr">
              <a:lnSpc>
                <a:spcPct val="100000"/>
              </a:lnSpc>
              <a:spcBef>
                <a:spcPts val="0"/>
              </a:spcBef>
            </a:pPr>
            <a:r>
              <a:rPr lang="vi-VN" sz="1600" b="1" dirty="0">
                <a:latin typeface="Times New Roman" panose="02020603050405020304" pitchFamily="18" charset="0"/>
                <a:cs typeface="Times New Roman" panose="02020603050405020304" pitchFamily="18" charset="0"/>
              </a:rPr>
              <a:t>AI CHUYÊN GIA LSU</a:t>
            </a:r>
          </a:p>
          <a:p>
            <a:pPr algn="ctr">
              <a:lnSpc>
                <a:spcPct val="100000"/>
              </a:lnSpc>
              <a:spcBef>
                <a:spcPts val="300"/>
              </a:spcBef>
            </a:pPr>
            <a:r>
              <a:rPr lang="en-US" sz="1600" b="0" dirty="0" err="1">
                <a:latin typeface="Times New Roman" panose="02020603050405020304" pitchFamily="18" charset="0"/>
                <a:cs typeface="Times New Roman" panose="02020603050405020304" pitchFamily="18" charset="0"/>
              </a:rPr>
              <a:t>Hiểu</a:t>
            </a: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biết</a:t>
            </a: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chuyên</a:t>
            </a: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sâu</a:t>
            </a: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về</a:t>
            </a:r>
            <a:r>
              <a:rPr lang="en-US" sz="1600" b="0" dirty="0">
                <a:latin typeface="Times New Roman" panose="02020603050405020304" pitchFamily="18" charset="0"/>
                <a:cs typeface="Times New Roman" panose="02020603050405020304" pitchFamily="18" charset="0"/>
              </a:rPr>
              <a:t> LSU Unit</a:t>
            </a:r>
            <a:endParaRPr lang="vi-VN" sz="1600" b="0" dirty="0">
              <a:latin typeface="Times New Roman" panose="02020603050405020304" pitchFamily="18" charset="0"/>
              <a:cs typeface="Times New Roman" panose="02020603050405020304" pitchFamily="18" charset="0"/>
            </a:endParaRPr>
          </a:p>
        </p:txBody>
      </p:sp>
      <p:sp>
        <p:nvSpPr>
          <p:cNvPr id="100" name="S100"/>
          <p:cNvSpPr/>
          <p:nvPr/>
        </p:nvSpPr>
        <p:spPr>
          <a:xfrm>
            <a:off x="606482" y="2070000"/>
            <a:ext cx="6300000" cy="1120000"/>
          </a:xfrm>
          <a:prstGeom prst="roundRect">
            <a:avLst>
              <a:gd name="adj" fmla="val 5000"/>
            </a:avLst>
          </a:prstGeom>
          <a:solidFill>
            <a:srgbClr val="FFFFFF"/>
          </a:solidFill>
          <a:ln w="9525">
            <a:solidFill>
              <a:srgbClr val="DCDEF2"/>
            </a:solidFill>
          </a:ln>
        </p:spPr>
        <p:txBody>
          <a:bodyPr/>
          <a:lstStyle/>
          <a:p>
            <a:endParaRPr lang="vi-VN">
              <a:latin typeface="Times New Roman" panose="02020603050405020304" pitchFamily="18" charset="0"/>
              <a:cs typeface="Times New Roman" panose="02020603050405020304" pitchFamily="18" charset="0"/>
            </a:endParaRPr>
          </a:p>
        </p:txBody>
      </p:sp>
      <p:sp>
        <p:nvSpPr>
          <p:cNvPr id="101" name="S101"/>
          <p:cNvSpPr/>
          <p:nvPr/>
        </p:nvSpPr>
        <p:spPr>
          <a:xfrm>
            <a:off x="606482" y="2070000"/>
            <a:ext cx="60000" cy="1120000"/>
          </a:xfrm>
          <a:prstGeom prst="rect">
            <a:avLst/>
          </a:prstGeom>
          <a:solidFill>
            <a:srgbClr val="2E1C9E"/>
          </a:solidFill>
          <a:ln>
            <a:noFill/>
          </a:ln>
        </p:spPr>
        <p:txBody>
          <a:bodyPr/>
          <a:lstStyle/>
          <a:p>
            <a:endParaRPr lang="vi-VN">
              <a:latin typeface="Times New Roman" panose="02020603050405020304" pitchFamily="18" charset="0"/>
              <a:cs typeface="Times New Roman" panose="02020603050405020304" pitchFamily="18" charset="0"/>
            </a:endParaRPr>
          </a:p>
        </p:txBody>
      </p:sp>
      <p:pic>
        <p:nvPicPr>
          <p:cNvPr id="102" name="I102"/>
          <p:cNvPicPr>
            <a:picLocks noChangeAspect="1"/>
          </p:cNvPicPr>
          <p:nvPr/>
        </p:nvPicPr>
        <p:blipFill>
          <a:blip r:embed="rId3"/>
          <a:stretch>
            <a:fillRect/>
          </a:stretch>
        </p:blipFill>
        <p:spPr>
          <a:xfrm>
            <a:off x="846482" y="2300000"/>
            <a:ext cx="660000" cy="660000"/>
          </a:xfrm>
          <a:prstGeom prst="rect">
            <a:avLst/>
          </a:prstGeom>
        </p:spPr>
      </p:pic>
      <p:sp>
        <p:nvSpPr>
          <p:cNvPr id="103" name="T103"/>
          <p:cNvSpPr txBox="1"/>
          <p:nvPr/>
        </p:nvSpPr>
        <p:spPr>
          <a:xfrm>
            <a:off x="1666482" y="2250000"/>
            <a:ext cx="4300000" cy="340000"/>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01  |  Tài liệu kỹ thuật LSU Unit</a:t>
            </a:r>
          </a:p>
        </p:txBody>
      </p:sp>
      <p:sp>
        <p:nvSpPr>
          <p:cNvPr id="104" name="T104"/>
          <p:cNvSpPr txBox="1"/>
          <p:nvPr/>
        </p:nvSpPr>
        <p:spPr>
          <a:xfrm>
            <a:off x="1666482" y="2630000"/>
            <a:ext cx="4950000" cy="420000"/>
          </a:xfrm>
          <a:prstGeom prst="rect">
            <a:avLst/>
          </a:prstGeom>
          <a:noFill/>
        </p:spPr>
        <p:txBody>
          <a:bodyPr wrap="square" lIns="0" tIns="0" rIns="0" bIns="0" anchor="t">
            <a:normAutofit/>
          </a:bodyPr>
          <a:lstStyle/>
          <a:p>
            <a:pPr algn="l">
              <a:lnSpc>
                <a:spcPct val="100000"/>
              </a:lnSpc>
              <a:spcBef>
                <a:spcPts val="0"/>
              </a:spcBef>
            </a:pPr>
            <a:r>
              <a:rPr lang="vi-VN" sz="1300" b="0" dirty="0">
                <a:solidFill>
                  <a:srgbClr val="505050"/>
                </a:solidFill>
                <a:latin typeface="Times New Roman" panose="02020603050405020304" pitchFamily="18" charset="0"/>
                <a:cs typeface="Times New Roman" panose="02020603050405020304" pitchFamily="18" charset="0"/>
              </a:rPr>
              <a:t>Bản vẽ, tiêu chuẩn, hướng dẫn lắp ráp và kiểm tra</a:t>
            </a:r>
          </a:p>
        </p:txBody>
      </p:sp>
      <p:sp>
        <p:nvSpPr>
          <p:cNvPr id="105" name="S105"/>
          <p:cNvSpPr/>
          <p:nvPr/>
        </p:nvSpPr>
        <p:spPr>
          <a:xfrm>
            <a:off x="7026482" y="2647217"/>
            <a:ext cx="394481" cy="180000"/>
          </a:xfrm>
          <a:prstGeom prst="rightArrow">
            <a:avLst/>
          </a:prstGeom>
          <a:solidFill>
            <a:srgbClr val="C9C5E8"/>
          </a:solidFill>
          <a:ln>
            <a:no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06" name="S106"/>
          <p:cNvSpPr/>
          <p:nvPr/>
        </p:nvSpPr>
        <p:spPr>
          <a:xfrm>
            <a:off x="606482" y="3370000"/>
            <a:ext cx="6300000" cy="1120000"/>
          </a:xfrm>
          <a:prstGeom prst="roundRect">
            <a:avLst>
              <a:gd name="adj" fmla="val 5000"/>
            </a:avLst>
          </a:prstGeom>
          <a:solidFill>
            <a:srgbClr val="FFFFFF"/>
          </a:solidFill>
          <a:ln w="9525">
            <a:solidFill>
              <a:srgbClr val="DCDEF2"/>
            </a:solid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07" name="S107"/>
          <p:cNvSpPr/>
          <p:nvPr/>
        </p:nvSpPr>
        <p:spPr>
          <a:xfrm>
            <a:off x="606482" y="3370000"/>
            <a:ext cx="60000" cy="1120000"/>
          </a:xfrm>
          <a:prstGeom prst="rect">
            <a:avLst/>
          </a:prstGeom>
          <a:solidFill>
            <a:srgbClr val="2E1C9E"/>
          </a:solidFill>
          <a:ln>
            <a:noFill/>
          </a:ln>
        </p:spPr>
        <p:txBody>
          <a:bodyPr/>
          <a:lstStyle/>
          <a:p>
            <a:endParaRPr lang="vi-VN" sz="1300">
              <a:latin typeface="Times New Roman" panose="02020603050405020304" pitchFamily="18" charset="0"/>
              <a:cs typeface="Times New Roman" panose="02020603050405020304" pitchFamily="18" charset="0"/>
            </a:endParaRPr>
          </a:p>
        </p:txBody>
      </p:sp>
      <p:pic>
        <p:nvPicPr>
          <p:cNvPr id="108" name="I108"/>
          <p:cNvPicPr>
            <a:picLocks noChangeAspect="1"/>
          </p:cNvPicPr>
          <p:nvPr/>
        </p:nvPicPr>
        <p:blipFill>
          <a:blip r:embed="rId4"/>
          <a:stretch>
            <a:fillRect/>
          </a:stretch>
        </p:blipFill>
        <p:spPr>
          <a:xfrm>
            <a:off x="846482" y="3600000"/>
            <a:ext cx="660000" cy="660000"/>
          </a:xfrm>
          <a:prstGeom prst="rect">
            <a:avLst/>
          </a:prstGeom>
        </p:spPr>
      </p:pic>
      <p:sp>
        <p:nvSpPr>
          <p:cNvPr id="109" name="T109"/>
          <p:cNvSpPr txBox="1"/>
          <p:nvPr/>
        </p:nvSpPr>
        <p:spPr>
          <a:xfrm>
            <a:off x="1666482" y="3550000"/>
            <a:ext cx="4300000" cy="340000"/>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02  |  Kinh nghiệm chuyên gia</a:t>
            </a:r>
          </a:p>
        </p:txBody>
      </p:sp>
      <p:sp>
        <p:nvSpPr>
          <p:cNvPr id="110" name="T110"/>
          <p:cNvSpPr txBox="1">
            <a:spLocks/>
          </p:cNvSpPr>
          <p:nvPr/>
        </p:nvSpPr>
        <p:spPr>
          <a:xfrm>
            <a:off x="1666482" y="3930000"/>
            <a:ext cx="4950000" cy="420000"/>
          </a:xfrm>
          <a:prstGeom prst="rect">
            <a:avLst/>
          </a:prstGeom>
          <a:noFill/>
        </p:spPr>
        <p:txBody>
          <a:bodyPr wrap="square" lIns="0" tIns="0" rIns="0" bIns="0" anchor="t">
            <a:normAutofit/>
          </a:bodyPr>
          <a:lstStyle/>
          <a:p>
            <a:pPr algn="l">
              <a:lnSpc>
                <a:spcPct val="100000"/>
              </a:lnSpc>
              <a:spcBef>
                <a:spcPts val="0"/>
              </a:spcBef>
            </a:pPr>
            <a:r>
              <a:rPr lang="vi-VN" sz="1300" b="0" dirty="0">
                <a:solidFill>
                  <a:srgbClr val="505050"/>
                </a:solidFill>
                <a:latin typeface="Times New Roman" panose="02020603050405020304" pitchFamily="18" charset="0"/>
                <a:cs typeface="Times New Roman" panose="02020603050405020304" pitchFamily="18" charset="0"/>
              </a:rPr>
              <a:t>AI tự đặt câu hỏi cho chuyên gia LSU để thu thập tri thức thực tế</a:t>
            </a:r>
          </a:p>
        </p:txBody>
      </p:sp>
      <p:sp>
        <p:nvSpPr>
          <p:cNvPr id="111" name="S111"/>
          <p:cNvSpPr/>
          <p:nvPr/>
        </p:nvSpPr>
        <p:spPr>
          <a:xfrm>
            <a:off x="7026482" y="3840000"/>
            <a:ext cx="394481" cy="180000"/>
          </a:xfrm>
          <a:prstGeom prst="rightArrow">
            <a:avLst/>
          </a:prstGeom>
          <a:solidFill>
            <a:srgbClr val="C9C5E8"/>
          </a:solidFill>
          <a:ln>
            <a:no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12" name="S112"/>
          <p:cNvSpPr/>
          <p:nvPr/>
        </p:nvSpPr>
        <p:spPr>
          <a:xfrm>
            <a:off x="606482" y="4670000"/>
            <a:ext cx="6300000" cy="1120000"/>
          </a:xfrm>
          <a:prstGeom prst="roundRect">
            <a:avLst>
              <a:gd name="adj" fmla="val 5000"/>
            </a:avLst>
          </a:prstGeom>
          <a:solidFill>
            <a:srgbClr val="FFFFFF"/>
          </a:solidFill>
          <a:ln w="9525">
            <a:solidFill>
              <a:srgbClr val="DCDEF2"/>
            </a:solid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13" name="S113"/>
          <p:cNvSpPr>
            <a:spLocks/>
          </p:cNvSpPr>
          <p:nvPr/>
        </p:nvSpPr>
        <p:spPr>
          <a:xfrm>
            <a:off x="606482" y="4670000"/>
            <a:ext cx="60000" cy="1120000"/>
          </a:xfrm>
          <a:prstGeom prst="rect">
            <a:avLst/>
          </a:prstGeom>
          <a:solidFill>
            <a:srgbClr val="2E1C9E"/>
          </a:solidFill>
          <a:ln>
            <a:noFill/>
          </a:ln>
        </p:spPr>
        <p:txBody>
          <a:bodyPr/>
          <a:lstStyle/>
          <a:p>
            <a:endParaRPr lang="vi-VN" sz="1300">
              <a:latin typeface="Times New Roman" panose="02020603050405020304" pitchFamily="18" charset="0"/>
              <a:cs typeface="Times New Roman" panose="02020603050405020304" pitchFamily="18" charset="0"/>
            </a:endParaRPr>
          </a:p>
        </p:txBody>
      </p:sp>
      <p:pic>
        <p:nvPicPr>
          <p:cNvPr id="114" name="I114"/>
          <p:cNvPicPr>
            <a:picLocks noChangeAspect="1"/>
          </p:cNvPicPr>
          <p:nvPr/>
        </p:nvPicPr>
        <p:blipFill>
          <a:blip r:embed="rId5"/>
          <a:stretch>
            <a:fillRect/>
          </a:stretch>
        </p:blipFill>
        <p:spPr>
          <a:xfrm>
            <a:off x="846482" y="4900000"/>
            <a:ext cx="660000" cy="660000"/>
          </a:xfrm>
          <a:prstGeom prst="rect">
            <a:avLst/>
          </a:prstGeom>
        </p:spPr>
      </p:pic>
      <p:sp>
        <p:nvSpPr>
          <p:cNvPr id="115" name="T115"/>
          <p:cNvSpPr txBox="1">
            <a:spLocks/>
          </p:cNvSpPr>
          <p:nvPr/>
        </p:nvSpPr>
        <p:spPr>
          <a:xfrm>
            <a:off x="1666482" y="4850000"/>
            <a:ext cx="4300000" cy="340000"/>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03  |  Dữ liệu lịch sử lỗi</a:t>
            </a:r>
          </a:p>
        </p:txBody>
      </p:sp>
      <p:sp>
        <p:nvSpPr>
          <p:cNvPr id="116" name="T116"/>
          <p:cNvSpPr txBox="1"/>
          <p:nvPr/>
        </p:nvSpPr>
        <p:spPr>
          <a:xfrm>
            <a:off x="1666482" y="5230000"/>
            <a:ext cx="4950000" cy="420000"/>
          </a:xfrm>
          <a:prstGeom prst="rect">
            <a:avLst/>
          </a:prstGeom>
          <a:noFill/>
        </p:spPr>
        <p:txBody>
          <a:bodyPr wrap="square" lIns="0" tIns="0" rIns="0" bIns="0" anchor="t">
            <a:normAutofit/>
          </a:bodyPr>
          <a:lstStyle/>
          <a:p>
            <a:pPr algn="l">
              <a:lnSpc>
                <a:spcPct val="100000"/>
              </a:lnSpc>
              <a:spcBef>
                <a:spcPts val="0"/>
              </a:spcBef>
            </a:pPr>
            <a:r>
              <a:rPr lang="vi-VN" sz="1300" b="0" dirty="0">
                <a:solidFill>
                  <a:srgbClr val="505050"/>
                </a:solidFill>
                <a:latin typeface="Times New Roman" panose="02020603050405020304" pitchFamily="18" charset="0"/>
                <a:cs typeface="Times New Roman" panose="02020603050405020304" pitchFamily="18" charset="0"/>
              </a:rPr>
              <a:t>Phân tích toàn bộ lỗi trong quá khứ để tìm quy luật lặp lại</a:t>
            </a:r>
          </a:p>
        </p:txBody>
      </p:sp>
      <p:sp>
        <p:nvSpPr>
          <p:cNvPr id="117" name="S117"/>
          <p:cNvSpPr/>
          <p:nvPr/>
        </p:nvSpPr>
        <p:spPr>
          <a:xfrm>
            <a:off x="7026482" y="5120000"/>
            <a:ext cx="394481" cy="180000"/>
          </a:xfrm>
          <a:prstGeom prst="rightArrow">
            <a:avLst/>
          </a:prstGeom>
          <a:solidFill>
            <a:srgbClr val="C9C5E8"/>
          </a:solidFill>
          <a:ln>
            <a:no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18" name="S118"/>
          <p:cNvSpPr/>
          <p:nvPr/>
        </p:nvSpPr>
        <p:spPr>
          <a:xfrm>
            <a:off x="706482" y="5873600"/>
            <a:ext cx="10779036" cy="620000"/>
          </a:xfrm>
          <a:prstGeom prst="roundRect">
            <a:avLst>
              <a:gd name="adj" fmla="val 9000"/>
            </a:avLst>
          </a:prstGeom>
          <a:solidFill>
            <a:srgbClr val="F2F1FB"/>
          </a:solidFill>
          <a:ln>
            <a:no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19" name="T119"/>
          <p:cNvSpPr txBox="1"/>
          <p:nvPr/>
        </p:nvSpPr>
        <p:spPr>
          <a:xfrm>
            <a:off x="1006482" y="5870057"/>
            <a:ext cx="10179036" cy="620000"/>
          </a:xfrm>
          <a:prstGeom prst="rect">
            <a:avLst/>
          </a:prstGeom>
          <a:noFill/>
        </p:spPr>
        <p:txBody>
          <a:bodyPr wrap="square" lIns="0" tIns="0" rIns="0" bIns="0" anchor="ctr">
            <a:normAutofit/>
          </a:bodyPr>
          <a:lstStyle/>
          <a:p>
            <a:pPr algn="ctr">
              <a:lnSpc>
                <a:spcPct val="100000"/>
              </a:lnSpc>
              <a:spcBef>
                <a:spcPts val="0"/>
              </a:spcBef>
            </a:pPr>
            <a:r>
              <a:rPr lang="vi-VN" sz="1600" b="1" dirty="0">
                <a:solidFill>
                  <a:srgbClr val="2E1C9E"/>
                </a:solidFill>
                <a:latin typeface="Times New Roman" panose="02020603050405020304" pitchFamily="18" charset="0"/>
                <a:cs typeface="Times New Roman" panose="02020603050405020304" pitchFamily="18" charset="0"/>
              </a:rPr>
              <a:t>AI hiểu sâu LSU Unit — kết hợp tri thức kỹ thuật, kinh nghiệm chuyên gia và dữ liệu lỗi thực tế</a:t>
            </a:r>
          </a:p>
        </p:txBody>
      </p:sp>
      <p:pic>
        <p:nvPicPr>
          <p:cNvPr id="97" name="I121">
            <a:extLst>
              <a:ext uri="{FF2B5EF4-FFF2-40B4-BE49-F238E27FC236}">
                <a16:creationId xmlns:a16="http://schemas.microsoft.com/office/drawing/2014/main" id="{668E8057-34C6-2F8E-C03F-EC118337A314}"/>
              </a:ext>
            </a:extLst>
          </p:cNvPr>
          <p:cNvPicPr>
            <a:picLocks noChangeAspect="1"/>
          </p:cNvPicPr>
          <p:nvPr/>
        </p:nvPicPr>
        <p:blipFill>
          <a:blip r:embed="rId6"/>
          <a:stretch>
            <a:fillRect/>
          </a:stretch>
        </p:blipFill>
        <p:spPr>
          <a:xfrm>
            <a:off x="887021" y="5849086"/>
            <a:ext cx="660000" cy="660000"/>
          </a:xfrm>
          <a:prstGeom prst="rect">
            <a:avLst/>
          </a:prstGeom>
        </p:spPr>
      </p:pic>
      <p:grpSp>
        <p:nvGrpSpPr>
          <p:cNvPr id="2" name="Group 1">
            <a:extLst>
              <a:ext uri="{FF2B5EF4-FFF2-40B4-BE49-F238E27FC236}">
                <a16:creationId xmlns:a16="http://schemas.microsoft.com/office/drawing/2014/main" id="{0E439116-7DD2-74CB-C994-A84CCDD4698F}"/>
              </a:ext>
            </a:extLst>
          </p:cNvPr>
          <p:cNvGrpSpPr/>
          <p:nvPr/>
        </p:nvGrpSpPr>
        <p:grpSpPr>
          <a:xfrm>
            <a:off x="2878176" y="102888"/>
            <a:ext cx="5890516" cy="526026"/>
            <a:chOff x="9603893" y="430511"/>
            <a:chExt cx="5890516" cy="605842"/>
          </a:xfrm>
        </p:grpSpPr>
        <p:sp>
          <p:nvSpPr>
            <p:cNvPr id="5" name="Google Shape;3112;p169">
              <a:extLst>
                <a:ext uri="{FF2B5EF4-FFF2-40B4-BE49-F238E27FC236}">
                  <a16:creationId xmlns:a16="http://schemas.microsoft.com/office/drawing/2014/main" id="{C95AC16F-D266-30E1-F0A9-5714FD873965}"/>
                </a:ext>
              </a:extLst>
            </p:cNvPr>
            <p:cNvSpPr/>
            <p:nvPr/>
          </p:nvSpPr>
          <p:spPr>
            <a:xfrm>
              <a:off x="10050805" y="457775"/>
              <a:ext cx="2983199" cy="568501"/>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67FF6175-1D67-859F-532D-77F212A959B2}"/>
                </a:ext>
              </a:extLst>
            </p:cNvPr>
            <p:cNvGrpSpPr/>
            <p:nvPr/>
          </p:nvGrpSpPr>
          <p:grpSpPr>
            <a:xfrm>
              <a:off x="9603893" y="430511"/>
              <a:ext cx="5890516" cy="605842"/>
              <a:chOff x="9680198" y="256226"/>
              <a:chExt cx="5767917" cy="690195"/>
            </a:xfrm>
          </p:grpSpPr>
          <p:grpSp>
            <p:nvGrpSpPr>
              <p:cNvPr id="8" name="Google Shape;3110;p169">
                <a:extLst>
                  <a:ext uri="{FF2B5EF4-FFF2-40B4-BE49-F238E27FC236}">
                    <a16:creationId xmlns:a16="http://schemas.microsoft.com/office/drawing/2014/main" id="{4C3836A4-023D-37CD-0AEC-75B1E2065EDA}"/>
                  </a:ext>
                </a:extLst>
              </p:cNvPr>
              <p:cNvGrpSpPr/>
              <p:nvPr/>
            </p:nvGrpSpPr>
            <p:grpSpPr>
              <a:xfrm>
                <a:off x="9680198" y="256226"/>
                <a:ext cx="5767917" cy="690195"/>
                <a:chOff x="3099239" y="3615343"/>
                <a:chExt cx="1651576" cy="184687"/>
              </a:xfrm>
            </p:grpSpPr>
            <p:sp>
              <p:nvSpPr>
                <p:cNvPr id="11" name="Google Shape;3111;p169">
                  <a:extLst>
                    <a:ext uri="{FF2B5EF4-FFF2-40B4-BE49-F238E27FC236}">
                      <a16:creationId xmlns:a16="http://schemas.microsoft.com/office/drawing/2014/main" id="{0F8036CF-6933-F6E1-FD03-02E4A71355E4}"/>
                    </a:ext>
                  </a:extLst>
                </p:cNvPr>
                <p:cNvSpPr/>
                <p:nvPr/>
              </p:nvSpPr>
              <p:spPr>
                <a:xfrm>
                  <a:off x="3327296" y="3788725"/>
                  <a:ext cx="22611" cy="11305"/>
                </a:xfrm>
                <a:custGeom>
                  <a:avLst/>
                  <a:gdLst/>
                  <a:ahLst/>
                  <a:cxnLst/>
                  <a:rect l="l" t="t" r="r" b="b"/>
                  <a:pathLst>
                    <a:path w="1172" h="586" extrusionOk="0">
                      <a:moveTo>
                        <a:pt x="1" y="0"/>
                      </a:moveTo>
                      <a:lnTo>
                        <a:pt x="586" y="585"/>
                      </a:lnTo>
                      <a:lnTo>
                        <a:pt x="1171" y="0"/>
                      </a:lnTo>
                      <a:close/>
                    </a:path>
                  </a:pathLst>
                </a:custGeom>
                <a:solidFill>
                  <a:srgbClr val="448C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2" name="Google Shape;3112;p169">
                  <a:extLst>
                    <a:ext uri="{FF2B5EF4-FFF2-40B4-BE49-F238E27FC236}">
                      <a16:creationId xmlns:a16="http://schemas.microsoft.com/office/drawing/2014/main" id="{C6201319-4E1E-D91C-2F09-34E0DC087FC0}"/>
                    </a:ext>
                  </a:extLst>
                </p:cNvPr>
                <p:cNvSpPr/>
                <p:nvPr/>
              </p:nvSpPr>
              <p:spPr>
                <a:xfrm>
                  <a:off x="3213258" y="3626628"/>
                  <a:ext cx="799671"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 name="Google Shape;3113;p169">
                  <a:extLst>
                    <a:ext uri="{FF2B5EF4-FFF2-40B4-BE49-F238E27FC236}">
                      <a16:creationId xmlns:a16="http://schemas.microsoft.com/office/drawing/2014/main" id="{9E312253-24BC-DFD3-B04F-68D132238176}"/>
                    </a:ext>
                  </a:extLst>
                </p:cNvPr>
                <p:cNvSpPr/>
                <p:nvPr/>
              </p:nvSpPr>
              <p:spPr>
                <a:xfrm>
                  <a:off x="3165220" y="3626629"/>
                  <a:ext cx="165202" cy="162115"/>
                </a:xfrm>
                <a:custGeom>
                  <a:avLst/>
                  <a:gdLst/>
                  <a:ahLst/>
                  <a:cxnLst/>
                  <a:rect l="l" t="t" r="r" b="b"/>
                  <a:pathLst>
                    <a:path w="8563" h="8403" extrusionOk="0">
                      <a:moveTo>
                        <a:pt x="0" y="1"/>
                      </a:moveTo>
                      <a:lnTo>
                        <a:pt x="8402" y="8402"/>
                      </a:lnTo>
                      <a:lnTo>
                        <a:pt x="8562" y="8402"/>
                      </a:lnTo>
                      <a:lnTo>
                        <a:pt x="2491" y="1"/>
                      </a:ln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 name="Google Shape;3114;p169">
                  <a:extLst>
                    <a:ext uri="{FF2B5EF4-FFF2-40B4-BE49-F238E27FC236}">
                      <a16:creationId xmlns:a16="http://schemas.microsoft.com/office/drawing/2014/main" id="{997B47E4-08D6-147B-994D-C37F7A00487E}"/>
                    </a:ext>
                  </a:extLst>
                </p:cNvPr>
                <p:cNvSpPr/>
                <p:nvPr/>
              </p:nvSpPr>
              <p:spPr>
                <a:xfrm>
                  <a:off x="3099239" y="3615343"/>
                  <a:ext cx="239381" cy="184687"/>
                </a:xfrm>
                <a:custGeom>
                  <a:avLst/>
                  <a:gdLst/>
                  <a:ahLst/>
                  <a:cxnLst/>
                  <a:rect l="l" t="t" r="r" b="b"/>
                  <a:pathLst>
                    <a:path w="12408" h="9573" extrusionOk="0">
                      <a:moveTo>
                        <a:pt x="1240" y="0"/>
                      </a:moveTo>
                      <a:cubicBezTo>
                        <a:pt x="563" y="0"/>
                        <a:pt x="0" y="551"/>
                        <a:pt x="12" y="1240"/>
                      </a:cubicBezTo>
                      <a:lnTo>
                        <a:pt x="12" y="8344"/>
                      </a:lnTo>
                      <a:cubicBezTo>
                        <a:pt x="12" y="9022"/>
                        <a:pt x="563" y="9572"/>
                        <a:pt x="1240" y="9572"/>
                      </a:cubicBezTo>
                      <a:lnTo>
                        <a:pt x="12407" y="9572"/>
                      </a:lnTo>
                      <a:lnTo>
                        <a:pt x="11822" y="8987"/>
                      </a:lnTo>
                      <a:lnTo>
                        <a:pt x="3420" y="586"/>
                      </a:lnTo>
                      <a:lnTo>
                        <a:pt x="2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 name="Google Shape;3112;p169">
                  <a:extLst>
                    <a:ext uri="{FF2B5EF4-FFF2-40B4-BE49-F238E27FC236}">
                      <a16:creationId xmlns:a16="http://schemas.microsoft.com/office/drawing/2014/main" id="{D00F00F5-941D-8581-C220-D6F6606F7351}"/>
                    </a:ext>
                  </a:extLst>
                </p:cNvPr>
                <p:cNvSpPr/>
                <p:nvPr/>
              </p:nvSpPr>
              <p:spPr>
                <a:xfrm>
                  <a:off x="3229068" y="3626367"/>
                  <a:ext cx="1521747"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9" name="タイトル 1">
                <a:extLst>
                  <a:ext uri="{FF2B5EF4-FFF2-40B4-BE49-F238E27FC236}">
                    <a16:creationId xmlns:a16="http://schemas.microsoft.com/office/drawing/2014/main" id="{7A9B8225-27EF-A7B2-8B70-C2E5E54F859A}"/>
                  </a:ext>
                </a:extLst>
              </p:cNvPr>
              <p:cNvSpPr txBox="1">
                <a:spLocks/>
              </p:cNvSpPr>
              <p:nvPr/>
            </p:nvSpPr>
            <p:spPr>
              <a:xfrm>
                <a:off x="10683978" y="456244"/>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r>
                  <a:rPr lang="en-US" altLang="ja-JP" dirty="0">
                    <a:latin typeface="Times New Roman" panose="02020603050405020304" pitchFamily="18" charset="0"/>
                    <a:cs typeface="Times New Roman" panose="02020603050405020304" pitchFamily="18" charset="0"/>
                  </a:rPr>
                  <a:t>AI </a:t>
                </a:r>
                <a:r>
                  <a:rPr lang="en-US" altLang="ja-JP" dirty="0" err="1">
                    <a:latin typeface="Times New Roman" panose="02020603050405020304" pitchFamily="18" charset="0"/>
                    <a:cs typeface="Times New Roman" panose="02020603050405020304" pitchFamily="18" charset="0"/>
                  </a:rPr>
                  <a:t>dự</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đoán</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và</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cảnh</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báo</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lỗi</a:t>
                </a:r>
                <a:endParaRPr lang="en-US" altLang="ja-JP" dirty="0">
                  <a:latin typeface="Times New Roman" panose="02020603050405020304" pitchFamily="18" charset="0"/>
                  <a:cs typeface="Times New Roman" panose="02020603050405020304" pitchFamily="18" charset="0"/>
                </a:endParaRPr>
              </a:p>
            </p:txBody>
          </p:sp>
          <p:sp>
            <p:nvSpPr>
              <p:cNvPr id="10" name="タイトル 1">
                <a:extLst>
                  <a:ext uri="{FF2B5EF4-FFF2-40B4-BE49-F238E27FC236}">
                    <a16:creationId xmlns:a16="http://schemas.microsoft.com/office/drawing/2014/main" id="{FC60CC8B-2E78-2FEA-A654-7DA0E200A0BE}"/>
                  </a:ext>
                </a:extLst>
              </p:cNvPr>
              <p:cNvSpPr txBox="1">
                <a:spLocks/>
              </p:cNvSpPr>
              <p:nvPr/>
            </p:nvSpPr>
            <p:spPr>
              <a:xfrm>
                <a:off x="9839575" y="531261"/>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endParaRPr lang="ja-JP" altLang="en-US" dirty="0">
                  <a:latin typeface="Times New Roman" panose="02020603050405020304" pitchFamily="18" charset="0"/>
                  <a:cs typeface="Times New Roman" panose="02020603050405020304" pitchFamily="18" charset="0"/>
                </a:endParaRPr>
              </a:p>
            </p:txBody>
          </p:sp>
        </p:grpSp>
      </p:grpSp>
      <p:sp>
        <p:nvSpPr>
          <p:cNvPr id="134" name="T4">
            <a:extLst>
              <a:ext uri="{FF2B5EF4-FFF2-40B4-BE49-F238E27FC236}">
                <a16:creationId xmlns:a16="http://schemas.microsoft.com/office/drawing/2014/main" id="{8C042128-7587-3C61-4234-1D20CB0553A6}"/>
              </a:ext>
            </a:extLst>
          </p:cNvPr>
          <p:cNvSpPr txBox="1"/>
          <p:nvPr/>
        </p:nvSpPr>
        <p:spPr>
          <a:xfrm>
            <a:off x="268719" y="680245"/>
            <a:ext cx="9684712" cy="520000"/>
          </a:xfrm>
          <a:prstGeom prst="roundRect">
            <a:avLst>
              <a:gd name="adj" fmla="val 22000"/>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p:spPr>
        <p:txBody>
          <a:bodyPr wrap="square" lIns="228600" tIns="0" rIns="114300" bIns="0" anchor="ctr">
            <a:normAutofit/>
          </a:bodyPr>
          <a:lstStyle/>
          <a:p>
            <a:r>
              <a:rPr lang="en-US" sz="1600" b="1" dirty="0">
                <a:latin typeface="Times New Roman" panose="02020603050405020304" pitchFamily="18" charset="0"/>
                <a:cs typeface="Times New Roman" panose="02020603050405020304" pitchFamily="18" charset="0"/>
              </a:rPr>
              <a:t>Quy </a:t>
            </a:r>
            <a:r>
              <a:rPr lang="en-US" sz="1600" b="1" dirty="0" err="1">
                <a:latin typeface="Times New Roman" panose="02020603050405020304" pitchFamily="18" charset="0"/>
                <a:cs typeface="Times New Roman" panose="02020603050405020304" pitchFamily="18" charset="0"/>
              </a:rPr>
              <a:t>trình</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xây</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dựng</a:t>
            </a:r>
            <a:r>
              <a:rPr lang="en-US" sz="1600" b="1" dirty="0">
                <a:latin typeface="Times New Roman" panose="02020603050405020304" pitchFamily="18" charset="0"/>
                <a:cs typeface="Times New Roman" panose="02020603050405020304" pitchFamily="18" charset="0"/>
              </a:rPr>
              <a:t> AI </a:t>
            </a:r>
            <a:r>
              <a:rPr lang="en-US" sz="1600" b="1" dirty="0" err="1">
                <a:latin typeface="Times New Roman" panose="02020603050405020304" pitchFamily="18" charset="0"/>
                <a:cs typeface="Times New Roman" panose="02020603050405020304" pitchFamily="18" charset="0"/>
              </a:rPr>
              <a:t>phân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tích</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cảnh</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báo</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lỗi</a:t>
            </a:r>
            <a:endParaRPr lang="en-US" sz="1600" b="1" dirty="0">
              <a:solidFill>
                <a:schemeClr val="bg1"/>
              </a:solidFill>
              <a:latin typeface="Times New Roman" panose="02020603050405020304" pitchFamily="18" charset="0"/>
              <a:cs typeface="Times New Roman" panose="02020603050405020304" pitchFamily="18" charset="0"/>
            </a:endParaRPr>
          </a:p>
        </p:txBody>
      </p:sp>
      <p:pic>
        <p:nvPicPr>
          <p:cNvPr id="146" name="Picture 145">
            <a:extLst>
              <a:ext uri="{FF2B5EF4-FFF2-40B4-BE49-F238E27FC236}">
                <a16:creationId xmlns:a16="http://schemas.microsoft.com/office/drawing/2014/main" id="{4DA665E4-2315-C705-EC43-C1481884CE39}"/>
              </a:ext>
            </a:extLst>
          </p:cNvPr>
          <p:cNvPicPr>
            <a:picLocks noChangeAspect="1"/>
          </p:cNvPicPr>
          <p:nvPr/>
        </p:nvPicPr>
        <p:blipFill>
          <a:blip r:embed="rId7"/>
          <a:srcRect l="14457" t="1623" r="21440" b="5743"/>
          <a:stretch>
            <a:fillRect/>
          </a:stretch>
        </p:blipFill>
        <p:spPr>
          <a:xfrm>
            <a:off x="7600551" y="1296455"/>
            <a:ext cx="3947379" cy="38028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4"/>
          <p:cNvSpPr txBox="1"/>
          <p:nvPr/>
        </p:nvSpPr>
        <p:spPr>
          <a:xfrm>
            <a:off x="706482" y="950000"/>
            <a:ext cx="6600000" cy="520000"/>
          </a:xfrm>
          <a:prstGeom prst="roundRect">
            <a:avLst>
              <a:gd name="adj" fmla="val 22000"/>
            </a:avLst>
          </a:prstGeom>
          <a:gradFill rotWithShape="1">
            <a:gsLst>
              <a:gs pos="0">
                <a:srgbClr val="1B1464"/>
              </a:gs>
              <a:gs pos="100000">
                <a:srgbClr val="3C2BC8"/>
              </a:gs>
            </a:gsLst>
            <a:lin ang="0" scaled="0"/>
          </a:gradFill>
        </p:spPr>
        <p:txBody>
          <a:bodyPr wrap="square" lIns="228600" tIns="0" rIns="114300" bIns="0" anchor="ctr">
            <a:normAutofit/>
          </a:bodyPr>
          <a:lstStyle/>
          <a:p>
            <a:pPr algn="l">
              <a:lnSpc>
                <a:spcPct val="100000"/>
              </a:lnSpc>
              <a:spcBef>
                <a:spcPts val="0"/>
              </a:spcBef>
            </a:pPr>
            <a:r>
              <a:rPr lang="vi-VN" sz="1600" b="1">
                <a:solidFill>
                  <a:srgbClr val="FFFFFF"/>
                </a:solidFill>
                <a:latin typeface="Times New Roman" panose="02020603050405020304" pitchFamily="18" charset="0"/>
                <a:cs typeface="Times New Roman" panose="02020603050405020304" pitchFamily="18" charset="0"/>
              </a:rPr>
              <a:t>Bước 2: Thu thập và liên kết dữ liệu theo lot</a:t>
            </a:r>
          </a:p>
        </p:txBody>
      </p:sp>
      <p:sp>
        <p:nvSpPr>
          <p:cNvPr id="7" name="T7"/>
          <p:cNvSpPr txBox="1"/>
          <p:nvPr/>
        </p:nvSpPr>
        <p:spPr>
          <a:xfrm>
            <a:off x="8549640" y="3840480"/>
            <a:ext cx="3383280" cy="685800"/>
          </a:xfrm>
          <a:prstGeom prst="rect">
            <a:avLst/>
          </a:prstGeom>
          <a:noFill/>
        </p:spPr>
        <p:txBody>
          <a:bodyPr wrap="square" lIns="0" tIns="0" rIns="0" bIns="0" anchor="t">
            <a:normAutofit/>
          </a:bodyPr>
          <a:lstStyle/>
          <a:p>
            <a:pPr algn="ctr">
              <a:lnSpc>
                <a:spcPct val="100000"/>
              </a:lnSpc>
              <a:spcBef>
                <a:spcPts val="0"/>
              </a:spcBef>
            </a:pPr>
            <a:r>
              <a:rPr lang="vi-VN" sz="1600" b="1" dirty="0">
                <a:latin typeface="Times New Roman" panose="02020603050405020304" pitchFamily="18" charset="0"/>
                <a:cs typeface="Times New Roman" panose="02020603050405020304" pitchFamily="18" charset="0"/>
              </a:rPr>
              <a:t>DỮ LIỆU LOT</a:t>
            </a:r>
          </a:p>
          <a:p>
            <a:pPr algn="ctr">
              <a:lnSpc>
                <a:spcPct val="100000"/>
              </a:lnSpc>
              <a:spcBef>
                <a:spcPts val="0"/>
              </a:spcBef>
            </a:pPr>
            <a:r>
              <a:rPr lang="vi-VN" sz="1600" b="1" dirty="0">
                <a:latin typeface="Times New Roman" panose="02020603050405020304" pitchFamily="18" charset="0"/>
                <a:cs typeface="Times New Roman" panose="02020603050405020304" pitchFamily="18" charset="0"/>
              </a:rPr>
              <a:t>Liên kết lot – Unit – jig</a:t>
            </a:r>
            <a:endParaRPr lang="vi-VN" sz="1600" b="0" dirty="0">
              <a:latin typeface="Times New Roman" panose="02020603050405020304" pitchFamily="18" charset="0"/>
              <a:cs typeface="Times New Roman" panose="02020603050405020304" pitchFamily="18" charset="0"/>
            </a:endParaRPr>
          </a:p>
        </p:txBody>
      </p:sp>
      <p:sp>
        <p:nvSpPr>
          <p:cNvPr id="100" name="S100"/>
          <p:cNvSpPr/>
          <p:nvPr/>
        </p:nvSpPr>
        <p:spPr>
          <a:xfrm>
            <a:off x="685800" y="3310128"/>
            <a:ext cx="2377440" cy="169164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algn="t" rotWithShape="0">
              <a:srgbClr val="1B1464">
                <a:alpha val="13000"/>
              </a:srgbClr>
            </a:outerShdw>
          </a:effectLst>
        </p:spPr>
        <p:txBody>
          <a:bodyPr/>
          <a:lstStyle/>
          <a:p>
            <a:endParaRPr lang="vi-VN">
              <a:latin typeface="Times New Roman" panose="02020603050405020304" pitchFamily="18" charset="0"/>
              <a:cs typeface="Times New Roman" panose="02020603050405020304" pitchFamily="18" charset="0"/>
            </a:endParaRPr>
          </a:p>
        </p:txBody>
      </p:sp>
      <p:sp>
        <p:nvSpPr>
          <p:cNvPr id="101" name="S101"/>
          <p:cNvSpPr/>
          <p:nvPr/>
        </p:nvSpPr>
        <p:spPr>
          <a:xfrm>
            <a:off x="685800" y="2852928"/>
            <a:ext cx="7726680" cy="45720"/>
          </a:xfrm>
          <a:prstGeom prst="rect">
            <a:avLst/>
          </a:prstGeom>
          <a:gradFill rotWithShape="1">
            <a:gsLst>
              <a:gs pos="0">
                <a:srgbClr val="2E1C9E"/>
              </a:gs>
              <a:gs pos="100000">
                <a:srgbClr val="00C2FF"/>
              </a:gs>
            </a:gsLst>
            <a:lin ang="5400000" scaled="0"/>
          </a:gradFill>
          <a:ln>
            <a:noFill/>
          </a:ln>
        </p:spPr>
        <p:txBody>
          <a:bodyPr/>
          <a:lstStyle/>
          <a:p>
            <a:endParaRPr lang="vi-VN">
              <a:latin typeface="Times New Roman" panose="02020603050405020304" pitchFamily="18" charset="0"/>
              <a:cs typeface="Times New Roman" panose="02020603050405020304" pitchFamily="18" charset="0"/>
            </a:endParaRPr>
          </a:p>
        </p:txBody>
      </p:sp>
      <p:pic>
        <p:nvPicPr>
          <p:cNvPr id="102" name="I102"/>
          <p:cNvPicPr>
            <a:picLocks noChangeAspect="1"/>
          </p:cNvPicPr>
          <p:nvPr/>
        </p:nvPicPr>
        <p:blipFill>
          <a:blip r:embed="rId3"/>
          <a:stretch>
            <a:fillRect/>
          </a:stretch>
        </p:blipFill>
        <p:spPr>
          <a:xfrm>
            <a:off x="1545336" y="1938528"/>
            <a:ext cx="658368" cy="658368"/>
          </a:xfrm>
          <a:prstGeom prst="rect">
            <a:avLst/>
          </a:prstGeom>
        </p:spPr>
      </p:pic>
      <p:sp>
        <p:nvSpPr>
          <p:cNvPr id="103" name="T103"/>
          <p:cNvSpPr txBox="1"/>
          <p:nvPr/>
        </p:nvSpPr>
        <p:spPr>
          <a:xfrm>
            <a:off x="822960" y="3493008"/>
            <a:ext cx="2103120" cy="340157"/>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01  |  Thông số linh kiện nhựa</a:t>
            </a:r>
          </a:p>
        </p:txBody>
      </p:sp>
      <p:sp>
        <p:nvSpPr>
          <p:cNvPr id="104" name="T104"/>
          <p:cNvSpPr txBox="1"/>
          <p:nvPr/>
        </p:nvSpPr>
        <p:spPr>
          <a:xfrm>
            <a:off x="822960" y="3904488"/>
            <a:ext cx="2103120" cy="1188720"/>
          </a:xfrm>
          <a:prstGeom prst="rect">
            <a:avLst/>
          </a:prstGeom>
          <a:noFill/>
        </p:spPr>
        <p:txBody>
          <a:bodyPr wrap="square" lIns="0" tIns="0" rIns="0" bIns="0" anchor="t">
            <a:normAutofit/>
          </a:bodyPr>
          <a:lstStyle/>
          <a:p>
            <a:pPr algn="l">
              <a:lnSpc>
                <a:spcPct val="100000"/>
              </a:lnSpc>
              <a:spcBef>
                <a:spcPts val="0"/>
              </a:spcBef>
            </a:pPr>
            <a:r>
              <a:rPr lang="vi-VN" sz="1300" b="0" dirty="0">
                <a:solidFill>
                  <a:srgbClr val="505050"/>
                </a:solidFill>
                <a:latin typeface="Times New Roman" panose="02020603050405020304" pitchFamily="18" charset="0"/>
                <a:cs typeface="Times New Roman" panose="02020603050405020304" pitchFamily="18" charset="0"/>
              </a:rPr>
              <a:t>Đo và ghi nhận các kích thước trọng yếu theo từng lot trước khi lắp ráp</a:t>
            </a:r>
          </a:p>
        </p:txBody>
      </p:sp>
      <p:sp>
        <p:nvSpPr>
          <p:cNvPr id="106" name="S106"/>
          <p:cNvSpPr/>
          <p:nvPr/>
        </p:nvSpPr>
        <p:spPr>
          <a:xfrm>
            <a:off x="3383280" y="3310128"/>
            <a:ext cx="2377440" cy="169164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algn="t" rotWithShape="0">
              <a:srgbClr val="1B1464">
                <a:alpha val="13000"/>
              </a:srgbClr>
            </a:outerShdw>
          </a:effectLst>
        </p:spPr>
        <p:txBody>
          <a:bodyPr/>
          <a:lstStyle/>
          <a:p>
            <a:endParaRPr lang="vi-VN" sz="1300">
              <a:latin typeface="Times New Roman" panose="02020603050405020304" pitchFamily="18" charset="0"/>
              <a:cs typeface="Times New Roman" panose="02020603050405020304" pitchFamily="18" charset="0"/>
            </a:endParaRPr>
          </a:p>
        </p:txBody>
      </p:sp>
      <p:sp>
        <p:nvSpPr>
          <p:cNvPr id="107" name="S107"/>
          <p:cNvSpPr/>
          <p:nvPr/>
        </p:nvSpPr>
        <p:spPr>
          <a:xfrm>
            <a:off x="1741932" y="2743200"/>
            <a:ext cx="265176" cy="265176"/>
          </a:xfrm>
          <a:prstGeom prst="ellipse">
            <a:avLst/>
          </a:prstGeom>
          <a:gradFill rotWithShape="1">
            <a:gsLst>
              <a:gs pos="0">
                <a:srgbClr val="2E1C9E"/>
              </a:gs>
              <a:gs pos="100000">
                <a:srgbClr val="00C2FF"/>
              </a:gs>
            </a:gsLst>
            <a:lin ang="5400000" scaled="0"/>
          </a:gradFill>
          <a:ln w="19050">
            <a:solidFill>
              <a:srgbClr val="FFFFFF"/>
            </a:solidFill>
          </a:ln>
        </p:spPr>
        <p:txBody>
          <a:bodyPr/>
          <a:lstStyle/>
          <a:p>
            <a:pPr algn="ctr"/>
            <a:endParaRPr lang="vi-VN" sz="1300" dirty="0">
              <a:latin typeface="Times New Roman" panose="02020603050405020304" pitchFamily="18" charset="0"/>
              <a:cs typeface="Times New Roman" panose="02020603050405020304" pitchFamily="18" charset="0"/>
            </a:endParaRPr>
          </a:p>
        </p:txBody>
      </p:sp>
      <p:pic>
        <p:nvPicPr>
          <p:cNvPr id="108" name="I108"/>
          <p:cNvPicPr>
            <a:picLocks noChangeAspect="1"/>
          </p:cNvPicPr>
          <p:nvPr/>
        </p:nvPicPr>
        <p:blipFill>
          <a:blip r:embed="rId4"/>
          <a:stretch>
            <a:fillRect/>
          </a:stretch>
        </p:blipFill>
        <p:spPr>
          <a:xfrm>
            <a:off x="4242816" y="1938528"/>
            <a:ext cx="658368" cy="658368"/>
          </a:xfrm>
          <a:prstGeom prst="rect">
            <a:avLst/>
          </a:prstGeom>
        </p:spPr>
      </p:pic>
      <p:sp>
        <p:nvSpPr>
          <p:cNvPr id="109" name="T109"/>
          <p:cNvSpPr txBox="1"/>
          <p:nvPr/>
        </p:nvSpPr>
        <p:spPr>
          <a:xfrm>
            <a:off x="3520440" y="3493008"/>
            <a:ext cx="2103120" cy="340157"/>
          </a:xfrm>
          <a:prstGeom prst="rect">
            <a:avLst/>
          </a:prstGeom>
          <a:noFill/>
        </p:spPr>
        <p:txBody>
          <a:bodyPr wrap="square" lIns="0" tIns="0" rIns="0" bIns="0" anchor="ctr">
            <a:normAutofit/>
          </a:bodyPr>
          <a:lstStyle/>
          <a:p>
            <a:pPr algn="l">
              <a:lnSpc>
                <a:spcPct val="100000"/>
              </a:lnSpc>
              <a:spcBef>
                <a:spcPts val="0"/>
              </a:spcBef>
            </a:pPr>
            <a:r>
              <a:rPr lang="vi-VN" sz="1300" b="1">
                <a:solidFill>
                  <a:srgbClr val="2E1C9E"/>
                </a:solidFill>
                <a:latin typeface="Times New Roman" panose="02020603050405020304" pitchFamily="18" charset="0"/>
                <a:cs typeface="Times New Roman" panose="02020603050405020304" pitchFamily="18" charset="0"/>
              </a:rPr>
              <a:t>02  |  Dữ liệu kiểm tra jig</a:t>
            </a:r>
          </a:p>
        </p:txBody>
      </p:sp>
      <p:sp>
        <p:nvSpPr>
          <p:cNvPr id="110" name="T110"/>
          <p:cNvSpPr txBox="1">
            <a:spLocks/>
          </p:cNvSpPr>
          <p:nvPr/>
        </p:nvSpPr>
        <p:spPr>
          <a:xfrm>
            <a:off x="3520440" y="3904488"/>
            <a:ext cx="2103120" cy="1188720"/>
          </a:xfrm>
          <a:prstGeom prst="rect">
            <a:avLst/>
          </a:prstGeom>
          <a:noFill/>
        </p:spPr>
        <p:txBody>
          <a:bodyPr wrap="square" lIns="0" tIns="0" rIns="0" bIns="0" anchor="t">
            <a:normAutofit/>
          </a:bodyPr>
          <a:lstStyle/>
          <a:p>
            <a:pPr algn="l">
              <a:lnSpc>
                <a:spcPct val="100000"/>
              </a:lnSpc>
              <a:spcBef>
                <a:spcPts val="0"/>
              </a:spcBef>
            </a:pPr>
            <a:r>
              <a:rPr lang="vi-VN" sz="1300" b="0">
                <a:solidFill>
                  <a:srgbClr val="505050"/>
                </a:solidFill>
                <a:latin typeface="Times New Roman" panose="02020603050405020304" pitchFamily="18" charset="0"/>
                <a:cs typeface="Times New Roman" panose="02020603050405020304" pitchFamily="18" charset="0"/>
              </a:rPr>
              <a:t>Kết quả đo của Unit sau lắp ráp được ghi nhận tự động trên jig</a:t>
            </a:r>
          </a:p>
        </p:txBody>
      </p:sp>
      <p:sp>
        <p:nvSpPr>
          <p:cNvPr id="112" name="S112"/>
          <p:cNvSpPr/>
          <p:nvPr/>
        </p:nvSpPr>
        <p:spPr>
          <a:xfrm>
            <a:off x="6080760" y="3310128"/>
            <a:ext cx="2377440" cy="169164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algn="t" rotWithShape="0">
              <a:srgbClr val="1B1464">
                <a:alpha val="13000"/>
              </a:srgbClr>
            </a:outerShdw>
          </a:effectLst>
        </p:spPr>
        <p:txBody>
          <a:bodyPr/>
          <a:lstStyle/>
          <a:p>
            <a:endParaRPr lang="vi-VN" sz="1300">
              <a:latin typeface="Times New Roman" panose="02020603050405020304" pitchFamily="18" charset="0"/>
              <a:cs typeface="Times New Roman" panose="02020603050405020304" pitchFamily="18" charset="0"/>
            </a:endParaRPr>
          </a:p>
        </p:txBody>
      </p:sp>
      <p:sp>
        <p:nvSpPr>
          <p:cNvPr id="113" name="S113"/>
          <p:cNvSpPr>
            <a:spLocks/>
          </p:cNvSpPr>
          <p:nvPr/>
        </p:nvSpPr>
        <p:spPr>
          <a:xfrm>
            <a:off x="4439412" y="2743200"/>
            <a:ext cx="265176" cy="265176"/>
          </a:xfrm>
          <a:prstGeom prst="ellipse">
            <a:avLst/>
          </a:prstGeom>
          <a:gradFill rotWithShape="1">
            <a:gsLst>
              <a:gs pos="0">
                <a:srgbClr val="2E1C9E"/>
              </a:gs>
              <a:gs pos="100000">
                <a:srgbClr val="00C2FF"/>
              </a:gs>
            </a:gsLst>
            <a:lin ang="5400000" scaled="0"/>
          </a:gradFill>
          <a:ln w="19050">
            <a:solidFill>
              <a:srgbClr val="FFFFFF"/>
            </a:solidFill>
          </a:ln>
        </p:spPr>
        <p:txBody>
          <a:bodyPr/>
          <a:lstStyle/>
          <a:p>
            <a:endParaRPr lang="vi-VN" sz="1300">
              <a:latin typeface="Times New Roman" panose="02020603050405020304" pitchFamily="18" charset="0"/>
              <a:cs typeface="Times New Roman" panose="02020603050405020304" pitchFamily="18" charset="0"/>
            </a:endParaRPr>
          </a:p>
        </p:txBody>
      </p:sp>
      <p:pic>
        <p:nvPicPr>
          <p:cNvPr id="114" name="I114"/>
          <p:cNvPicPr>
            <a:picLocks noChangeAspect="1"/>
          </p:cNvPicPr>
          <p:nvPr/>
        </p:nvPicPr>
        <p:blipFill>
          <a:blip r:embed="rId5"/>
          <a:stretch>
            <a:fillRect/>
          </a:stretch>
        </p:blipFill>
        <p:spPr>
          <a:xfrm>
            <a:off x="6940296" y="1938528"/>
            <a:ext cx="658368" cy="658368"/>
          </a:xfrm>
          <a:prstGeom prst="rect">
            <a:avLst/>
          </a:prstGeom>
        </p:spPr>
      </p:pic>
      <p:sp>
        <p:nvSpPr>
          <p:cNvPr id="115" name="T115"/>
          <p:cNvSpPr txBox="1">
            <a:spLocks/>
          </p:cNvSpPr>
          <p:nvPr/>
        </p:nvSpPr>
        <p:spPr>
          <a:xfrm>
            <a:off x="6217920" y="3493008"/>
            <a:ext cx="2103120" cy="340157"/>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03  |  Gắn liên kết lot – Unit</a:t>
            </a:r>
          </a:p>
        </p:txBody>
      </p:sp>
      <p:sp>
        <p:nvSpPr>
          <p:cNvPr id="116" name="T116"/>
          <p:cNvSpPr txBox="1"/>
          <p:nvPr/>
        </p:nvSpPr>
        <p:spPr>
          <a:xfrm>
            <a:off x="6217920" y="3904488"/>
            <a:ext cx="2103120" cy="1188720"/>
          </a:xfrm>
          <a:prstGeom prst="rect">
            <a:avLst/>
          </a:prstGeom>
          <a:noFill/>
        </p:spPr>
        <p:txBody>
          <a:bodyPr wrap="square" lIns="0" tIns="0" rIns="0" bIns="0" anchor="t">
            <a:normAutofit/>
          </a:bodyPr>
          <a:lstStyle/>
          <a:p>
            <a:pPr algn="l">
              <a:lnSpc>
                <a:spcPct val="100000"/>
              </a:lnSpc>
              <a:spcBef>
                <a:spcPts val="0"/>
              </a:spcBef>
            </a:pPr>
            <a:r>
              <a:rPr lang="vi-VN" sz="1300" b="0" dirty="0">
                <a:solidFill>
                  <a:srgbClr val="505050"/>
                </a:solidFill>
                <a:latin typeface="Times New Roman" panose="02020603050405020304" pitchFamily="18" charset="0"/>
                <a:cs typeface="Times New Roman" panose="02020603050405020304" pitchFamily="18" charset="0"/>
              </a:rPr>
              <a:t>Mỗi kết quả đo trên jig đều truy ngược được về lot linh kiện đã sử dụng</a:t>
            </a:r>
          </a:p>
        </p:txBody>
      </p:sp>
      <p:sp>
        <p:nvSpPr>
          <p:cNvPr id="118" name="S118"/>
          <p:cNvSpPr/>
          <p:nvPr/>
        </p:nvSpPr>
        <p:spPr>
          <a:xfrm>
            <a:off x="706482" y="5540000"/>
            <a:ext cx="10779036" cy="620000"/>
          </a:xfrm>
          <a:prstGeom prst="roundRect">
            <a:avLst>
              <a:gd name="adj" fmla="val 9000"/>
            </a:avLst>
          </a:prstGeom>
          <a:gradFill rotWithShape="1">
            <a:gsLst>
              <a:gs pos="0">
                <a:srgbClr val="EDEBFB"/>
              </a:gs>
              <a:gs pos="100000">
                <a:srgbClr val="E2F6FF"/>
              </a:gs>
            </a:gsLst>
            <a:lin ang="0" scaled="0"/>
          </a:gradFill>
          <a:ln>
            <a:no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19" name="T119"/>
          <p:cNvSpPr txBox="1"/>
          <p:nvPr/>
        </p:nvSpPr>
        <p:spPr>
          <a:xfrm>
            <a:off x="1006482" y="5540000"/>
            <a:ext cx="10179036" cy="620000"/>
          </a:xfrm>
          <a:prstGeom prst="rect">
            <a:avLst/>
          </a:prstGeom>
          <a:noFill/>
        </p:spPr>
        <p:txBody>
          <a:bodyPr wrap="square" lIns="0" tIns="0" rIns="0" bIns="0" anchor="ctr">
            <a:normAutofit/>
          </a:bodyPr>
          <a:lstStyle/>
          <a:p>
            <a:pPr algn="ctr">
              <a:lnSpc>
                <a:spcPct val="100000"/>
              </a:lnSpc>
              <a:spcBef>
                <a:spcPts val="0"/>
              </a:spcBef>
            </a:pPr>
            <a:r>
              <a:rPr lang="en-US" sz="1600" b="1" dirty="0" err="1">
                <a:solidFill>
                  <a:srgbClr val="2E1C9E"/>
                </a:solidFill>
                <a:latin typeface="Times New Roman" panose="02020603050405020304" pitchFamily="18" charset="0"/>
                <a:cs typeface="Times New Roman" panose="02020603050405020304" pitchFamily="18" charset="0"/>
              </a:rPr>
              <a:t>Có</a:t>
            </a:r>
            <a:r>
              <a:rPr lang="en-US" sz="1600" b="1" dirty="0">
                <a:solidFill>
                  <a:srgbClr val="2E1C9E"/>
                </a:solidFill>
                <a:latin typeface="Times New Roman" panose="02020603050405020304" pitchFamily="18" charset="0"/>
                <a:cs typeface="Times New Roman" panose="02020603050405020304" pitchFamily="18" charset="0"/>
              </a:rPr>
              <a:t> </a:t>
            </a:r>
            <a:r>
              <a:rPr lang="vi-VN" sz="1600" b="1" dirty="0">
                <a:solidFill>
                  <a:srgbClr val="2E1C9E"/>
                </a:solidFill>
                <a:latin typeface="Times New Roman" panose="02020603050405020304" pitchFamily="18" charset="0"/>
                <a:cs typeface="Times New Roman" panose="02020603050405020304" pitchFamily="18" charset="0"/>
              </a:rPr>
              <a:t>bộ dữ liệu sạch và liên kết đúng lot – Unit – jig, làm nền tảng cho AI phân tích</a:t>
            </a:r>
          </a:p>
        </p:txBody>
      </p:sp>
      <p:pic>
        <p:nvPicPr>
          <p:cNvPr id="14" name="Picture 13">
            <a:extLst>
              <a:ext uri="{FF2B5EF4-FFF2-40B4-BE49-F238E27FC236}">
                <a16:creationId xmlns:a16="http://schemas.microsoft.com/office/drawing/2014/main" id="{AEC4E1E4-ADC7-44C7-A1E0-F7570E3C27A6}"/>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8778240" y="1737360"/>
            <a:ext cx="2926080" cy="1947672"/>
          </a:xfrm>
          <a:prstGeom prst="rect">
            <a:avLst/>
          </a:prstGeom>
        </p:spPr>
      </p:pic>
      <p:sp>
        <p:nvSpPr>
          <p:cNvPr id="16" name="Freeform: Shape 15">
            <a:extLst>
              <a:ext uri="{FF2B5EF4-FFF2-40B4-BE49-F238E27FC236}">
                <a16:creationId xmlns:a16="http://schemas.microsoft.com/office/drawing/2014/main" id="{7C2E7097-76DA-45EB-8030-F6B88B0AC6D5}"/>
              </a:ext>
            </a:extLst>
          </p:cNvPr>
          <p:cNvSpPr/>
          <p:nvPr/>
        </p:nvSpPr>
        <p:spPr>
          <a:xfrm>
            <a:off x="10561320" y="2331720"/>
            <a:ext cx="82296" cy="82296"/>
          </a:xfrm>
          <a:custGeom>
            <a:avLst/>
            <a:gdLst>
              <a:gd name="csX0" fmla="*/ 457200 w 918056"/>
              <a:gd name="csY0" fmla="*/ 914400 h 914400"/>
              <a:gd name="csX1" fmla="*/ 0 w 918056"/>
              <a:gd name="csY1" fmla="*/ 457200 h 914400"/>
              <a:gd name="csX2" fmla="*/ 3656 w 918056"/>
              <a:gd name="csY2" fmla="*/ 457200 h 914400"/>
              <a:gd name="csX3" fmla="*/ 460856 w 918056"/>
              <a:gd name="csY3" fmla="*/ 0 h 914400"/>
              <a:gd name="csX4" fmla="*/ 918056 w 918056"/>
              <a:gd name="csY4" fmla="*/ 457200 h 914400"/>
              <a:gd name="csX5" fmla="*/ 914400 w 918056"/>
              <a:gd name="csY5" fmla="*/ 457200 h 914400"/>
              <a:gd name="csX6" fmla="*/ 457200 w 918056"/>
              <a:gd name="csY6" fmla="*/ 914400 h 914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18056" h="914400">
                <a:moveTo>
                  <a:pt x="457200" y="914400"/>
                </a:moveTo>
                <a:cubicBezTo>
                  <a:pt x="457200" y="661895"/>
                  <a:pt x="252505" y="457200"/>
                  <a:pt x="0" y="457200"/>
                </a:cubicBezTo>
                <a:lnTo>
                  <a:pt x="3656" y="457200"/>
                </a:lnTo>
                <a:cubicBezTo>
                  <a:pt x="256161" y="457200"/>
                  <a:pt x="460856" y="252505"/>
                  <a:pt x="460856" y="0"/>
                </a:cubicBezTo>
                <a:cubicBezTo>
                  <a:pt x="460856" y="252505"/>
                  <a:pt x="665551" y="457200"/>
                  <a:pt x="918056" y="457200"/>
                </a:cubicBezTo>
                <a:lnTo>
                  <a:pt x="914400" y="457200"/>
                </a:lnTo>
                <a:cubicBezTo>
                  <a:pt x="661895" y="457200"/>
                  <a:pt x="457200" y="661895"/>
                  <a:pt x="457200" y="914400"/>
                </a:cubicBezTo>
                <a:close/>
              </a:path>
            </a:pathLst>
          </a:custGeom>
          <a:gradFill>
            <a:gsLst>
              <a:gs pos="0">
                <a:srgbClr val="0849DA"/>
              </a:gs>
              <a:gs pos="100000">
                <a:srgbClr val="7030A0"/>
              </a:gs>
            </a:gsLst>
            <a:lin ang="5400000" scaled="1"/>
          </a:gradFill>
          <a:ln w="31750" cap="rnd">
            <a:gradFill>
              <a:gsLst>
                <a:gs pos="0">
                  <a:srgbClr val="0849DA"/>
                </a:gs>
                <a:gs pos="100000">
                  <a:srgbClr val="7030A0"/>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Times New Roman" panose="02020603050405020304" pitchFamily="18" charset="0"/>
              <a:cs typeface="Times New Roman" panose="02020603050405020304" pitchFamily="18" charset="0"/>
            </a:endParaRPr>
          </a:p>
        </p:txBody>
      </p:sp>
      <p:sp>
        <p:nvSpPr>
          <p:cNvPr id="18" name="Freeform: Shape 17">
            <a:extLst>
              <a:ext uri="{FF2B5EF4-FFF2-40B4-BE49-F238E27FC236}">
                <a16:creationId xmlns:a16="http://schemas.microsoft.com/office/drawing/2014/main" id="{6C006A07-FB74-4291-987E-267D72D8D1F5}"/>
              </a:ext>
            </a:extLst>
          </p:cNvPr>
          <p:cNvSpPr/>
          <p:nvPr/>
        </p:nvSpPr>
        <p:spPr>
          <a:xfrm>
            <a:off x="10543032" y="2487168"/>
            <a:ext cx="45720" cy="45720"/>
          </a:xfrm>
          <a:custGeom>
            <a:avLst/>
            <a:gdLst>
              <a:gd name="csX0" fmla="*/ 457200 w 918056"/>
              <a:gd name="csY0" fmla="*/ 914400 h 914400"/>
              <a:gd name="csX1" fmla="*/ 0 w 918056"/>
              <a:gd name="csY1" fmla="*/ 457200 h 914400"/>
              <a:gd name="csX2" fmla="*/ 3656 w 918056"/>
              <a:gd name="csY2" fmla="*/ 457200 h 914400"/>
              <a:gd name="csX3" fmla="*/ 460856 w 918056"/>
              <a:gd name="csY3" fmla="*/ 0 h 914400"/>
              <a:gd name="csX4" fmla="*/ 918056 w 918056"/>
              <a:gd name="csY4" fmla="*/ 457200 h 914400"/>
              <a:gd name="csX5" fmla="*/ 914400 w 918056"/>
              <a:gd name="csY5" fmla="*/ 457200 h 914400"/>
              <a:gd name="csX6" fmla="*/ 457200 w 918056"/>
              <a:gd name="csY6" fmla="*/ 914400 h 914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18056" h="914400">
                <a:moveTo>
                  <a:pt x="457200" y="914400"/>
                </a:moveTo>
                <a:cubicBezTo>
                  <a:pt x="457200" y="661895"/>
                  <a:pt x="252505" y="457200"/>
                  <a:pt x="0" y="457200"/>
                </a:cubicBezTo>
                <a:lnTo>
                  <a:pt x="3656" y="457200"/>
                </a:lnTo>
                <a:cubicBezTo>
                  <a:pt x="256161" y="457200"/>
                  <a:pt x="460856" y="252505"/>
                  <a:pt x="460856" y="0"/>
                </a:cubicBezTo>
                <a:cubicBezTo>
                  <a:pt x="460856" y="252505"/>
                  <a:pt x="665551" y="457200"/>
                  <a:pt x="918056" y="457200"/>
                </a:cubicBezTo>
                <a:lnTo>
                  <a:pt x="914400" y="457200"/>
                </a:lnTo>
                <a:cubicBezTo>
                  <a:pt x="661895" y="457200"/>
                  <a:pt x="457200" y="661895"/>
                  <a:pt x="457200" y="914400"/>
                </a:cubicBezTo>
                <a:close/>
              </a:path>
            </a:pathLst>
          </a:custGeom>
          <a:gradFill>
            <a:gsLst>
              <a:gs pos="0">
                <a:srgbClr val="0849DA">
                  <a:lumMod val="97000"/>
                </a:srgbClr>
              </a:gs>
              <a:gs pos="100000">
                <a:srgbClr val="7030A0"/>
              </a:gs>
            </a:gsLst>
            <a:lin ang="5400000" scaled="1"/>
          </a:gradFill>
          <a:ln w="15875" cap="rnd">
            <a:gradFill>
              <a:gsLst>
                <a:gs pos="0">
                  <a:srgbClr val="0849DA"/>
                </a:gs>
                <a:gs pos="100000">
                  <a:srgbClr val="7030A0"/>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Times New Roman" panose="02020603050405020304" pitchFamily="18" charset="0"/>
              <a:cs typeface="Times New Roman" panose="02020603050405020304" pitchFamily="18" charset="0"/>
            </a:endParaRPr>
          </a:p>
        </p:txBody>
      </p:sp>
      <p:pic>
        <p:nvPicPr>
          <p:cNvPr id="97" name="I121">
            <a:extLst>
              <a:ext uri="{FF2B5EF4-FFF2-40B4-BE49-F238E27FC236}">
                <a16:creationId xmlns:a16="http://schemas.microsoft.com/office/drawing/2014/main" id="{BD49DAC3-CAAB-468A-BE52-908B2FBB33A5}"/>
              </a:ext>
            </a:extLst>
          </p:cNvPr>
          <p:cNvPicPr>
            <a:picLocks noChangeAspect="1"/>
          </p:cNvPicPr>
          <p:nvPr/>
        </p:nvPicPr>
        <p:blipFill>
          <a:blip r:embed="rId7"/>
          <a:stretch>
            <a:fillRect/>
          </a:stretch>
        </p:blipFill>
        <p:spPr>
          <a:xfrm>
            <a:off x="1106482" y="5500000"/>
            <a:ext cx="660000" cy="660000"/>
          </a:xfrm>
          <a:prstGeom prst="rect">
            <a:avLst/>
          </a:prstGeom>
        </p:spPr>
      </p:pic>
      <p:grpSp>
        <p:nvGrpSpPr>
          <p:cNvPr id="2" name="Group 1">
            <a:extLst>
              <a:ext uri="{FF2B5EF4-FFF2-40B4-BE49-F238E27FC236}">
                <a16:creationId xmlns:a16="http://schemas.microsoft.com/office/drawing/2014/main" id="{F2424BF3-E9D2-B638-5F37-B885054307C1}"/>
              </a:ext>
            </a:extLst>
          </p:cNvPr>
          <p:cNvGrpSpPr/>
          <p:nvPr/>
        </p:nvGrpSpPr>
        <p:grpSpPr>
          <a:xfrm>
            <a:off x="2878176" y="102888"/>
            <a:ext cx="5890516" cy="526026"/>
            <a:chOff x="9603893" y="430511"/>
            <a:chExt cx="5890516" cy="605842"/>
          </a:xfrm>
        </p:grpSpPr>
        <p:sp>
          <p:nvSpPr>
            <p:cNvPr id="5" name="Google Shape;3112;p169">
              <a:extLst>
                <a:ext uri="{FF2B5EF4-FFF2-40B4-BE49-F238E27FC236}">
                  <a16:creationId xmlns:a16="http://schemas.microsoft.com/office/drawing/2014/main" id="{4551BB5F-83B5-1F11-AAA9-E3AA44C33BA3}"/>
                </a:ext>
              </a:extLst>
            </p:cNvPr>
            <p:cNvSpPr/>
            <p:nvPr/>
          </p:nvSpPr>
          <p:spPr>
            <a:xfrm>
              <a:off x="10050805" y="457775"/>
              <a:ext cx="2983199" cy="568501"/>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9E746FF6-6145-9F49-B246-8F5E9C3DC146}"/>
                </a:ext>
              </a:extLst>
            </p:cNvPr>
            <p:cNvGrpSpPr/>
            <p:nvPr/>
          </p:nvGrpSpPr>
          <p:grpSpPr>
            <a:xfrm>
              <a:off x="9603893" y="430511"/>
              <a:ext cx="5890516" cy="605842"/>
              <a:chOff x="9680198" y="256226"/>
              <a:chExt cx="5767917" cy="690195"/>
            </a:xfrm>
          </p:grpSpPr>
          <p:grpSp>
            <p:nvGrpSpPr>
              <p:cNvPr id="8" name="Google Shape;3110;p169">
                <a:extLst>
                  <a:ext uri="{FF2B5EF4-FFF2-40B4-BE49-F238E27FC236}">
                    <a16:creationId xmlns:a16="http://schemas.microsoft.com/office/drawing/2014/main" id="{98622F0E-EEF8-F7B2-DDD2-57926DF9528E}"/>
                  </a:ext>
                </a:extLst>
              </p:cNvPr>
              <p:cNvGrpSpPr/>
              <p:nvPr/>
            </p:nvGrpSpPr>
            <p:grpSpPr>
              <a:xfrm>
                <a:off x="9680198" y="256226"/>
                <a:ext cx="5767917" cy="690195"/>
                <a:chOff x="3099239" y="3615343"/>
                <a:chExt cx="1651576" cy="184687"/>
              </a:xfrm>
            </p:grpSpPr>
            <p:sp>
              <p:nvSpPr>
                <p:cNvPr id="11" name="Google Shape;3111;p169">
                  <a:extLst>
                    <a:ext uri="{FF2B5EF4-FFF2-40B4-BE49-F238E27FC236}">
                      <a16:creationId xmlns:a16="http://schemas.microsoft.com/office/drawing/2014/main" id="{60872C7B-10A8-7602-E426-1A76B937163B}"/>
                    </a:ext>
                  </a:extLst>
                </p:cNvPr>
                <p:cNvSpPr/>
                <p:nvPr/>
              </p:nvSpPr>
              <p:spPr>
                <a:xfrm>
                  <a:off x="3327296" y="3788725"/>
                  <a:ext cx="22611" cy="11305"/>
                </a:xfrm>
                <a:custGeom>
                  <a:avLst/>
                  <a:gdLst/>
                  <a:ahLst/>
                  <a:cxnLst/>
                  <a:rect l="l" t="t" r="r" b="b"/>
                  <a:pathLst>
                    <a:path w="1172" h="586" extrusionOk="0">
                      <a:moveTo>
                        <a:pt x="1" y="0"/>
                      </a:moveTo>
                      <a:lnTo>
                        <a:pt x="586" y="585"/>
                      </a:lnTo>
                      <a:lnTo>
                        <a:pt x="1171" y="0"/>
                      </a:lnTo>
                      <a:close/>
                    </a:path>
                  </a:pathLst>
                </a:custGeom>
                <a:solidFill>
                  <a:srgbClr val="448C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2" name="Google Shape;3112;p169">
                  <a:extLst>
                    <a:ext uri="{FF2B5EF4-FFF2-40B4-BE49-F238E27FC236}">
                      <a16:creationId xmlns:a16="http://schemas.microsoft.com/office/drawing/2014/main" id="{602A0260-4F6F-8EB8-9539-51E7769E851C}"/>
                    </a:ext>
                  </a:extLst>
                </p:cNvPr>
                <p:cNvSpPr/>
                <p:nvPr/>
              </p:nvSpPr>
              <p:spPr>
                <a:xfrm>
                  <a:off x="3213258" y="3626628"/>
                  <a:ext cx="799671"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 name="Google Shape;3113;p169">
                  <a:extLst>
                    <a:ext uri="{FF2B5EF4-FFF2-40B4-BE49-F238E27FC236}">
                      <a16:creationId xmlns:a16="http://schemas.microsoft.com/office/drawing/2014/main" id="{86370333-9466-023D-EDDF-5A49769B30C5}"/>
                    </a:ext>
                  </a:extLst>
                </p:cNvPr>
                <p:cNvSpPr/>
                <p:nvPr/>
              </p:nvSpPr>
              <p:spPr>
                <a:xfrm>
                  <a:off x="3165220" y="3626629"/>
                  <a:ext cx="165202" cy="162115"/>
                </a:xfrm>
                <a:custGeom>
                  <a:avLst/>
                  <a:gdLst/>
                  <a:ahLst/>
                  <a:cxnLst/>
                  <a:rect l="l" t="t" r="r" b="b"/>
                  <a:pathLst>
                    <a:path w="8563" h="8403" extrusionOk="0">
                      <a:moveTo>
                        <a:pt x="0" y="1"/>
                      </a:moveTo>
                      <a:lnTo>
                        <a:pt x="8402" y="8402"/>
                      </a:lnTo>
                      <a:lnTo>
                        <a:pt x="8562" y="8402"/>
                      </a:lnTo>
                      <a:lnTo>
                        <a:pt x="2491" y="1"/>
                      </a:ln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 name="Google Shape;3114;p169">
                  <a:extLst>
                    <a:ext uri="{FF2B5EF4-FFF2-40B4-BE49-F238E27FC236}">
                      <a16:creationId xmlns:a16="http://schemas.microsoft.com/office/drawing/2014/main" id="{0B68B1B0-6E78-273D-E915-792BB2C807F5}"/>
                    </a:ext>
                  </a:extLst>
                </p:cNvPr>
                <p:cNvSpPr/>
                <p:nvPr/>
              </p:nvSpPr>
              <p:spPr>
                <a:xfrm>
                  <a:off x="3099239" y="3615343"/>
                  <a:ext cx="239381" cy="184687"/>
                </a:xfrm>
                <a:custGeom>
                  <a:avLst/>
                  <a:gdLst/>
                  <a:ahLst/>
                  <a:cxnLst/>
                  <a:rect l="l" t="t" r="r" b="b"/>
                  <a:pathLst>
                    <a:path w="12408" h="9573" extrusionOk="0">
                      <a:moveTo>
                        <a:pt x="1240" y="0"/>
                      </a:moveTo>
                      <a:cubicBezTo>
                        <a:pt x="563" y="0"/>
                        <a:pt x="0" y="551"/>
                        <a:pt x="12" y="1240"/>
                      </a:cubicBezTo>
                      <a:lnTo>
                        <a:pt x="12" y="8344"/>
                      </a:lnTo>
                      <a:cubicBezTo>
                        <a:pt x="12" y="9022"/>
                        <a:pt x="563" y="9572"/>
                        <a:pt x="1240" y="9572"/>
                      </a:cubicBezTo>
                      <a:lnTo>
                        <a:pt x="12407" y="9572"/>
                      </a:lnTo>
                      <a:lnTo>
                        <a:pt x="11822" y="8987"/>
                      </a:lnTo>
                      <a:lnTo>
                        <a:pt x="3420" y="586"/>
                      </a:lnTo>
                      <a:lnTo>
                        <a:pt x="2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 name="Google Shape;3112;p169">
                  <a:extLst>
                    <a:ext uri="{FF2B5EF4-FFF2-40B4-BE49-F238E27FC236}">
                      <a16:creationId xmlns:a16="http://schemas.microsoft.com/office/drawing/2014/main" id="{F5A8B021-E70C-6138-5CD2-BEEE71BCD4B0}"/>
                    </a:ext>
                  </a:extLst>
                </p:cNvPr>
                <p:cNvSpPr/>
                <p:nvPr/>
              </p:nvSpPr>
              <p:spPr>
                <a:xfrm>
                  <a:off x="3229068" y="3626367"/>
                  <a:ext cx="1521747"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9" name="タイトル 1">
                <a:extLst>
                  <a:ext uri="{FF2B5EF4-FFF2-40B4-BE49-F238E27FC236}">
                    <a16:creationId xmlns:a16="http://schemas.microsoft.com/office/drawing/2014/main" id="{5BDFBD54-BB70-CADE-DC4C-1F7711B55EB2}"/>
                  </a:ext>
                </a:extLst>
              </p:cNvPr>
              <p:cNvSpPr txBox="1">
                <a:spLocks/>
              </p:cNvSpPr>
              <p:nvPr/>
            </p:nvSpPr>
            <p:spPr>
              <a:xfrm>
                <a:off x="10683978" y="456244"/>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r>
                  <a:rPr lang="en-US" altLang="ja-JP" dirty="0">
                    <a:latin typeface="Times New Roman" panose="02020603050405020304" pitchFamily="18" charset="0"/>
                    <a:cs typeface="Times New Roman" panose="02020603050405020304" pitchFamily="18" charset="0"/>
                  </a:rPr>
                  <a:t>AI </a:t>
                </a:r>
                <a:r>
                  <a:rPr lang="en-US" altLang="ja-JP" dirty="0" err="1">
                    <a:latin typeface="Times New Roman" panose="02020603050405020304" pitchFamily="18" charset="0"/>
                    <a:cs typeface="Times New Roman" panose="02020603050405020304" pitchFamily="18" charset="0"/>
                  </a:rPr>
                  <a:t>dự</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đoán</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và</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cảnh</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báo</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lỗi</a:t>
                </a:r>
                <a:endParaRPr lang="en-US" altLang="ja-JP" dirty="0">
                  <a:latin typeface="Times New Roman" panose="02020603050405020304" pitchFamily="18" charset="0"/>
                  <a:cs typeface="Times New Roman" panose="02020603050405020304" pitchFamily="18" charset="0"/>
                </a:endParaRPr>
              </a:p>
            </p:txBody>
          </p:sp>
          <p:sp>
            <p:nvSpPr>
              <p:cNvPr id="10" name="タイトル 1">
                <a:extLst>
                  <a:ext uri="{FF2B5EF4-FFF2-40B4-BE49-F238E27FC236}">
                    <a16:creationId xmlns:a16="http://schemas.microsoft.com/office/drawing/2014/main" id="{35F0825E-82CD-5865-454F-DC2973328CD6}"/>
                  </a:ext>
                </a:extLst>
              </p:cNvPr>
              <p:cNvSpPr txBox="1">
                <a:spLocks/>
              </p:cNvSpPr>
              <p:nvPr/>
            </p:nvSpPr>
            <p:spPr>
              <a:xfrm>
                <a:off x="9839575" y="531261"/>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endParaRPr lang="ja-JP" altLang="en-US" dirty="0">
                  <a:latin typeface="Times New Roman" panose="02020603050405020304" pitchFamily="18" charset="0"/>
                  <a:cs typeface="Times New Roman" panose="02020603050405020304" pitchFamily="18" charset="0"/>
                </a:endParaRPr>
              </a:p>
            </p:txBody>
          </p:sp>
        </p:grpSp>
      </p:grpSp>
      <p:sp>
        <p:nvSpPr>
          <p:cNvPr id="19" name="S113">
            <a:extLst>
              <a:ext uri="{FF2B5EF4-FFF2-40B4-BE49-F238E27FC236}">
                <a16:creationId xmlns:a16="http://schemas.microsoft.com/office/drawing/2014/main" id="{664EA7C6-125D-F929-C197-41AF7A91FE84}"/>
              </a:ext>
            </a:extLst>
          </p:cNvPr>
          <p:cNvSpPr>
            <a:spLocks/>
          </p:cNvSpPr>
          <p:nvPr/>
        </p:nvSpPr>
        <p:spPr>
          <a:xfrm>
            <a:off x="7046386" y="2742590"/>
            <a:ext cx="265176" cy="265176"/>
          </a:xfrm>
          <a:prstGeom prst="ellipse">
            <a:avLst/>
          </a:prstGeom>
          <a:gradFill rotWithShape="1">
            <a:gsLst>
              <a:gs pos="0">
                <a:srgbClr val="2E1C9E"/>
              </a:gs>
              <a:gs pos="100000">
                <a:srgbClr val="00C2FF"/>
              </a:gs>
            </a:gsLst>
            <a:lin ang="5400000" scaled="0"/>
          </a:gradFill>
          <a:ln w="19050">
            <a:solidFill>
              <a:srgbClr val="FFFFFF"/>
            </a:solidFill>
          </a:ln>
        </p:spPr>
        <p:txBody>
          <a:bodyPr/>
          <a:lstStyle/>
          <a:p>
            <a:endParaRPr lang="vi-VN" sz="13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4"/>
          <p:cNvSpPr txBox="1"/>
          <p:nvPr/>
        </p:nvSpPr>
        <p:spPr>
          <a:xfrm>
            <a:off x="706482" y="950000"/>
            <a:ext cx="6600000" cy="520000"/>
          </a:xfrm>
          <a:prstGeom prst="roundRect">
            <a:avLst>
              <a:gd name="adj" fmla="val 22000"/>
            </a:avLst>
          </a:prstGeom>
          <a:gradFill rotWithShape="1">
            <a:gsLst>
              <a:gs pos="0">
                <a:srgbClr val="1B1464"/>
              </a:gs>
              <a:gs pos="100000">
                <a:srgbClr val="3C2BC8"/>
              </a:gs>
            </a:gsLst>
            <a:lin ang="0" scaled="0"/>
          </a:gradFill>
        </p:spPr>
        <p:txBody>
          <a:bodyPr wrap="square" lIns="228600" tIns="0" rIns="114300" bIns="0" anchor="ctr">
            <a:normAutofit/>
          </a:bodyPr>
          <a:lstStyle/>
          <a:p>
            <a:pPr algn="l">
              <a:lnSpc>
                <a:spcPct val="100000"/>
              </a:lnSpc>
              <a:spcBef>
                <a:spcPts val="0"/>
              </a:spcBef>
            </a:pPr>
            <a:r>
              <a:rPr lang="vi-VN" sz="1600" b="1">
                <a:solidFill>
                  <a:srgbClr val="FFFFFF"/>
                </a:solidFill>
                <a:latin typeface="Times New Roman" panose="02020603050405020304" pitchFamily="18" charset="0"/>
                <a:cs typeface="Times New Roman" panose="02020603050405020304" pitchFamily="18" charset="0"/>
              </a:rPr>
              <a:t>Bước 3: Huấn luyện AI và thiết lập ngưỡng cảnh báo</a:t>
            </a:r>
          </a:p>
        </p:txBody>
      </p:sp>
      <p:sp>
        <p:nvSpPr>
          <p:cNvPr id="7" name="T7"/>
          <p:cNvSpPr txBox="1"/>
          <p:nvPr/>
        </p:nvSpPr>
        <p:spPr>
          <a:xfrm>
            <a:off x="685800" y="4892040"/>
            <a:ext cx="4480560" cy="548640"/>
          </a:xfrm>
          <a:prstGeom prst="rect">
            <a:avLst/>
          </a:prstGeom>
          <a:noFill/>
        </p:spPr>
        <p:txBody>
          <a:bodyPr wrap="square" lIns="0" tIns="0" rIns="0" bIns="0" anchor="t">
            <a:normAutofit/>
          </a:bodyPr>
          <a:lstStyle/>
          <a:p>
            <a:pPr algn="ctr">
              <a:lnSpc>
                <a:spcPct val="100000"/>
              </a:lnSpc>
              <a:spcBef>
                <a:spcPts val="0"/>
              </a:spcBef>
            </a:pPr>
            <a:r>
              <a:rPr lang="vi-VN" sz="1300" b="1" dirty="0">
                <a:latin typeface="Times New Roman" panose="02020603050405020304" pitchFamily="18" charset="0"/>
                <a:cs typeface="Times New Roman" panose="02020603050405020304" pitchFamily="18" charset="0"/>
              </a:rPr>
              <a:t>MÔ HÌNH AI</a:t>
            </a:r>
          </a:p>
          <a:p>
            <a:pPr algn="ctr">
              <a:lnSpc>
                <a:spcPct val="100000"/>
              </a:lnSpc>
              <a:spcBef>
                <a:spcPts val="0"/>
              </a:spcBef>
            </a:pPr>
            <a:r>
              <a:rPr lang="vi-VN" sz="1300" b="1" dirty="0">
                <a:latin typeface="Times New Roman" panose="02020603050405020304" pitchFamily="18" charset="0"/>
                <a:cs typeface="Times New Roman" panose="02020603050405020304" pitchFamily="18" charset="0"/>
              </a:rPr>
              <a:t>Dự đoán nguy cơ NG</a:t>
            </a:r>
            <a:endParaRPr lang="vi-VN" sz="1300" b="0" dirty="0">
              <a:latin typeface="Times New Roman" panose="02020603050405020304" pitchFamily="18" charset="0"/>
              <a:cs typeface="Times New Roman" panose="02020603050405020304" pitchFamily="18" charset="0"/>
            </a:endParaRPr>
          </a:p>
        </p:txBody>
      </p:sp>
      <p:sp>
        <p:nvSpPr>
          <p:cNvPr id="100" name="S100"/>
          <p:cNvSpPr/>
          <p:nvPr/>
        </p:nvSpPr>
        <p:spPr>
          <a:xfrm>
            <a:off x="6446520" y="1783080"/>
            <a:ext cx="5074920" cy="96012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algn="t" rotWithShape="0">
              <a:srgbClr val="1B1464">
                <a:alpha val="13000"/>
              </a:srgbClr>
            </a:outerShdw>
          </a:effectLst>
        </p:spPr>
        <p:txBody>
          <a:bodyPr/>
          <a:lstStyle/>
          <a:p>
            <a:endParaRPr lang="vi-VN">
              <a:latin typeface="Times New Roman" panose="02020603050405020304" pitchFamily="18" charset="0"/>
              <a:cs typeface="Times New Roman" panose="02020603050405020304" pitchFamily="18" charset="0"/>
            </a:endParaRPr>
          </a:p>
        </p:txBody>
      </p:sp>
      <p:sp>
        <p:nvSpPr>
          <p:cNvPr id="101" name="S101"/>
          <p:cNvSpPr/>
          <p:nvPr/>
        </p:nvSpPr>
        <p:spPr>
          <a:xfrm>
            <a:off x="5870448" y="1874520"/>
            <a:ext cx="45720" cy="3017520"/>
          </a:xfrm>
          <a:prstGeom prst="rect">
            <a:avLst/>
          </a:prstGeom>
          <a:gradFill rotWithShape="1">
            <a:gsLst>
              <a:gs pos="0">
                <a:srgbClr val="2E1C9E"/>
              </a:gs>
              <a:gs pos="100000">
                <a:srgbClr val="00C2FF"/>
              </a:gs>
            </a:gsLst>
            <a:lin ang="5400000" scaled="0"/>
          </a:gradFill>
          <a:ln>
            <a:noFill/>
          </a:ln>
        </p:spPr>
        <p:txBody>
          <a:bodyPr/>
          <a:lstStyle/>
          <a:p>
            <a:endParaRPr lang="vi-VN">
              <a:latin typeface="Times New Roman" panose="02020603050405020304" pitchFamily="18" charset="0"/>
              <a:cs typeface="Times New Roman" panose="02020603050405020304" pitchFamily="18" charset="0"/>
            </a:endParaRPr>
          </a:p>
        </p:txBody>
      </p:sp>
      <p:pic>
        <p:nvPicPr>
          <p:cNvPr id="102" name="I102"/>
          <p:cNvPicPr>
            <a:picLocks noChangeAspect="1"/>
          </p:cNvPicPr>
          <p:nvPr/>
        </p:nvPicPr>
        <p:blipFill>
          <a:blip r:embed="rId3"/>
          <a:stretch>
            <a:fillRect/>
          </a:stretch>
        </p:blipFill>
        <p:spPr>
          <a:xfrm>
            <a:off x="6629400" y="2039112"/>
            <a:ext cx="457200" cy="457200"/>
          </a:xfrm>
          <a:prstGeom prst="rect">
            <a:avLst/>
          </a:prstGeom>
        </p:spPr>
      </p:pic>
      <p:sp>
        <p:nvSpPr>
          <p:cNvPr id="103" name="T103"/>
          <p:cNvSpPr txBox="1"/>
          <p:nvPr/>
        </p:nvSpPr>
        <p:spPr>
          <a:xfrm>
            <a:off x="7269480" y="1874520"/>
            <a:ext cx="3657600" cy="340157"/>
          </a:xfrm>
          <a:prstGeom prst="rect">
            <a:avLst/>
          </a:prstGeom>
          <a:noFill/>
        </p:spPr>
        <p:txBody>
          <a:bodyPr wrap="square" lIns="0" tIns="0" rIns="0" bIns="0" anchor="ctr">
            <a:normAutofit/>
          </a:bodyPr>
          <a:lstStyle/>
          <a:p>
            <a:pPr algn="l">
              <a:lnSpc>
                <a:spcPct val="100000"/>
              </a:lnSpc>
              <a:spcBef>
                <a:spcPts val="0"/>
              </a:spcBef>
            </a:pPr>
            <a:r>
              <a:rPr lang="vi-VN" sz="1300" b="1">
                <a:solidFill>
                  <a:srgbClr val="2E1C9E"/>
                </a:solidFill>
                <a:latin typeface="Times New Roman" panose="02020603050405020304" pitchFamily="18" charset="0"/>
                <a:cs typeface="Times New Roman" panose="02020603050405020304" pitchFamily="18" charset="0"/>
              </a:rPr>
              <a:t>01  |  Học tương quan</a:t>
            </a:r>
          </a:p>
        </p:txBody>
      </p:sp>
      <p:sp>
        <p:nvSpPr>
          <p:cNvPr id="104" name="T104"/>
          <p:cNvSpPr txBox="1"/>
          <p:nvPr/>
        </p:nvSpPr>
        <p:spPr>
          <a:xfrm>
            <a:off x="7269480" y="2240280"/>
            <a:ext cx="3657600" cy="457200"/>
          </a:xfrm>
          <a:prstGeom prst="rect">
            <a:avLst/>
          </a:prstGeom>
          <a:noFill/>
        </p:spPr>
        <p:txBody>
          <a:bodyPr wrap="square" lIns="0" tIns="0" rIns="0" bIns="0" anchor="t">
            <a:normAutofit/>
          </a:bodyPr>
          <a:lstStyle/>
          <a:p>
            <a:pPr algn="l">
              <a:lnSpc>
                <a:spcPct val="100000"/>
              </a:lnSpc>
              <a:spcBef>
                <a:spcPts val="0"/>
              </a:spcBef>
            </a:pPr>
            <a:r>
              <a:rPr lang="vi-VN" sz="1300" b="0">
                <a:solidFill>
                  <a:srgbClr val="505050"/>
                </a:solidFill>
                <a:latin typeface="Times New Roman" panose="02020603050405020304" pitchFamily="18" charset="0"/>
                <a:cs typeface="Times New Roman" panose="02020603050405020304" pitchFamily="18" charset="0"/>
              </a:rPr>
              <a:t>AI tìm quy luật giữa thông số linh kiện và biến động dữ liệu trên jig</a:t>
            </a:r>
          </a:p>
        </p:txBody>
      </p:sp>
      <p:sp>
        <p:nvSpPr>
          <p:cNvPr id="105" name="S105"/>
          <p:cNvSpPr/>
          <p:nvPr/>
        </p:nvSpPr>
        <p:spPr>
          <a:xfrm>
            <a:off x="11109960" y="2167128"/>
            <a:ext cx="301752" cy="182880"/>
          </a:xfrm>
          <a:prstGeom prst="rightArrow">
            <a:avLst/>
          </a:prstGeom>
          <a:solidFill>
            <a:srgbClr val="C9C5E8"/>
          </a:solidFill>
          <a:ln>
            <a:no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06" name="S106"/>
          <p:cNvSpPr/>
          <p:nvPr/>
        </p:nvSpPr>
        <p:spPr>
          <a:xfrm>
            <a:off x="6446520" y="2880360"/>
            <a:ext cx="5074920" cy="96012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algn="t" rotWithShape="0">
              <a:srgbClr val="1B1464">
                <a:alpha val="13000"/>
              </a:srgbClr>
            </a:outerShdw>
          </a:effectLst>
        </p:spPr>
        <p:txBody>
          <a:bodyPr/>
          <a:lstStyle/>
          <a:p>
            <a:endParaRPr lang="vi-VN" sz="1300">
              <a:latin typeface="Times New Roman" panose="02020603050405020304" pitchFamily="18" charset="0"/>
              <a:cs typeface="Times New Roman" panose="02020603050405020304" pitchFamily="18" charset="0"/>
            </a:endParaRPr>
          </a:p>
        </p:txBody>
      </p:sp>
      <p:sp>
        <p:nvSpPr>
          <p:cNvPr id="107" name="S107"/>
          <p:cNvSpPr/>
          <p:nvPr/>
        </p:nvSpPr>
        <p:spPr>
          <a:xfrm>
            <a:off x="5751576" y="2112264"/>
            <a:ext cx="256032" cy="256032"/>
          </a:xfrm>
          <a:prstGeom prst="ellipse">
            <a:avLst/>
          </a:prstGeom>
          <a:gradFill rotWithShape="1">
            <a:gsLst>
              <a:gs pos="0">
                <a:srgbClr val="2E1C9E"/>
              </a:gs>
              <a:gs pos="100000">
                <a:srgbClr val="00C2FF"/>
              </a:gs>
            </a:gsLst>
            <a:lin ang="5400000" scaled="0"/>
          </a:gradFill>
          <a:ln w="19050">
            <a:solidFill>
              <a:srgbClr val="FFFFFF"/>
            </a:solidFill>
          </a:ln>
        </p:spPr>
        <p:txBody>
          <a:bodyPr/>
          <a:lstStyle/>
          <a:p>
            <a:endParaRPr lang="vi-VN" sz="1300">
              <a:latin typeface="Times New Roman" panose="02020603050405020304" pitchFamily="18" charset="0"/>
              <a:cs typeface="Times New Roman" panose="02020603050405020304" pitchFamily="18" charset="0"/>
            </a:endParaRPr>
          </a:p>
        </p:txBody>
      </p:sp>
      <p:pic>
        <p:nvPicPr>
          <p:cNvPr id="108" name="I108"/>
          <p:cNvPicPr>
            <a:picLocks noChangeAspect="1"/>
          </p:cNvPicPr>
          <p:nvPr/>
        </p:nvPicPr>
        <p:blipFill>
          <a:blip r:embed="rId4"/>
          <a:stretch>
            <a:fillRect/>
          </a:stretch>
        </p:blipFill>
        <p:spPr>
          <a:xfrm>
            <a:off x="6629400" y="3136392"/>
            <a:ext cx="457200" cy="457200"/>
          </a:xfrm>
          <a:prstGeom prst="rect">
            <a:avLst/>
          </a:prstGeom>
        </p:spPr>
      </p:pic>
      <p:sp>
        <p:nvSpPr>
          <p:cNvPr id="109" name="T109"/>
          <p:cNvSpPr txBox="1"/>
          <p:nvPr/>
        </p:nvSpPr>
        <p:spPr>
          <a:xfrm>
            <a:off x="7269480" y="2971800"/>
            <a:ext cx="3657600" cy="340157"/>
          </a:xfrm>
          <a:prstGeom prst="rect">
            <a:avLst/>
          </a:prstGeom>
          <a:noFill/>
        </p:spPr>
        <p:txBody>
          <a:bodyPr wrap="square" lIns="0" tIns="0" rIns="0" bIns="0" anchor="ctr">
            <a:normAutofit/>
          </a:bodyPr>
          <a:lstStyle/>
          <a:p>
            <a:pPr algn="l">
              <a:lnSpc>
                <a:spcPct val="100000"/>
              </a:lnSpc>
              <a:spcBef>
                <a:spcPts val="0"/>
              </a:spcBef>
            </a:pPr>
            <a:r>
              <a:rPr lang="vi-VN" sz="1300" b="1">
                <a:solidFill>
                  <a:srgbClr val="2E1C9E"/>
                </a:solidFill>
                <a:latin typeface="Times New Roman" panose="02020603050405020304" pitchFamily="18" charset="0"/>
                <a:cs typeface="Times New Roman" panose="02020603050405020304" pitchFamily="18" charset="0"/>
              </a:rPr>
              <a:t>02  |  Thiết lập ngưỡng cảnh báo</a:t>
            </a:r>
          </a:p>
        </p:txBody>
      </p:sp>
      <p:sp>
        <p:nvSpPr>
          <p:cNvPr id="110" name="T110"/>
          <p:cNvSpPr txBox="1">
            <a:spLocks/>
          </p:cNvSpPr>
          <p:nvPr/>
        </p:nvSpPr>
        <p:spPr>
          <a:xfrm>
            <a:off x="7269480" y="3337560"/>
            <a:ext cx="3657600" cy="457200"/>
          </a:xfrm>
          <a:prstGeom prst="rect">
            <a:avLst/>
          </a:prstGeom>
          <a:noFill/>
        </p:spPr>
        <p:txBody>
          <a:bodyPr wrap="square" lIns="0" tIns="0" rIns="0" bIns="0" anchor="t">
            <a:normAutofit/>
          </a:bodyPr>
          <a:lstStyle/>
          <a:p>
            <a:pPr algn="l">
              <a:lnSpc>
                <a:spcPct val="100000"/>
              </a:lnSpc>
              <a:spcBef>
                <a:spcPts val="0"/>
              </a:spcBef>
            </a:pPr>
            <a:r>
              <a:rPr lang="vi-VN" sz="1300" b="0">
                <a:solidFill>
                  <a:srgbClr val="505050"/>
                </a:solidFill>
                <a:latin typeface="Times New Roman" panose="02020603050405020304" pitchFamily="18" charset="0"/>
                <a:cs typeface="Times New Roman" panose="02020603050405020304" pitchFamily="18" charset="0"/>
              </a:rPr>
              <a:t>Xác định mức cảnh báo trước khi dữ liệu tiến gần giới hạn NG</a:t>
            </a:r>
          </a:p>
        </p:txBody>
      </p:sp>
      <p:sp>
        <p:nvSpPr>
          <p:cNvPr id="111" name="S111"/>
          <p:cNvSpPr/>
          <p:nvPr/>
        </p:nvSpPr>
        <p:spPr>
          <a:xfrm>
            <a:off x="11109960" y="3264408"/>
            <a:ext cx="301752" cy="182880"/>
          </a:xfrm>
          <a:prstGeom prst="rightArrow">
            <a:avLst/>
          </a:prstGeom>
          <a:solidFill>
            <a:srgbClr val="C9C5E8"/>
          </a:solidFill>
          <a:ln>
            <a:no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12" name="S112"/>
          <p:cNvSpPr/>
          <p:nvPr/>
        </p:nvSpPr>
        <p:spPr>
          <a:xfrm>
            <a:off x="6446520" y="3977640"/>
            <a:ext cx="5074920" cy="96012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algn="t" rotWithShape="0">
              <a:srgbClr val="1B1464">
                <a:alpha val="13000"/>
              </a:srgbClr>
            </a:outerShdw>
          </a:effectLst>
        </p:spPr>
        <p:txBody>
          <a:bodyPr/>
          <a:lstStyle/>
          <a:p>
            <a:endParaRPr lang="vi-VN" sz="1300">
              <a:latin typeface="Times New Roman" panose="02020603050405020304" pitchFamily="18" charset="0"/>
              <a:cs typeface="Times New Roman" panose="02020603050405020304" pitchFamily="18" charset="0"/>
            </a:endParaRPr>
          </a:p>
        </p:txBody>
      </p:sp>
      <p:sp>
        <p:nvSpPr>
          <p:cNvPr id="113" name="S113"/>
          <p:cNvSpPr>
            <a:spLocks/>
          </p:cNvSpPr>
          <p:nvPr/>
        </p:nvSpPr>
        <p:spPr>
          <a:xfrm>
            <a:off x="5751576" y="3209544"/>
            <a:ext cx="256032" cy="256032"/>
          </a:xfrm>
          <a:prstGeom prst="ellipse">
            <a:avLst/>
          </a:prstGeom>
          <a:gradFill rotWithShape="1">
            <a:gsLst>
              <a:gs pos="0">
                <a:srgbClr val="2E1C9E"/>
              </a:gs>
              <a:gs pos="100000">
                <a:srgbClr val="00C2FF"/>
              </a:gs>
            </a:gsLst>
            <a:lin ang="5400000" scaled="0"/>
          </a:gradFill>
          <a:ln w="19050">
            <a:solidFill>
              <a:srgbClr val="FFFFFF"/>
            </a:solidFill>
          </a:ln>
        </p:spPr>
        <p:txBody>
          <a:bodyPr/>
          <a:lstStyle/>
          <a:p>
            <a:endParaRPr lang="vi-VN" sz="1300">
              <a:latin typeface="Times New Roman" panose="02020603050405020304" pitchFamily="18" charset="0"/>
              <a:cs typeface="Times New Roman" panose="02020603050405020304" pitchFamily="18" charset="0"/>
            </a:endParaRPr>
          </a:p>
        </p:txBody>
      </p:sp>
      <p:pic>
        <p:nvPicPr>
          <p:cNvPr id="114" name="I114"/>
          <p:cNvPicPr>
            <a:picLocks noChangeAspect="1"/>
          </p:cNvPicPr>
          <p:nvPr/>
        </p:nvPicPr>
        <p:blipFill>
          <a:blip r:embed="rId5"/>
          <a:stretch>
            <a:fillRect/>
          </a:stretch>
        </p:blipFill>
        <p:spPr>
          <a:xfrm>
            <a:off x="6629400" y="4233672"/>
            <a:ext cx="457200" cy="457200"/>
          </a:xfrm>
          <a:prstGeom prst="rect">
            <a:avLst/>
          </a:prstGeom>
        </p:spPr>
      </p:pic>
      <p:sp>
        <p:nvSpPr>
          <p:cNvPr id="115" name="T115"/>
          <p:cNvSpPr txBox="1">
            <a:spLocks/>
          </p:cNvSpPr>
          <p:nvPr/>
        </p:nvSpPr>
        <p:spPr>
          <a:xfrm>
            <a:off x="7269480" y="4069080"/>
            <a:ext cx="3657600" cy="340157"/>
          </a:xfrm>
          <a:prstGeom prst="rect">
            <a:avLst/>
          </a:prstGeom>
          <a:noFill/>
        </p:spPr>
        <p:txBody>
          <a:bodyPr wrap="square" lIns="0" tIns="0" rIns="0" bIns="0" anchor="ctr">
            <a:normAutofit/>
          </a:bodyPr>
          <a:lstStyle/>
          <a:p>
            <a:pPr algn="l">
              <a:lnSpc>
                <a:spcPct val="100000"/>
              </a:lnSpc>
              <a:spcBef>
                <a:spcPts val="0"/>
              </a:spcBef>
            </a:pPr>
            <a:r>
              <a:rPr lang="vi-VN" sz="1300" b="1">
                <a:solidFill>
                  <a:srgbClr val="2E1C9E"/>
                </a:solidFill>
                <a:latin typeface="Times New Roman" panose="02020603050405020304" pitchFamily="18" charset="0"/>
                <a:cs typeface="Times New Roman" panose="02020603050405020304" pitchFamily="18" charset="0"/>
              </a:rPr>
              <a:t>03  |  Kiểm chứng mô hình</a:t>
            </a:r>
          </a:p>
        </p:txBody>
      </p:sp>
      <p:sp>
        <p:nvSpPr>
          <p:cNvPr id="116" name="T116"/>
          <p:cNvSpPr txBox="1"/>
          <p:nvPr/>
        </p:nvSpPr>
        <p:spPr>
          <a:xfrm>
            <a:off x="7269480" y="4434840"/>
            <a:ext cx="3657600" cy="457200"/>
          </a:xfrm>
          <a:prstGeom prst="rect">
            <a:avLst/>
          </a:prstGeom>
          <a:noFill/>
        </p:spPr>
        <p:txBody>
          <a:bodyPr wrap="square" lIns="0" tIns="0" rIns="0" bIns="0" anchor="t">
            <a:normAutofit/>
          </a:bodyPr>
          <a:lstStyle/>
          <a:p>
            <a:pPr algn="l">
              <a:lnSpc>
                <a:spcPct val="100000"/>
              </a:lnSpc>
              <a:spcBef>
                <a:spcPts val="0"/>
              </a:spcBef>
            </a:pPr>
            <a:r>
              <a:rPr lang="vi-VN" sz="1300" b="0">
                <a:solidFill>
                  <a:srgbClr val="505050"/>
                </a:solidFill>
                <a:latin typeface="Times New Roman" panose="02020603050405020304" pitchFamily="18" charset="0"/>
                <a:cs typeface="Times New Roman" panose="02020603050405020304" pitchFamily="18" charset="0"/>
              </a:rPr>
              <a:t>Chạy lại trên dữ liệu lỗi quá khứ để đánh giá độ chính xác dự đoán</a:t>
            </a:r>
          </a:p>
        </p:txBody>
      </p:sp>
      <p:sp>
        <p:nvSpPr>
          <p:cNvPr id="117" name="S117"/>
          <p:cNvSpPr/>
          <p:nvPr/>
        </p:nvSpPr>
        <p:spPr>
          <a:xfrm>
            <a:off x="11109960" y="4361688"/>
            <a:ext cx="301752" cy="182880"/>
          </a:xfrm>
          <a:prstGeom prst="rightArrow">
            <a:avLst/>
          </a:prstGeom>
          <a:solidFill>
            <a:srgbClr val="C9C5E8"/>
          </a:solidFill>
          <a:ln>
            <a:no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18" name="S118"/>
          <p:cNvSpPr/>
          <p:nvPr/>
        </p:nvSpPr>
        <p:spPr>
          <a:xfrm>
            <a:off x="706482" y="5540000"/>
            <a:ext cx="10779036" cy="620000"/>
          </a:xfrm>
          <a:prstGeom prst="roundRect">
            <a:avLst>
              <a:gd name="adj" fmla="val 9000"/>
            </a:avLst>
          </a:prstGeom>
          <a:gradFill rotWithShape="1">
            <a:gsLst>
              <a:gs pos="0">
                <a:srgbClr val="EDEBFB"/>
              </a:gs>
              <a:gs pos="100000">
                <a:srgbClr val="E2F6FF"/>
              </a:gs>
            </a:gsLst>
            <a:lin ang="0" scaled="0"/>
          </a:gradFill>
          <a:ln>
            <a:no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19" name="T119"/>
          <p:cNvSpPr txBox="1"/>
          <p:nvPr/>
        </p:nvSpPr>
        <p:spPr>
          <a:xfrm>
            <a:off x="1006482" y="5540000"/>
            <a:ext cx="10179036" cy="620000"/>
          </a:xfrm>
          <a:prstGeom prst="rect">
            <a:avLst/>
          </a:prstGeom>
          <a:noFill/>
        </p:spPr>
        <p:txBody>
          <a:bodyPr wrap="square" lIns="0" tIns="0" rIns="0" bIns="0" anchor="ctr">
            <a:normAutofit/>
          </a:bodyPr>
          <a:lstStyle/>
          <a:p>
            <a:pPr algn="ctr">
              <a:lnSpc>
                <a:spcPct val="100000"/>
              </a:lnSpc>
              <a:spcBef>
                <a:spcPts val="0"/>
              </a:spcBef>
            </a:pPr>
            <a:r>
              <a:rPr lang="en-US" sz="1600" b="1" dirty="0">
                <a:solidFill>
                  <a:srgbClr val="2E1C9E"/>
                </a:solidFill>
                <a:latin typeface="Times New Roman" panose="02020603050405020304" pitchFamily="18" charset="0"/>
                <a:cs typeface="Times New Roman" panose="02020603050405020304" pitchFamily="18" charset="0"/>
              </a:rPr>
              <a:t>M</a:t>
            </a:r>
            <a:r>
              <a:rPr lang="vi-VN" sz="1600" b="1" dirty="0">
                <a:solidFill>
                  <a:srgbClr val="2E1C9E"/>
                </a:solidFill>
                <a:latin typeface="Times New Roman" panose="02020603050405020304" pitchFamily="18" charset="0"/>
                <a:cs typeface="Times New Roman" panose="02020603050405020304" pitchFamily="18" charset="0"/>
              </a:rPr>
              <a:t>ô hình dự đoán được nguy cơ NG với ngưỡng cảnh báo sớm đủ tin cậy</a:t>
            </a:r>
          </a:p>
        </p:txBody>
      </p:sp>
      <p:pic>
        <p:nvPicPr>
          <p:cNvPr id="14" name="Picture 13">
            <a:extLst>
              <a:ext uri="{FF2B5EF4-FFF2-40B4-BE49-F238E27FC236}">
                <a16:creationId xmlns:a16="http://schemas.microsoft.com/office/drawing/2014/main" id="{3BBB5584-C619-4D04-A8D1-0BB83A49CFE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685800" y="1783080"/>
            <a:ext cx="4480560" cy="2990088"/>
          </a:xfrm>
          <a:prstGeom prst="rect">
            <a:avLst/>
          </a:prstGeom>
        </p:spPr>
      </p:pic>
      <p:sp>
        <p:nvSpPr>
          <p:cNvPr id="16" name="Freeform: Shape 15">
            <a:extLst>
              <a:ext uri="{FF2B5EF4-FFF2-40B4-BE49-F238E27FC236}">
                <a16:creationId xmlns:a16="http://schemas.microsoft.com/office/drawing/2014/main" id="{D429C2DD-12D5-4AB9-9E9E-531C23C0CDED}"/>
              </a:ext>
            </a:extLst>
          </p:cNvPr>
          <p:cNvSpPr/>
          <p:nvPr/>
        </p:nvSpPr>
        <p:spPr>
          <a:xfrm>
            <a:off x="4206240" y="2377440"/>
            <a:ext cx="100584" cy="100584"/>
          </a:xfrm>
          <a:custGeom>
            <a:avLst/>
            <a:gdLst>
              <a:gd name="csX0" fmla="*/ 457200 w 918056"/>
              <a:gd name="csY0" fmla="*/ 914400 h 914400"/>
              <a:gd name="csX1" fmla="*/ 0 w 918056"/>
              <a:gd name="csY1" fmla="*/ 457200 h 914400"/>
              <a:gd name="csX2" fmla="*/ 3656 w 918056"/>
              <a:gd name="csY2" fmla="*/ 457200 h 914400"/>
              <a:gd name="csX3" fmla="*/ 460856 w 918056"/>
              <a:gd name="csY3" fmla="*/ 0 h 914400"/>
              <a:gd name="csX4" fmla="*/ 918056 w 918056"/>
              <a:gd name="csY4" fmla="*/ 457200 h 914400"/>
              <a:gd name="csX5" fmla="*/ 914400 w 918056"/>
              <a:gd name="csY5" fmla="*/ 457200 h 914400"/>
              <a:gd name="csX6" fmla="*/ 457200 w 918056"/>
              <a:gd name="csY6" fmla="*/ 914400 h 914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18056" h="914400">
                <a:moveTo>
                  <a:pt x="457200" y="914400"/>
                </a:moveTo>
                <a:cubicBezTo>
                  <a:pt x="457200" y="661895"/>
                  <a:pt x="252505" y="457200"/>
                  <a:pt x="0" y="457200"/>
                </a:cubicBezTo>
                <a:lnTo>
                  <a:pt x="3656" y="457200"/>
                </a:lnTo>
                <a:cubicBezTo>
                  <a:pt x="256161" y="457200"/>
                  <a:pt x="460856" y="252505"/>
                  <a:pt x="460856" y="0"/>
                </a:cubicBezTo>
                <a:cubicBezTo>
                  <a:pt x="460856" y="252505"/>
                  <a:pt x="665551" y="457200"/>
                  <a:pt x="918056" y="457200"/>
                </a:cubicBezTo>
                <a:lnTo>
                  <a:pt x="914400" y="457200"/>
                </a:lnTo>
                <a:cubicBezTo>
                  <a:pt x="661895" y="457200"/>
                  <a:pt x="457200" y="661895"/>
                  <a:pt x="457200" y="914400"/>
                </a:cubicBezTo>
                <a:close/>
              </a:path>
            </a:pathLst>
          </a:custGeom>
          <a:gradFill>
            <a:gsLst>
              <a:gs pos="0">
                <a:srgbClr val="0849DA"/>
              </a:gs>
              <a:gs pos="100000">
                <a:srgbClr val="7030A0"/>
              </a:gs>
            </a:gsLst>
            <a:lin ang="5400000" scaled="1"/>
          </a:gradFill>
          <a:ln w="31750" cap="rnd">
            <a:gradFill>
              <a:gsLst>
                <a:gs pos="0">
                  <a:srgbClr val="0849DA"/>
                </a:gs>
                <a:gs pos="100000">
                  <a:srgbClr val="7030A0"/>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Times New Roman" panose="02020603050405020304" pitchFamily="18" charset="0"/>
              <a:cs typeface="Times New Roman" panose="02020603050405020304" pitchFamily="18" charset="0"/>
            </a:endParaRPr>
          </a:p>
        </p:txBody>
      </p:sp>
      <p:sp>
        <p:nvSpPr>
          <p:cNvPr id="18" name="Freeform: Shape 17">
            <a:extLst>
              <a:ext uri="{FF2B5EF4-FFF2-40B4-BE49-F238E27FC236}">
                <a16:creationId xmlns:a16="http://schemas.microsoft.com/office/drawing/2014/main" id="{EA2AAB08-28EA-43BF-97B5-3E45A9AF9925}"/>
              </a:ext>
            </a:extLst>
          </p:cNvPr>
          <p:cNvSpPr/>
          <p:nvPr/>
        </p:nvSpPr>
        <p:spPr>
          <a:xfrm>
            <a:off x="4160520" y="2542032"/>
            <a:ext cx="50292" cy="50292"/>
          </a:xfrm>
          <a:custGeom>
            <a:avLst/>
            <a:gdLst>
              <a:gd name="csX0" fmla="*/ 457200 w 918056"/>
              <a:gd name="csY0" fmla="*/ 914400 h 914400"/>
              <a:gd name="csX1" fmla="*/ 0 w 918056"/>
              <a:gd name="csY1" fmla="*/ 457200 h 914400"/>
              <a:gd name="csX2" fmla="*/ 3656 w 918056"/>
              <a:gd name="csY2" fmla="*/ 457200 h 914400"/>
              <a:gd name="csX3" fmla="*/ 460856 w 918056"/>
              <a:gd name="csY3" fmla="*/ 0 h 914400"/>
              <a:gd name="csX4" fmla="*/ 918056 w 918056"/>
              <a:gd name="csY4" fmla="*/ 457200 h 914400"/>
              <a:gd name="csX5" fmla="*/ 914400 w 918056"/>
              <a:gd name="csY5" fmla="*/ 457200 h 914400"/>
              <a:gd name="csX6" fmla="*/ 457200 w 918056"/>
              <a:gd name="csY6" fmla="*/ 914400 h 914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18056" h="914400">
                <a:moveTo>
                  <a:pt x="457200" y="914400"/>
                </a:moveTo>
                <a:cubicBezTo>
                  <a:pt x="457200" y="661895"/>
                  <a:pt x="252505" y="457200"/>
                  <a:pt x="0" y="457200"/>
                </a:cubicBezTo>
                <a:lnTo>
                  <a:pt x="3656" y="457200"/>
                </a:lnTo>
                <a:cubicBezTo>
                  <a:pt x="256161" y="457200"/>
                  <a:pt x="460856" y="252505"/>
                  <a:pt x="460856" y="0"/>
                </a:cubicBezTo>
                <a:cubicBezTo>
                  <a:pt x="460856" y="252505"/>
                  <a:pt x="665551" y="457200"/>
                  <a:pt x="918056" y="457200"/>
                </a:cubicBezTo>
                <a:lnTo>
                  <a:pt x="914400" y="457200"/>
                </a:lnTo>
                <a:cubicBezTo>
                  <a:pt x="661895" y="457200"/>
                  <a:pt x="457200" y="661895"/>
                  <a:pt x="457200" y="914400"/>
                </a:cubicBezTo>
                <a:close/>
              </a:path>
            </a:pathLst>
          </a:custGeom>
          <a:gradFill>
            <a:gsLst>
              <a:gs pos="0">
                <a:srgbClr val="0849DA">
                  <a:lumMod val="97000"/>
                </a:srgbClr>
              </a:gs>
              <a:gs pos="100000">
                <a:srgbClr val="7030A0"/>
              </a:gs>
            </a:gsLst>
            <a:lin ang="5400000" scaled="1"/>
          </a:gradFill>
          <a:ln w="15875" cap="rnd">
            <a:gradFill>
              <a:gsLst>
                <a:gs pos="0">
                  <a:srgbClr val="0849DA"/>
                </a:gs>
                <a:gs pos="100000">
                  <a:srgbClr val="7030A0"/>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Times New Roman" panose="02020603050405020304" pitchFamily="18" charset="0"/>
              <a:cs typeface="Times New Roman" panose="02020603050405020304" pitchFamily="18" charset="0"/>
            </a:endParaRPr>
          </a:p>
        </p:txBody>
      </p:sp>
      <p:pic>
        <p:nvPicPr>
          <p:cNvPr id="97" name="I121">
            <a:extLst>
              <a:ext uri="{FF2B5EF4-FFF2-40B4-BE49-F238E27FC236}">
                <a16:creationId xmlns:a16="http://schemas.microsoft.com/office/drawing/2014/main" id="{C7FD427D-B89B-464B-BECF-59931B099C83}"/>
              </a:ext>
            </a:extLst>
          </p:cNvPr>
          <p:cNvPicPr>
            <a:picLocks noChangeAspect="1"/>
          </p:cNvPicPr>
          <p:nvPr/>
        </p:nvPicPr>
        <p:blipFill>
          <a:blip r:embed="rId7"/>
          <a:stretch>
            <a:fillRect/>
          </a:stretch>
        </p:blipFill>
        <p:spPr>
          <a:xfrm>
            <a:off x="1106482" y="5500000"/>
            <a:ext cx="660000" cy="660000"/>
          </a:xfrm>
          <a:prstGeom prst="rect">
            <a:avLst/>
          </a:prstGeom>
        </p:spPr>
      </p:pic>
      <p:grpSp>
        <p:nvGrpSpPr>
          <p:cNvPr id="2" name="Group 1">
            <a:extLst>
              <a:ext uri="{FF2B5EF4-FFF2-40B4-BE49-F238E27FC236}">
                <a16:creationId xmlns:a16="http://schemas.microsoft.com/office/drawing/2014/main" id="{14808EE1-4FC0-8771-B675-1029BF6F3A73}"/>
              </a:ext>
            </a:extLst>
          </p:cNvPr>
          <p:cNvGrpSpPr/>
          <p:nvPr/>
        </p:nvGrpSpPr>
        <p:grpSpPr>
          <a:xfrm>
            <a:off x="2878176" y="102888"/>
            <a:ext cx="5890516" cy="526026"/>
            <a:chOff x="9603893" y="430511"/>
            <a:chExt cx="5890516" cy="605842"/>
          </a:xfrm>
        </p:grpSpPr>
        <p:sp>
          <p:nvSpPr>
            <p:cNvPr id="5" name="Google Shape;3112;p169">
              <a:extLst>
                <a:ext uri="{FF2B5EF4-FFF2-40B4-BE49-F238E27FC236}">
                  <a16:creationId xmlns:a16="http://schemas.microsoft.com/office/drawing/2014/main" id="{5FE41710-DEA0-56CA-E252-D374E373E06C}"/>
                </a:ext>
              </a:extLst>
            </p:cNvPr>
            <p:cNvSpPr/>
            <p:nvPr/>
          </p:nvSpPr>
          <p:spPr>
            <a:xfrm>
              <a:off x="10050805" y="457775"/>
              <a:ext cx="2983199" cy="568501"/>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roup 5">
              <a:extLst>
                <a:ext uri="{FF2B5EF4-FFF2-40B4-BE49-F238E27FC236}">
                  <a16:creationId xmlns:a16="http://schemas.microsoft.com/office/drawing/2014/main" id="{04CD5154-72F8-A2F8-B040-91208906D2A5}"/>
                </a:ext>
              </a:extLst>
            </p:cNvPr>
            <p:cNvGrpSpPr/>
            <p:nvPr/>
          </p:nvGrpSpPr>
          <p:grpSpPr>
            <a:xfrm>
              <a:off x="9603893" y="430511"/>
              <a:ext cx="5890516" cy="605842"/>
              <a:chOff x="9680198" y="256226"/>
              <a:chExt cx="5767917" cy="690195"/>
            </a:xfrm>
          </p:grpSpPr>
          <p:grpSp>
            <p:nvGrpSpPr>
              <p:cNvPr id="8" name="Google Shape;3110;p169">
                <a:extLst>
                  <a:ext uri="{FF2B5EF4-FFF2-40B4-BE49-F238E27FC236}">
                    <a16:creationId xmlns:a16="http://schemas.microsoft.com/office/drawing/2014/main" id="{EF3EC357-34E6-95EC-7E0A-3B1BF50D3A09}"/>
                  </a:ext>
                </a:extLst>
              </p:cNvPr>
              <p:cNvGrpSpPr/>
              <p:nvPr/>
            </p:nvGrpSpPr>
            <p:grpSpPr>
              <a:xfrm>
                <a:off x="9680198" y="256226"/>
                <a:ext cx="5767917" cy="690195"/>
                <a:chOff x="3099239" y="3615343"/>
                <a:chExt cx="1651576" cy="184687"/>
              </a:xfrm>
            </p:grpSpPr>
            <p:sp>
              <p:nvSpPr>
                <p:cNvPr id="11" name="Google Shape;3111;p169">
                  <a:extLst>
                    <a:ext uri="{FF2B5EF4-FFF2-40B4-BE49-F238E27FC236}">
                      <a16:creationId xmlns:a16="http://schemas.microsoft.com/office/drawing/2014/main" id="{37C07E98-10BD-E5E5-7EA3-DC1C48C03090}"/>
                    </a:ext>
                  </a:extLst>
                </p:cNvPr>
                <p:cNvSpPr/>
                <p:nvPr/>
              </p:nvSpPr>
              <p:spPr>
                <a:xfrm>
                  <a:off x="3327296" y="3788725"/>
                  <a:ext cx="22611" cy="11305"/>
                </a:xfrm>
                <a:custGeom>
                  <a:avLst/>
                  <a:gdLst/>
                  <a:ahLst/>
                  <a:cxnLst/>
                  <a:rect l="l" t="t" r="r" b="b"/>
                  <a:pathLst>
                    <a:path w="1172" h="586" extrusionOk="0">
                      <a:moveTo>
                        <a:pt x="1" y="0"/>
                      </a:moveTo>
                      <a:lnTo>
                        <a:pt x="586" y="585"/>
                      </a:lnTo>
                      <a:lnTo>
                        <a:pt x="1171" y="0"/>
                      </a:lnTo>
                      <a:close/>
                    </a:path>
                  </a:pathLst>
                </a:custGeom>
                <a:solidFill>
                  <a:srgbClr val="448C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112;p169">
                  <a:extLst>
                    <a:ext uri="{FF2B5EF4-FFF2-40B4-BE49-F238E27FC236}">
                      <a16:creationId xmlns:a16="http://schemas.microsoft.com/office/drawing/2014/main" id="{366234E6-E9D2-4D32-49A8-3E74EADAF8AB}"/>
                    </a:ext>
                  </a:extLst>
                </p:cNvPr>
                <p:cNvSpPr/>
                <p:nvPr/>
              </p:nvSpPr>
              <p:spPr>
                <a:xfrm>
                  <a:off x="3213258" y="3626628"/>
                  <a:ext cx="799671"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113;p169">
                  <a:extLst>
                    <a:ext uri="{FF2B5EF4-FFF2-40B4-BE49-F238E27FC236}">
                      <a16:creationId xmlns:a16="http://schemas.microsoft.com/office/drawing/2014/main" id="{581A3DB9-38A4-AF78-07EF-8FDAD4EB4361}"/>
                    </a:ext>
                  </a:extLst>
                </p:cNvPr>
                <p:cNvSpPr/>
                <p:nvPr/>
              </p:nvSpPr>
              <p:spPr>
                <a:xfrm>
                  <a:off x="3165220" y="3626629"/>
                  <a:ext cx="165202" cy="162115"/>
                </a:xfrm>
                <a:custGeom>
                  <a:avLst/>
                  <a:gdLst/>
                  <a:ahLst/>
                  <a:cxnLst/>
                  <a:rect l="l" t="t" r="r" b="b"/>
                  <a:pathLst>
                    <a:path w="8563" h="8403" extrusionOk="0">
                      <a:moveTo>
                        <a:pt x="0" y="1"/>
                      </a:moveTo>
                      <a:lnTo>
                        <a:pt x="8402" y="8402"/>
                      </a:lnTo>
                      <a:lnTo>
                        <a:pt x="8562" y="8402"/>
                      </a:lnTo>
                      <a:lnTo>
                        <a:pt x="2491" y="1"/>
                      </a:ln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114;p169">
                  <a:extLst>
                    <a:ext uri="{FF2B5EF4-FFF2-40B4-BE49-F238E27FC236}">
                      <a16:creationId xmlns:a16="http://schemas.microsoft.com/office/drawing/2014/main" id="{60F1B4B4-AC65-9DE1-2C54-F767FFC5BA64}"/>
                    </a:ext>
                  </a:extLst>
                </p:cNvPr>
                <p:cNvSpPr/>
                <p:nvPr/>
              </p:nvSpPr>
              <p:spPr>
                <a:xfrm>
                  <a:off x="3099239" y="3615343"/>
                  <a:ext cx="239381" cy="184687"/>
                </a:xfrm>
                <a:custGeom>
                  <a:avLst/>
                  <a:gdLst/>
                  <a:ahLst/>
                  <a:cxnLst/>
                  <a:rect l="l" t="t" r="r" b="b"/>
                  <a:pathLst>
                    <a:path w="12408" h="9573" extrusionOk="0">
                      <a:moveTo>
                        <a:pt x="1240" y="0"/>
                      </a:moveTo>
                      <a:cubicBezTo>
                        <a:pt x="563" y="0"/>
                        <a:pt x="0" y="551"/>
                        <a:pt x="12" y="1240"/>
                      </a:cubicBezTo>
                      <a:lnTo>
                        <a:pt x="12" y="8344"/>
                      </a:lnTo>
                      <a:cubicBezTo>
                        <a:pt x="12" y="9022"/>
                        <a:pt x="563" y="9572"/>
                        <a:pt x="1240" y="9572"/>
                      </a:cubicBezTo>
                      <a:lnTo>
                        <a:pt x="12407" y="9572"/>
                      </a:lnTo>
                      <a:lnTo>
                        <a:pt x="11822" y="8987"/>
                      </a:lnTo>
                      <a:lnTo>
                        <a:pt x="3420" y="586"/>
                      </a:lnTo>
                      <a:lnTo>
                        <a:pt x="2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112;p169">
                  <a:extLst>
                    <a:ext uri="{FF2B5EF4-FFF2-40B4-BE49-F238E27FC236}">
                      <a16:creationId xmlns:a16="http://schemas.microsoft.com/office/drawing/2014/main" id="{8DB8B7B7-32F5-F9E7-18F9-4E027B166254}"/>
                    </a:ext>
                  </a:extLst>
                </p:cNvPr>
                <p:cNvSpPr/>
                <p:nvPr/>
              </p:nvSpPr>
              <p:spPr>
                <a:xfrm>
                  <a:off x="3229068" y="3626367"/>
                  <a:ext cx="1521747"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タイトル 1">
                <a:extLst>
                  <a:ext uri="{FF2B5EF4-FFF2-40B4-BE49-F238E27FC236}">
                    <a16:creationId xmlns:a16="http://schemas.microsoft.com/office/drawing/2014/main" id="{2B3200C0-0ADE-2E7C-A5FE-3C27E0B23F91}"/>
                  </a:ext>
                </a:extLst>
              </p:cNvPr>
              <p:cNvSpPr txBox="1">
                <a:spLocks/>
              </p:cNvSpPr>
              <p:nvPr/>
            </p:nvSpPr>
            <p:spPr>
              <a:xfrm>
                <a:off x="10683978" y="456244"/>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r>
                  <a:rPr lang="en-US" altLang="ja-JP" dirty="0">
                    <a:latin typeface="Times New Roman" panose="02020603050405020304" pitchFamily="18" charset="0"/>
                    <a:cs typeface="Times New Roman" panose="02020603050405020304" pitchFamily="18" charset="0"/>
                  </a:rPr>
                  <a:t>AI </a:t>
                </a:r>
                <a:r>
                  <a:rPr lang="en-US" altLang="ja-JP" dirty="0" err="1">
                    <a:latin typeface="Times New Roman" panose="02020603050405020304" pitchFamily="18" charset="0"/>
                    <a:cs typeface="Times New Roman" panose="02020603050405020304" pitchFamily="18" charset="0"/>
                  </a:rPr>
                  <a:t>dự</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đoán</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và</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cảnh</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báo</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lỗi</a:t>
                </a:r>
                <a:endParaRPr lang="en-US" altLang="ja-JP" dirty="0">
                  <a:latin typeface="Times New Roman" panose="02020603050405020304" pitchFamily="18" charset="0"/>
                  <a:cs typeface="Times New Roman" panose="02020603050405020304" pitchFamily="18" charset="0"/>
                </a:endParaRPr>
              </a:p>
            </p:txBody>
          </p:sp>
          <p:sp>
            <p:nvSpPr>
              <p:cNvPr id="10" name="タイトル 1">
                <a:extLst>
                  <a:ext uri="{FF2B5EF4-FFF2-40B4-BE49-F238E27FC236}">
                    <a16:creationId xmlns:a16="http://schemas.microsoft.com/office/drawing/2014/main" id="{2F6C9BF1-A6E2-AFE4-552A-917B142FFCAA}"/>
                  </a:ext>
                </a:extLst>
              </p:cNvPr>
              <p:cNvSpPr txBox="1">
                <a:spLocks/>
              </p:cNvSpPr>
              <p:nvPr/>
            </p:nvSpPr>
            <p:spPr>
              <a:xfrm>
                <a:off x="9839575" y="531261"/>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endParaRPr lang="ja-JP" altLang="en-US" dirty="0">
                  <a:latin typeface="Times New Roman" panose="020F0502020204030204" pitchFamily="34" charset="0"/>
                  <a:cs typeface="Times New Roman" panose="020F0502020204030204" pitchFamily="34" charset="0"/>
                </a:endParaRPr>
              </a:p>
            </p:txBody>
          </p:sp>
        </p:grpSp>
      </p:grpSp>
      <p:sp>
        <p:nvSpPr>
          <p:cNvPr id="140" name="N3"/>
          <p:cNvSpPr/>
          <p:nvPr/>
        </p:nvSpPr>
        <p:spPr>
          <a:xfrm>
            <a:off x="5751576" y="4306824"/>
            <a:ext cx="256032" cy="256032"/>
          </a:xfrm>
          <a:prstGeom prst="ellipse">
            <a:avLst/>
          </a:prstGeom>
          <a:solidFill>
            <a:srgbClr val="2E1C9E"/>
          </a:solidFill>
          <a:ln w="19050">
            <a:solidFill>
              <a:srgbClr val="FFFFFF"/>
            </a:solidFill>
          </a:ln>
        </p:spPr>
        <p:txBody>
          <a:bodyPr/>
          <a:lstStyle/>
          <a:p>
            <a:endParaRPr lang="vi-VN">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4"/>
          <p:cNvSpPr txBox="1"/>
          <p:nvPr/>
        </p:nvSpPr>
        <p:spPr>
          <a:xfrm>
            <a:off x="706482" y="950000"/>
            <a:ext cx="6600000" cy="520000"/>
          </a:xfrm>
          <a:prstGeom prst="roundRect">
            <a:avLst>
              <a:gd name="adj" fmla="val 22000"/>
            </a:avLst>
          </a:prstGeom>
          <a:gradFill rotWithShape="1">
            <a:gsLst>
              <a:gs pos="0">
                <a:srgbClr val="1B1464"/>
              </a:gs>
              <a:gs pos="100000">
                <a:srgbClr val="3C2BC8"/>
              </a:gs>
            </a:gsLst>
            <a:lin ang="0" scaled="0"/>
          </a:gradFill>
        </p:spPr>
        <p:txBody>
          <a:bodyPr wrap="square" lIns="228600" tIns="0" rIns="114300" bIns="0" anchor="ctr">
            <a:normAutofit/>
          </a:bodyPr>
          <a:lstStyle/>
          <a:p>
            <a:pPr algn="l">
              <a:lnSpc>
                <a:spcPct val="100000"/>
              </a:lnSpc>
              <a:spcBef>
                <a:spcPts val="0"/>
              </a:spcBef>
            </a:pPr>
            <a:r>
              <a:rPr lang="vi-VN" sz="1600" b="1" dirty="0">
                <a:solidFill>
                  <a:srgbClr val="FFFFFF"/>
                </a:solidFill>
                <a:latin typeface="Times New Roman" panose="02020603050405020304" pitchFamily="18" charset="0"/>
                <a:cs typeface="Times New Roman" panose="02020603050405020304" pitchFamily="18" charset="0"/>
              </a:rPr>
              <a:t>Bước 4: Chạy thử tại hiện trường và hiệu chỉnh</a:t>
            </a:r>
          </a:p>
        </p:txBody>
      </p:sp>
      <p:sp>
        <p:nvSpPr>
          <p:cNvPr id="7" name="T7"/>
          <p:cNvSpPr txBox="1"/>
          <p:nvPr/>
        </p:nvSpPr>
        <p:spPr>
          <a:xfrm>
            <a:off x="8778240" y="3703320"/>
            <a:ext cx="3200400" cy="548640"/>
          </a:xfrm>
          <a:prstGeom prst="rect">
            <a:avLst/>
          </a:prstGeom>
          <a:noFill/>
        </p:spPr>
        <p:txBody>
          <a:bodyPr wrap="square" lIns="0" tIns="0" rIns="0" bIns="0" anchor="t">
            <a:normAutofit/>
          </a:bodyPr>
          <a:lstStyle/>
          <a:p>
            <a:pPr algn="ctr">
              <a:lnSpc>
                <a:spcPct val="100000"/>
              </a:lnSpc>
              <a:spcBef>
                <a:spcPts val="0"/>
              </a:spcBef>
            </a:pPr>
            <a:r>
              <a:rPr lang="vi-VN" sz="1600" b="1" dirty="0">
                <a:latin typeface="Times New Roman" panose="02020603050405020304" pitchFamily="18" charset="0"/>
                <a:cs typeface="Times New Roman" panose="02020603050405020304" pitchFamily="18" charset="0"/>
              </a:rPr>
              <a:t>VẬN HÀNH THỬ</a:t>
            </a:r>
          </a:p>
          <a:p>
            <a:pPr algn="ctr">
              <a:lnSpc>
                <a:spcPct val="100000"/>
              </a:lnSpc>
              <a:spcBef>
                <a:spcPts val="0"/>
              </a:spcBef>
            </a:pPr>
            <a:r>
              <a:rPr lang="vi-VN" sz="1600" b="1" dirty="0">
                <a:latin typeface="Times New Roman" panose="02020603050405020304" pitchFamily="18" charset="0"/>
                <a:cs typeface="Times New Roman" panose="02020603050405020304" pitchFamily="18" charset="0"/>
              </a:rPr>
              <a:t>Cảnh báo sớm tại hiện trường</a:t>
            </a:r>
            <a:endParaRPr lang="vi-VN" sz="1600" b="0" dirty="0">
              <a:latin typeface="Times New Roman" panose="02020603050405020304" pitchFamily="18" charset="0"/>
              <a:cs typeface="Times New Roman" panose="02020603050405020304" pitchFamily="18" charset="0"/>
            </a:endParaRPr>
          </a:p>
        </p:txBody>
      </p:sp>
      <p:sp>
        <p:nvSpPr>
          <p:cNvPr id="100" name="S100"/>
          <p:cNvSpPr/>
          <p:nvPr/>
        </p:nvSpPr>
        <p:spPr>
          <a:xfrm>
            <a:off x="640080" y="1783080"/>
            <a:ext cx="7863840" cy="96012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algn="t" rotWithShape="0">
              <a:srgbClr val="1B1464">
                <a:alpha val="13000"/>
              </a:srgbClr>
            </a:outerShdw>
          </a:effectLst>
        </p:spPr>
        <p:txBody>
          <a:bodyPr/>
          <a:lstStyle/>
          <a:p>
            <a:endParaRPr lang="vi-VN">
              <a:latin typeface="Times New Roman" panose="02020603050405020304" pitchFamily="18" charset="0"/>
              <a:cs typeface="Times New Roman" panose="02020603050405020304" pitchFamily="18" charset="0"/>
            </a:endParaRPr>
          </a:p>
        </p:txBody>
      </p:sp>
      <p:sp>
        <p:nvSpPr>
          <p:cNvPr id="101" name="S101"/>
          <p:cNvSpPr/>
          <p:nvPr/>
        </p:nvSpPr>
        <p:spPr>
          <a:xfrm>
            <a:off x="640080" y="1783080"/>
            <a:ext cx="64008" cy="960120"/>
          </a:xfrm>
          <a:prstGeom prst="ellipse">
            <a:avLst/>
          </a:prstGeom>
          <a:solidFill>
            <a:srgbClr val="EEF0FF"/>
          </a:solidFill>
          <a:ln w="12700">
            <a:solidFill>
              <a:srgbClr val="C7CEF5"/>
            </a:solidFill>
          </a:ln>
        </p:spPr>
        <p:txBody>
          <a:bodyPr/>
          <a:lstStyle/>
          <a:p>
            <a:endParaRPr lang="vi-VN">
              <a:latin typeface="Times New Roman" panose="02020603050405020304" pitchFamily="18" charset="0"/>
              <a:cs typeface="Times New Roman" panose="02020603050405020304" pitchFamily="18" charset="0"/>
            </a:endParaRPr>
          </a:p>
        </p:txBody>
      </p:sp>
      <p:pic>
        <p:nvPicPr>
          <p:cNvPr id="102" name="I102"/>
          <p:cNvPicPr>
            <a:picLocks noChangeAspect="1"/>
          </p:cNvPicPr>
          <p:nvPr/>
        </p:nvPicPr>
        <p:blipFill>
          <a:blip r:embed="rId3"/>
          <a:stretch>
            <a:fillRect/>
          </a:stretch>
        </p:blipFill>
        <p:spPr>
          <a:xfrm>
            <a:off x="914400" y="1938528"/>
            <a:ext cx="640080" cy="640080"/>
          </a:xfrm>
          <a:prstGeom prst="rect">
            <a:avLst/>
          </a:prstGeom>
        </p:spPr>
      </p:pic>
      <p:sp>
        <p:nvSpPr>
          <p:cNvPr id="103" name="T103"/>
          <p:cNvSpPr txBox="1"/>
          <p:nvPr/>
        </p:nvSpPr>
        <p:spPr>
          <a:xfrm>
            <a:off x="1783080" y="1874520"/>
            <a:ext cx="6400800" cy="340157"/>
          </a:xfrm>
          <a:prstGeom prst="rect">
            <a:avLst/>
          </a:prstGeom>
          <a:noFill/>
        </p:spPr>
        <p:txBody>
          <a:bodyPr wrap="square" lIns="0" tIns="0" rIns="0" bIns="0" anchor="ctr">
            <a:normAutofit/>
          </a:bodyPr>
          <a:lstStyle/>
          <a:p>
            <a:pPr algn="l">
              <a:lnSpc>
                <a:spcPct val="100000"/>
              </a:lnSpc>
              <a:spcBef>
                <a:spcPts val="0"/>
              </a:spcBef>
            </a:pPr>
            <a:r>
              <a:rPr lang="vi-VN" sz="1300" b="1">
                <a:solidFill>
                  <a:srgbClr val="2E1C9E"/>
                </a:solidFill>
                <a:latin typeface="Times New Roman" panose="02020603050405020304" pitchFamily="18" charset="0"/>
                <a:cs typeface="Times New Roman" panose="02020603050405020304" pitchFamily="18" charset="0"/>
              </a:rPr>
              <a:t>01  |  Chạy thử thực tế</a:t>
            </a:r>
          </a:p>
        </p:txBody>
      </p:sp>
      <p:sp>
        <p:nvSpPr>
          <p:cNvPr id="104" name="T104"/>
          <p:cNvSpPr txBox="1"/>
          <p:nvPr/>
        </p:nvSpPr>
        <p:spPr>
          <a:xfrm>
            <a:off x="1783080" y="2240280"/>
            <a:ext cx="6126480" cy="457200"/>
          </a:xfrm>
          <a:prstGeom prst="rect">
            <a:avLst/>
          </a:prstGeom>
          <a:noFill/>
        </p:spPr>
        <p:txBody>
          <a:bodyPr wrap="square" lIns="0" tIns="0" rIns="0" bIns="0" anchor="t">
            <a:normAutofit/>
          </a:bodyPr>
          <a:lstStyle/>
          <a:p>
            <a:pPr algn="l">
              <a:lnSpc>
                <a:spcPct val="100000"/>
              </a:lnSpc>
              <a:spcBef>
                <a:spcPts val="0"/>
              </a:spcBef>
            </a:pPr>
            <a:r>
              <a:rPr lang="vi-VN" sz="1300" b="0">
                <a:solidFill>
                  <a:srgbClr val="505050"/>
                </a:solidFill>
                <a:latin typeface="Times New Roman" panose="02020603050405020304" pitchFamily="18" charset="0"/>
                <a:cs typeface="Times New Roman" panose="02020603050405020304" pitchFamily="18" charset="0"/>
              </a:rPr>
              <a:t>Áp dụng cho lot đang sản xuất và theo dõi cảnh báo hằng ngày</a:t>
            </a:r>
          </a:p>
        </p:txBody>
      </p:sp>
      <p:sp>
        <p:nvSpPr>
          <p:cNvPr id="106" name="S106"/>
          <p:cNvSpPr/>
          <p:nvPr/>
        </p:nvSpPr>
        <p:spPr>
          <a:xfrm>
            <a:off x="1051560" y="2926080"/>
            <a:ext cx="7452360" cy="96012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algn="t" rotWithShape="0">
              <a:srgbClr val="1B1464">
                <a:alpha val="13000"/>
              </a:srgbClr>
            </a:outerShdw>
          </a:effectLst>
        </p:spPr>
        <p:txBody>
          <a:bodyPr/>
          <a:lstStyle/>
          <a:p>
            <a:endParaRPr lang="vi-VN" sz="1300">
              <a:latin typeface="Times New Roman" panose="02020603050405020304" pitchFamily="18" charset="0"/>
              <a:cs typeface="Times New Roman" panose="02020603050405020304" pitchFamily="18" charset="0"/>
            </a:endParaRPr>
          </a:p>
        </p:txBody>
      </p:sp>
      <p:sp>
        <p:nvSpPr>
          <p:cNvPr id="107" name="S107"/>
          <p:cNvSpPr/>
          <p:nvPr/>
        </p:nvSpPr>
        <p:spPr>
          <a:xfrm>
            <a:off x="1051560" y="2926080"/>
            <a:ext cx="64008" cy="960120"/>
          </a:xfrm>
          <a:prstGeom prst="ellipse">
            <a:avLst/>
          </a:prstGeom>
          <a:solidFill>
            <a:srgbClr val="EEF0FF"/>
          </a:solidFill>
          <a:ln w="12700">
            <a:solidFill>
              <a:srgbClr val="C7CEF5"/>
            </a:solidFill>
          </a:ln>
        </p:spPr>
        <p:txBody>
          <a:bodyPr/>
          <a:lstStyle/>
          <a:p>
            <a:endParaRPr lang="vi-VN" sz="1300">
              <a:latin typeface="Times New Roman" panose="02020603050405020304" pitchFamily="18" charset="0"/>
              <a:cs typeface="Times New Roman" panose="02020603050405020304" pitchFamily="18" charset="0"/>
            </a:endParaRPr>
          </a:p>
        </p:txBody>
      </p:sp>
      <p:pic>
        <p:nvPicPr>
          <p:cNvPr id="108" name="I108"/>
          <p:cNvPicPr>
            <a:picLocks noChangeAspect="1"/>
          </p:cNvPicPr>
          <p:nvPr/>
        </p:nvPicPr>
        <p:blipFill>
          <a:blip r:embed="rId4"/>
          <a:stretch>
            <a:fillRect/>
          </a:stretch>
        </p:blipFill>
        <p:spPr>
          <a:xfrm>
            <a:off x="1325880" y="3081528"/>
            <a:ext cx="640080" cy="640080"/>
          </a:xfrm>
          <a:prstGeom prst="rect">
            <a:avLst/>
          </a:prstGeom>
        </p:spPr>
      </p:pic>
      <p:sp>
        <p:nvSpPr>
          <p:cNvPr id="109" name="T109"/>
          <p:cNvSpPr txBox="1"/>
          <p:nvPr/>
        </p:nvSpPr>
        <p:spPr>
          <a:xfrm>
            <a:off x="2194560" y="3017520"/>
            <a:ext cx="5989320" cy="340157"/>
          </a:xfrm>
          <a:prstGeom prst="rect">
            <a:avLst/>
          </a:prstGeom>
          <a:noFill/>
        </p:spPr>
        <p:txBody>
          <a:bodyPr wrap="square" lIns="0" tIns="0" rIns="0" bIns="0" anchor="ctr">
            <a:normAutofit/>
          </a:bodyPr>
          <a:lstStyle/>
          <a:p>
            <a:pPr algn="l">
              <a:lnSpc>
                <a:spcPct val="100000"/>
              </a:lnSpc>
              <a:spcBef>
                <a:spcPts val="0"/>
              </a:spcBef>
            </a:pPr>
            <a:r>
              <a:rPr lang="vi-VN" sz="1300" b="1">
                <a:solidFill>
                  <a:srgbClr val="2E1C9E"/>
                </a:solidFill>
                <a:latin typeface="Times New Roman" panose="02020603050405020304" pitchFamily="18" charset="0"/>
                <a:cs typeface="Times New Roman" panose="02020603050405020304" pitchFamily="18" charset="0"/>
              </a:rPr>
              <a:t>02  |  Đối chiếu kết quả</a:t>
            </a:r>
          </a:p>
        </p:txBody>
      </p:sp>
      <p:sp>
        <p:nvSpPr>
          <p:cNvPr id="110" name="T110"/>
          <p:cNvSpPr txBox="1">
            <a:spLocks/>
          </p:cNvSpPr>
          <p:nvPr/>
        </p:nvSpPr>
        <p:spPr>
          <a:xfrm>
            <a:off x="2194560" y="3383280"/>
            <a:ext cx="5715000" cy="457200"/>
          </a:xfrm>
          <a:prstGeom prst="rect">
            <a:avLst/>
          </a:prstGeom>
          <a:noFill/>
        </p:spPr>
        <p:txBody>
          <a:bodyPr wrap="square" lIns="0" tIns="0" rIns="0" bIns="0" anchor="t">
            <a:normAutofit/>
          </a:bodyPr>
          <a:lstStyle/>
          <a:p>
            <a:pPr algn="l">
              <a:lnSpc>
                <a:spcPct val="100000"/>
              </a:lnSpc>
              <a:spcBef>
                <a:spcPts val="0"/>
              </a:spcBef>
            </a:pPr>
            <a:r>
              <a:rPr lang="vi-VN" sz="1300" b="0">
                <a:solidFill>
                  <a:srgbClr val="505050"/>
                </a:solidFill>
                <a:latin typeface="Times New Roman" panose="02020603050405020304" pitchFamily="18" charset="0"/>
                <a:cs typeface="Times New Roman" panose="02020603050405020304" pitchFamily="18" charset="0"/>
              </a:rPr>
              <a:t>So sánh cảnh báo của AI với kết quả đo thực tế trên jig</a:t>
            </a:r>
          </a:p>
        </p:txBody>
      </p:sp>
      <p:sp>
        <p:nvSpPr>
          <p:cNvPr id="112" name="S112"/>
          <p:cNvSpPr/>
          <p:nvPr/>
        </p:nvSpPr>
        <p:spPr>
          <a:xfrm>
            <a:off x="1463040" y="4069080"/>
            <a:ext cx="7040880" cy="96012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algn="t" rotWithShape="0">
              <a:srgbClr val="1B1464">
                <a:alpha val="13000"/>
              </a:srgbClr>
            </a:outerShdw>
          </a:effectLst>
        </p:spPr>
        <p:txBody>
          <a:bodyPr/>
          <a:lstStyle/>
          <a:p>
            <a:endParaRPr lang="vi-VN" sz="1300">
              <a:latin typeface="Times New Roman" panose="02020603050405020304" pitchFamily="18" charset="0"/>
              <a:cs typeface="Times New Roman" panose="02020603050405020304" pitchFamily="18" charset="0"/>
            </a:endParaRPr>
          </a:p>
        </p:txBody>
      </p:sp>
      <p:sp>
        <p:nvSpPr>
          <p:cNvPr id="113" name="S113"/>
          <p:cNvSpPr>
            <a:spLocks/>
          </p:cNvSpPr>
          <p:nvPr/>
        </p:nvSpPr>
        <p:spPr>
          <a:xfrm>
            <a:off x="1463040" y="4069080"/>
            <a:ext cx="64008" cy="960120"/>
          </a:xfrm>
          <a:prstGeom prst="ellipse">
            <a:avLst/>
          </a:prstGeom>
          <a:solidFill>
            <a:srgbClr val="EEF0FF"/>
          </a:solidFill>
          <a:ln w="12700">
            <a:solidFill>
              <a:srgbClr val="C7CEF5"/>
            </a:solidFill>
          </a:ln>
        </p:spPr>
        <p:txBody>
          <a:bodyPr/>
          <a:lstStyle/>
          <a:p>
            <a:endParaRPr lang="vi-VN" sz="1300">
              <a:latin typeface="Times New Roman" panose="02020603050405020304" pitchFamily="18" charset="0"/>
              <a:cs typeface="Times New Roman" panose="02020603050405020304" pitchFamily="18" charset="0"/>
            </a:endParaRPr>
          </a:p>
        </p:txBody>
      </p:sp>
      <p:pic>
        <p:nvPicPr>
          <p:cNvPr id="114" name="I114"/>
          <p:cNvPicPr>
            <a:picLocks noChangeAspect="1"/>
          </p:cNvPicPr>
          <p:nvPr/>
        </p:nvPicPr>
        <p:blipFill>
          <a:blip r:embed="rId5"/>
          <a:stretch>
            <a:fillRect/>
          </a:stretch>
        </p:blipFill>
        <p:spPr>
          <a:xfrm>
            <a:off x="1737360" y="4224528"/>
            <a:ext cx="640080" cy="640080"/>
          </a:xfrm>
          <a:prstGeom prst="rect">
            <a:avLst/>
          </a:prstGeom>
        </p:spPr>
      </p:pic>
      <p:sp>
        <p:nvSpPr>
          <p:cNvPr id="115" name="T115"/>
          <p:cNvSpPr txBox="1">
            <a:spLocks/>
          </p:cNvSpPr>
          <p:nvPr/>
        </p:nvSpPr>
        <p:spPr>
          <a:xfrm>
            <a:off x="2606040" y="4160520"/>
            <a:ext cx="5577840" cy="340157"/>
          </a:xfrm>
          <a:prstGeom prst="rect">
            <a:avLst/>
          </a:prstGeom>
          <a:noFill/>
        </p:spPr>
        <p:txBody>
          <a:bodyPr wrap="square" lIns="0" tIns="0" rIns="0" bIns="0" anchor="ctr">
            <a:normAutofit/>
          </a:bodyPr>
          <a:lstStyle/>
          <a:p>
            <a:pPr algn="l">
              <a:lnSpc>
                <a:spcPct val="100000"/>
              </a:lnSpc>
              <a:spcBef>
                <a:spcPts val="0"/>
              </a:spcBef>
            </a:pPr>
            <a:r>
              <a:rPr lang="vi-VN" sz="1300" b="1">
                <a:solidFill>
                  <a:srgbClr val="2E1C9E"/>
                </a:solidFill>
                <a:latin typeface="Times New Roman" panose="02020603050405020304" pitchFamily="18" charset="0"/>
                <a:cs typeface="Times New Roman" panose="02020603050405020304" pitchFamily="18" charset="0"/>
              </a:rPr>
              <a:t>03  |  Hiệu chỉnh và học tiếp</a:t>
            </a:r>
          </a:p>
        </p:txBody>
      </p:sp>
      <p:sp>
        <p:nvSpPr>
          <p:cNvPr id="116" name="T116"/>
          <p:cNvSpPr txBox="1"/>
          <p:nvPr/>
        </p:nvSpPr>
        <p:spPr>
          <a:xfrm>
            <a:off x="2606040" y="4526280"/>
            <a:ext cx="5303520" cy="457200"/>
          </a:xfrm>
          <a:prstGeom prst="rect">
            <a:avLst/>
          </a:prstGeom>
          <a:noFill/>
        </p:spPr>
        <p:txBody>
          <a:bodyPr wrap="square" lIns="0" tIns="0" rIns="0" bIns="0" anchor="t">
            <a:normAutofit/>
          </a:bodyPr>
          <a:lstStyle/>
          <a:p>
            <a:pPr algn="l">
              <a:lnSpc>
                <a:spcPct val="100000"/>
              </a:lnSpc>
              <a:spcBef>
                <a:spcPts val="0"/>
              </a:spcBef>
            </a:pPr>
            <a:r>
              <a:rPr lang="vi-VN" sz="1300" b="0">
                <a:solidFill>
                  <a:srgbClr val="505050"/>
                </a:solidFill>
                <a:latin typeface="Times New Roman" panose="02020603050405020304" pitchFamily="18" charset="0"/>
                <a:cs typeface="Times New Roman" panose="02020603050405020304" pitchFamily="18" charset="0"/>
              </a:rPr>
              <a:t>Cập nhật dữ liệu mới, tinh chỉnh ngưỡng và tiêu chuẩn cảnh báo</a:t>
            </a:r>
          </a:p>
        </p:txBody>
      </p:sp>
      <p:sp>
        <p:nvSpPr>
          <p:cNvPr id="117" name="S117"/>
          <p:cNvSpPr/>
          <p:nvPr/>
        </p:nvSpPr>
        <p:spPr>
          <a:xfrm>
            <a:off x="8092440" y="3913632"/>
            <a:ext cx="411480" cy="182880"/>
          </a:xfrm>
          <a:prstGeom prst="rightArrow">
            <a:avLst/>
          </a:prstGeom>
          <a:solidFill>
            <a:srgbClr val="C9C5E8"/>
          </a:solidFill>
          <a:ln>
            <a:no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18" name="S118"/>
          <p:cNvSpPr/>
          <p:nvPr/>
        </p:nvSpPr>
        <p:spPr>
          <a:xfrm>
            <a:off x="706482" y="5540000"/>
            <a:ext cx="10779036" cy="620000"/>
          </a:xfrm>
          <a:prstGeom prst="roundRect">
            <a:avLst>
              <a:gd name="adj" fmla="val 9000"/>
            </a:avLst>
          </a:prstGeom>
          <a:gradFill rotWithShape="1">
            <a:gsLst>
              <a:gs pos="0">
                <a:srgbClr val="EDEBFB"/>
              </a:gs>
              <a:gs pos="100000">
                <a:srgbClr val="E2F6FF"/>
              </a:gs>
            </a:gsLst>
            <a:lin ang="0" scaled="0"/>
          </a:gradFill>
          <a:ln>
            <a:noFill/>
          </a:ln>
        </p:spPr>
        <p:txBody>
          <a:bodyPr/>
          <a:lstStyle/>
          <a:p>
            <a:endParaRPr lang="vi-VN" sz="1300">
              <a:latin typeface="Times New Roman" panose="02020603050405020304" pitchFamily="18" charset="0"/>
              <a:cs typeface="Times New Roman" panose="02020603050405020304" pitchFamily="18" charset="0"/>
            </a:endParaRPr>
          </a:p>
        </p:txBody>
      </p:sp>
      <p:sp>
        <p:nvSpPr>
          <p:cNvPr id="119" name="T119"/>
          <p:cNvSpPr txBox="1"/>
          <p:nvPr/>
        </p:nvSpPr>
        <p:spPr>
          <a:xfrm>
            <a:off x="1006482" y="5540000"/>
            <a:ext cx="10179036" cy="620000"/>
          </a:xfrm>
          <a:prstGeom prst="rect">
            <a:avLst/>
          </a:prstGeom>
          <a:noFill/>
        </p:spPr>
        <p:txBody>
          <a:bodyPr wrap="square" lIns="0" tIns="0" rIns="0" bIns="0" anchor="ctr">
            <a:normAutofit/>
          </a:bodyPr>
          <a:lstStyle/>
          <a:p>
            <a:pPr algn="ctr">
              <a:lnSpc>
                <a:spcPct val="100000"/>
              </a:lnSpc>
              <a:spcBef>
                <a:spcPts val="0"/>
              </a:spcBef>
            </a:pPr>
            <a:r>
              <a:rPr lang="en-US" sz="1600" b="1" dirty="0">
                <a:solidFill>
                  <a:srgbClr val="2E1C9E"/>
                </a:solidFill>
                <a:latin typeface="Times New Roman" panose="02020603050405020304" pitchFamily="18" charset="0"/>
                <a:cs typeface="Times New Roman" panose="02020603050405020304" pitchFamily="18" charset="0"/>
              </a:rPr>
              <a:t>P</a:t>
            </a:r>
            <a:r>
              <a:rPr lang="vi-VN" sz="1600" b="1" dirty="0">
                <a:solidFill>
                  <a:srgbClr val="2E1C9E"/>
                </a:solidFill>
                <a:latin typeface="Times New Roman" panose="02020603050405020304" pitchFamily="18" charset="0"/>
                <a:cs typeface="Times New Roman" panose="02020603050405020304" pitchFamily="18" charset="0"/>
              </a:rPr>
              <a:t>hát hiện sớm nguy cơ NG, giảm tỉ lệ lỗi và rút ngắn thời gian phân tích nguyên nhân</a:t>
            </a:r>
          </a:p>
        </p:txBody>
      </p:sp>
      <p:pic>
        <p:nvPicPr>
          <p:cNvPr id="14" name="Picture 13">
            <a:extLst>
              <a:ext uri="{FF2B5EF4-FFF2-40B4-BE49-F238E27FC236}">
                <a16:creationId xmlns:a16="http://schemas.microsoft.com/office/drawing/2014/main" id="{8BD25362-3C7E-40B5-8565-220327B599B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9006840" y="1783080"/>
            <a:ext cx="2743200" cy="1828800"/>
          </a:xfrm>
          <a:prstGeom prst="rect">
            <a:avLst/>
          </a:prstGeom>
        </p:spPr>
      </p:pic>
      <p:sp>
        <p:nvSpPr>
          <p:cNvPr id="16" name="Freeform: Shape 15">
            <a:extLst>
              <a:ext uri="{FF2B5EF4-FFF2-40B4-BE49-F238E27FC236}">
                <a16:creationId xmlns:a16="http://schemas.microsoft.com/office/drawing/2014/main" id="{FA2CF10B-7A59-45F5-AF7D-79408B6D1B0C}"/>
              </a:ext>
            </a:extLst>
          </p:cNvPr>
          <p:cNvSpPr/>
          <p:nvPr/>
        </p:nvSpPr>
        <p:spPr>
          <a:xfrm>
            <a:off x="11155680" y="2286000"/>
            <a:ext cx="91440" cy="91440"/>
          </a:xfrm>
          <a:custGeom>
            <a:avLst/>
            <a:gdLst>
              <a:gd name="csX0" fmla="*/ 457200 w 918056"/>
              <a:gd name="csY0" fmla="*/ 914400 h 914400"/>
              <a:gd name="csX1" fmla="*/ 0 w 918056"/>
              <a:gd name="csY1" fmla="*/ 457200 h 914400"/>
              <a:gd name="csX2" fmla="*/ 3656 w 918056"/>
              <a:gd name="csY2" fmla="*/ 457200 h 914400"/>
              <a:gd name="csX3" fmla="*/ 460856 w 918056"/>
              <a:gd name="csY3" fmla="*/ 0 h 914400"/>
              <a:gd name="csX4" fmla="*/ 918056 w 918056"/>
              <a:gd name="csY4" fmla="*/ 457200 h 914400"/>
              <a:gd name="csX5" fmla="*/ 914400 w 918056"/>
              <a:gd name="csY5" fmla="*/ 457200 h 914400"/>
              <a:gd name="csX6" fmla="*/ 457200 w 918056"/>
              <a:gd name="csY6" fmla="*/ 914400 h 914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18056" h="914400">
                <a:moveTo>
                  <a:pt x="457200" y="914400"/>
                </a:moveTo>
                <a:cubicBezTo>
                  <a:pt x="457200" y="661895"/>
                  <a:pt x="252505" y="457200"/>
                  <a:pt x="0" y="457200"/>
                </a:cubicBezTo>
                <a:lnTo>
                  <a:pt x="3656" y="457200"/>
                </a:lnTo>
                <a:cubicBezTo>
                  <a:pt x="256161" y="457200"/>
                  <a:pt x="460856" y="252505"/>
                  <a:pt x="460856" y="0"/>
                </a:cubicBezTo>
                <a:cubicBezTo>
                  <a:pt x="460856" y="252505"/>
                  <a:pt x="665551" y="457200"/>
                  <a:pt x="918056" y="457200"/>
                </a:cubicBezTo>
                <a:lnTo>
                  <a:pt x="914400" y="457200"/>
                </a:lnTo>
                <a:cubicBezTo>
                  <a:pt x="661895" y="457200"/>
                  <a:pt x="457200" y="661895"/>
                  <a:pt x="457200" y="914400"/>
                </a:cubicBezTo>
                <a:close/>
              </a:path>
            </a:pathLst>
          </a:custGeom>
          <a:gradFill>
            <a:gsLst>
              <a:gs pos="0">
                <a:srgbClr val="0849DA"/>
              </a:gs>
              <a:gs pos="100000">
                <a:srgbClr val="7030A0"/>
              </a:gs>
            </a:gsLst>
            <a:lin ang="5400000" scaled="1"/>
          </a:gradFill>
          <a:ln w="31750" cap="rnd">
            <a:gradFill>
              <a:gsLst>
                <a:gs pos="0">
                  <a:srgbClr val="0849DA"/>
                </a:gs>
                <a:gs pos="100000">
                  <a:srgbClr val="7030A0"/>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Times New Roman" panose="02020603050405020304" pitchFamily="18" charset="0"/>
              <a:cs typeface="Times New Roman" panose="02020603050405020304" pitchFamily="18" charset="0"/>
            </a:endParaRPr>
          </a:p>
        </p:txBody>
      </p:sp>
      <p:sp>
        <p:nvSpPr>
          <p:cNvPr id="18" name="Freeform: Shape 17">
            <a:extLst>
              <a:ext uri="{FF2B5EF4-FFF2-40B4-BE49-F238E27FC236}">
                <a16:creationId xmlns:a16="http://schemas.microsoft.com/office/drawing/2014/main" id="{C70B1051-BF8D-479F-8DD4-1E2D67255116}"/>
              </a:ext>
            </a:extLst>
          </p:cNvPr>
          <p:cNvSpPr/>
          <p:nvPr/>
        </p:nvSpPr>
        <p:spPr>
          <a:xfrm>
            <a:off x="11128248" y="2432304"/>
            <a:ext cx="45720" cy="45720"/>
          </a:xfrm>
          <a:custGeom>
            <a:avLst/>
            <a:gdLst>
              <a:gd name="csX0" fmla="*/ 457200 w 918056"/>
              <a:gd name="csY0" fmla="*/ 914400 h 914400"/>
              <a:gd name="csX1" fmla="*/ 0 w 918056"/>
              <a:gd name="csY1" fmla="*/ 457200 h 914400"/>
              <a:gd name="csX2" fmla="*/ 3656 w 918056"/>
              <a:gd name="csY2" fmla="*/ 457200 h 914400"/>
              <a:gd name="csX3" fmla="*/ 460856 w 918056"/>
              <a:gd name="csY3" fmla="*/ 0 h 914400"/>
              <a:gd name="csX4" fmla="*/ 918056 w 918056"/>
              <a:gd name="csY4" fmla="*/ 457200 h 914400"/>
              <a:gd name="csX5" fmla="*/ 914400 w 918056"/>
              <a:gd name="csY5" fmla="*/ 457200 h 914400"/>
              <a:gd name="csX6" fmla="*/ 457200 w 918056"/>
              <a:gd name="csY6" fmla="*/ 914400 h 914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18056" h="914400">
                <a:moveTo>
                  <a:pt x="457200" y="914400"/>
                </a:moveTo>
                <a:cubicBezTo>
                  <a:pt x="457200" y="661895"/>
                  <a:pt x="252505" y="457200"/>
                  <a:pt x="0" y="457200"/>
                </a:cubicBezTo>
                <a:lnTo>
                  <a:pt x="3656" y="457200"/>
                </a:lnTo>
                <a:cubicBezTo>
                  <a:pt x="256161" y="457200"/>
                  <a:pt x="460856" y="252505"/>
                  <a:pt x="460856" y="0"/>
                </a:cubicBezTo>
                <a:cubicBezTo>
                  <a:pt x="460856" y="252505"/>
                  <a:pt x="665551" y="457200"/>
                  <a:pt x="918056" y="457200"/>
                </a:cubicBezTo>
                <a:lnTo>
                  <a:pt x="914400" y="457200"/>
                </a:lnTo>
                <a:cubicBezTo>
                  <a:pt x="661895" y="457200"/>
                  <a:pt x="457200" y="661895"/>
                  <a:pt x="457200" y="914400"/>
                </a:cubicBezTo>
                <a:close/>
              </a:path>
            </a:pathLst>
          </a:custGeom>
          <a:gradFill>
            <a:gsLst>
              <a:gs pos="0">
                <a:srgbClr val="0849DA">
                  <a:lumMod val="97000"/>
                </a:srgbClr>
              </a:gs>
              <a:gs pos="100000">
                <a:srgbClr val="7030A0"/>
              </a:gs>
            </a:gsLst>
            <a:lin ang="5400000" scaled="1"/>
          </a:gradFill>
          <a:ln w="15875" cap="rnd">
            <a:gradFill>
              <a:gsLst>
                <a:gs pos="0">
                  <a:srgbClr val="0849DA"/>
                </a:gs>
                <a:gs pos="100000">
                  <a:srgbClr val="7030A0"/>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Times New Roman" panose="02020603050405020304" pitchFamily="18" charset="0"/>
              <a:cs typeface="Times New Roman" panose="02020603050405020304" pitchFamily="18" charset="0"/>
            </a:endParaRPr>
          </a:p>
        </p:txBody>
      </p:sp>
      <p:pic>
        <p:nvPicPr>
          <p:cNvPr id="97" name="I121">
            <a:extLst>
              <a:ext uri="{FF2B5EF4-FFF2-40B4-BE49-F238E27FC236}">
                <a16:creationId xmlns:a16="http://schemas.microsoft.com/office/drawing/2014/main" id="{2C80FE65-2CE8-42BF-996F-03951CE55208}"/>
              </a:ext>
            </a:extLst>
          </p:cNvPr>
          <p:cNvPicPr>
            <a:picLocks noChangeAspect="1"/>
          </p:cNvPicPr>
          <p:nvPr/>
        </p:nvPicPr>
        <p:blipFill>
          <a:blip r:embed="rId7"/>
          <a:stretch>
            <a:fillRect/>
          </a:stretch>
        </p:blipFill>
        <p:spPr>
          <a:xfrm>
            <a:off x="1106482" y="5500000"/>
            <a:ext cx="660000" cy="660000"/>
          </a:xfrm>
          <a:prstGeom prst="rect">
            <a:avLst/>
          </a:prstGeom>
        </p:spPr>
      </p:pic>
      <p:grpSp>
        <p:nvGrpSpPr>
          <p:cNvPr id="2" name="Group 1">
            <a:extLst>
              <a:ext uri="{FF2B5EF4-FFF2-40B4-BE49-F238E27FC236}">
                <a16:creationId xmlns:a16="http://schemas.microsoft.com/office/drawing/2014/main" id="{3B63EC5B-92BA-6E71-184A-06CF8A983504}"/>
              </a:ext>
            </a:extLst>
          </p:cNvPr>
          <p:cNvGrpSpPr/>
          <p:nvPr/>
        </p:nvGrpSpPr>
        <p:grpSpPr>
          <a:xfrm>
            <a:off x="2878176" y="102888"/>
            <a:ext cx="5890516" cy="526026"/>
            <a:chOff x="9603893" y="430511"/>
            <a:chExt cx="5890516" cy="605842"/>
          </a:xfrm>
        </p:grpSpPr>
        <p:sp>
          <p:nvSpPr>
            <p:cNvPr id="5" name="Google Shape;3112;p169">
              <a:extLst>
                <a:ext uri="{FF2B5EF4-FFF2-40B4-BE49-F238E27FC236}">
                  <a16:creationId xmlns:a16="http://schemas.microsoft.com/office/drawing/2014/main" id="{C1382C82-BD79-899E-58BF-C0E161A23B94}"/>
                </a:ext>
              </a:extLst>
            </p:cNvPr>
            <p:cNvSpPr/>
            <p:nvPr/>
          </p:nvSpPr>
          <p:spPr>
            <a:xfrm>
              <a:off x="10050805" y="457775"/>
              <a:ext cx="2983199" cy="568501"/>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roup 5">
              <a:extLst>
                <a:ext uri="{FF2B5EF4-FFF2-40B4-BE49-F238E27FC236}">
                  <a16:creationId xmlns:a16="http://schemas.microsoft.com/office/drawing/2014/main" id="{18302BCC-71F6-0163-1BF0-7422BBBE4DA3}"/>
                </a:ext>
              </a:extLst>
            </p:cNvPr>
            <p:cNvGrpSpPr/>
            <p:nvPr/>
          </p:nvGrpSpPr>
          <p:grpSpPr>
            <a:xfrm>
              <a:off x="9603893" y="430511"/>
              <a:ext cx="5890516" cy="605842"/>
              <a:chOff x="9680198" y="256226"/>
              <a:chExt cx="5767917" cy="690195"/>
            </a:xfrm>
          </p:grpSpPr>
          <p:grpSp>
            <p:nvGrpSpPr>
              <p:cNvPr id="8" name="Google Shape;3110;p169">
                <a:extLst>
                  <a:ext uri="{FF2B5EF4-FFF2-40B4-BE49-F238E27FC236}">
                    <a16:creationId xmlns:a16="http://schemas.microsoft.com/office/drawing/2014/main" id="{245C8976-FAEA-8669-5C79-2C3C09A6F8A1}"/>
                  </a:ext>
                </a:extLst>
              </p:cNvPr>
              <p:cNvGrpSpPr/>
              <p:nvPr/>
            </p:nvGrpSpPr>
            <p:grpSpPr>
              <a:xfrm>
                <a:off x="9680198" y="256226"/>
                <a:ext cx="5767917" cy="690195"/>
                <a:chOff x="3099239" y="3615343"/>
                <a:chExt cx="1651576" cy="184687"/>
              </a:xfrm>
            </p:grpSpPr>
            <p:sp>
              <p:nvSpPr>
                <p:cNvPr id="11" name="Google Shape;3111;p169">
                  <a:extLst>
                    <a:ext uri="{FF2B5EF4-FFF2-40B4-BE49-F238E27FC236}">
                      <a16:creationId xmlns:a16="http://schemas.microsoft.com/office/drawing/2014/main" id="{C88661CD-E8B0-2540-889D-CA7430EE4FD8}"/>
                    </a:ext>
                  </a:extLst>
                </p:cNvPr>
                <p:cNvSpPr/>
                <p:nvPr/>
              </p:nvSpPr>
              <p:spPr>
                <a:xfrm>
                  <a:off x="3327296" y="3788725"/>
                  <a:ext cx="22611" cy="11305"/>
                </a:xfrm>
                <a:custGeom>
                  <a:avLst/>
                  <a:gdLst/>
                  <a:ahLst/>
                  <a:cxnLst/>
                  <a:rect l="l" t="t" r="r" b="b"/>
                  <a:pathLst>
                    <a:path w="1172" h="586" extrusionOk="0">
                      <a:moveTo>
                        <a:pt x="1" y="0"/>
                      </a:moveTo>
                      <a:lnTo>
                        <a:pt x="586" y="585"/>
                      </a:lnTo>
                      <a:lnTo>
                        <a:pt x="1171" y="0"/>
                      </a:lnTo>
                      <a:close/>
                    </a:path>
                  </a:pathLst>
                </a:custGeom>
                <a:solidFill>
                  <a:srgbClr val="448C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112;p169">
                  <a:extLst>
                    <a:ext uri="{FF2B5EF4-FFF2-40B4-BE49-F238E27FC236}">
                      <a16:creationId xmlns:a16="http://schemas.microsoft.com/office/drawing/2014/main" id="{9F88750D-24CE-3576-8474-480807075218}"/>
                    </a:ext>
                  </a:extLst>
                </p:cNvPr>
                <p:cNvSpPr/>
                <p:nvPr/>
              </p:nvSpPr>
              <p:spPr>
                <a:xfrm>
                  <a:off x="3213258" y="3626628"/>
                  <a:ext cx="799671"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113;p169">
                  <a:extLst>
                    <a:ext uri="{FF2B5EF4-FFF2-40B4-BE49-F238E27FC236}">
                      <a16:creationId xmlns:a16="http://schemas.microsoft.com/office/drawing/2014/main" id="{F69FAE00-6A15-2CE4-9C3B-1F567E178256}"/>
                    </a:ext>
                  </a:extLst>
                </p:cNvPr>
                <p:cNvSpPr/>
                <p:nvPr/>
              </p:nvSpPr>
              <p:spPr>
                <a:xfrm>
                  <a:off x="3165220" y="3626629"/>
                  <a:ext cx="165202" cy="162115"/>
                </a:xfrm>
                <a:custGeom>
                  <a:avLst/>
                  <a:gdLst/>
                  <a:ahLst/>
                  <a:cxnLst/>
                  <a:rect l="l" t="t" r="r" b="b"/>
                  <a:pathLst>
                    <a:path w="8563" h="8403" extrusionOk="0">
                      <a:moveTo>
                        <a:pt x="0" y="1"/>
                      </a:moveTo>
                      <a:lnTo>
                        <a:pt x="8402" y="8402"/>
                      </a:lnTo>
                      <a:lnTo>
                        <a:pt x="8562" y="8402"/>
                      </a:lnTo>
                      <a:lnTo>
                        <a:pt x="2491" y="1"/>
                      </a:ln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114;p169">
                  <a:extLst>
                    <a:ext uri="{FF2B5EF4-FFF2-40B4-BE49-F238E27FC236}">
                      <a16:creationId xmlns:a16="http://schemas.microsoft.com/office/drawing/2014/main" id="{B845F9B4-B60E-FD54-EB7C-0405A9D05DF2}"/>
                    </a:ext>
                  </a:extLst>
                </p:cNvPr>
                <p:cNvSpPr/>
                <p:nvPr/>
              </p:nvSpPr>
              <p:spPr>
                <a:xfrm>
                  <a:off x="3099239" y="3615343"/>
                  <a:ext cx="239381" cy="184687"/>
                </a:xfrm>
                <a:custGeom>
                  <a:avLst/>
                  <a:gdLst/>
                  <a:ahLst/>
                  <a:cxnLst/>
                  <a:rect l="l" t="t" r="r" b="b"/>
                  <a:pathLst>
                    <a:path w="12408" h="9573" extrusionOk="0">
                      <a:moveTo>
                        <a:pt x="1240" y="0"/>
                      </a:moveTo>
                      <a:cubicBezTo>
                        <a:pt x="563" y="0"/>
                        <a:pt x="0" y="551"/>
                        <a:pt x="12" y="1240"/>
                      </a:cubicBezTo>
                      <a:lnTo>
                        <a:pt x="12" y="8344"/>
                      </a:lnTo>
                      <a:cubicBezTo>
                        <a:pt x="12" y="9022"/>
                        <a:pt x="563" y="9572"/>
                        <a:pt x="1240" y="9572"/>
                      </a:cubicBezTo>
                      <a:lnTo>
                        <a:pt x="12407" y="9572"/>
                      </a:lnTo>
                      <a:lnTo>
                        <a:pt x="11822" y="8987"/>
                      </a:lnTo>
                      <a:lnTo>
                        <a:pt x="3420" y="586"/>
                      </a:lnTo>
                      <a:lnTo>
                        <a:pt x="2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112;p169">
                  <a:extLst>
                    <a:ext uri="{FF2B5EF4-FFF2-40B4-BE49-F238E27FC236}">
                      <a16:creationId xmlns:a16="http://schemas.microsoft.com/office/drawing/2014/main" id="{D3D6B998-9A16-CC65-4533-4D8DF769D2B3}"/>
                    </a:ext>
                  </a:extLst>
                </p:cNvPr>
                <p:cNvSpPr/>
                <p:nvPr/>
              </p:nvSpPr>
              <p:spPr>
                <a:xfrm>
                  <a:off x="3229068" y="3626367"/>
                  <a:ext cx="1521747"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タイトル 1">
                <a:extLst>
                  <a:ext uri="{FF2B5EF4-FFF2-40B4-BE49-F238E27FC236}">
                    <a16:creationId xmlns:a16="http://schemas.microsoft.com/office/drawing/2014/main" id="{A7A3069E-5FFD-4C4A-29B9-4E372A1A2092}"/>
                  </a:ext>
                </a:extLst>
              </p:cNvPr>
              <p:cNvSpPr txBox="1">
                <a:spLocks/>
              </p:cNvSpPr>
              <p:nvPr/>
            </p:nvSpPr>
            <p:spPr>
              <a:xfrm>
                <a:off x="10683978" y="456244"/>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r>
                  <a:rPr lang="en-US" altLang="ja-JP" dirty="0">
                    <a:latin typeface="Times New Roman" panose="02020603050405020304" pitchFamily="18" charset="0"/>
                    <a:cs typeface="Times New Roman" panose="02020603050405020304" pitchFamily="18" charset="0"/>
                  </a:rPr>
                  <a:t>AI </a:t>
                </a:r>
                <a:r>
                  <a:rPr lang="en-US" altLang="ja-JP" dirty="0" err="1">
                    <a:latin typeface="Times New Roman" panose="02020603050405020304" pitchFamily="18" charset="0"/>
                    <a:cs typeface="Times New Roman" panose="02020603050405020304" pitchFamily="18" charset="0"/>
                  </a:rPr>
                  <a:t>dự</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đoán</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và</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cảnh</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báo</a:t>
                </a:r>
                <a:r>
                  <a:rPr lang="en-US" altLang="ja-JP" dirty="0">
                    <a:latin typeface="Times New Roman" panose="02020603050405020304" pitchFamily="18" charset="0"/>
                    <a:cs typeface="Times New Roman" panose="02020603050405020304" pitchFamily="18" charset="0"/>
                  </a:rPr>
                  <a:t> </a:t>
                </a:r>
                <a:r>
                  <a:rPr lang="en-US" altLang="ja-JP" dirty="0" err="1">
                    <a:latin typeface="Times New Roman" panose="02020603050405020304" pitchFamily="18" charset="0"/>
                    <a:cs typeface="Times New Roman" panose="02020603050405020304" pitchFamily="18" charset="0"/>
                  </a:rPr>
                  <a:t>lỗi</a:t>
                </a:r>
                <a:endParaRPr lang="en-US" altLang="ja-JP" dirty="0">
                  <a:latin typeface="Times New Roman" panose="02020603050405020304" pitchFamily="18" charset="0"/>
                  <a:cs typeface="Times New Roman" panose="02020603050405020304" pitchFamily="18" charset="0"/>
                </a:endParaRPr>
              </a:p>
            </p:txBody>
          </p:sp>
          <p:sp>
            <p:nvSpPr>
              <p:cNvPr id="10" name="タイトル 1">
                <a:extLst>
                  <a:ext uri="{FF2B5EF4-FFF2-40B4-BE49-F238E27FC236}">
                    <a16:creationId xmlns:a16="http://schemas.microsoft.com/office/drawing/2014/main" id="{09AF4F44-5540-730A-E49D-64FAA5D27820}"/>
                  </a:ext>
                </a:extLst>
              </p:cNvPr>
              <p:cNvSpPr txBox="1">
                <a:spLocks/>
              </p:cNvSpPr>
              <p:nvPr/>
            </p:nvSpPr>
            <p:spPr>
              <a:xfrm>
                <a:off x="9839575" y="531261"/>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endParaRPr lang="ja-JP" altLang="en-US" dirty="0">
                  <a:latin typeface="Times New Roman" panose="020F0502020204030204" pitchFamily="34" charset="0"/>
                  <a:cs typeface="Times New Roman" panose="020F0502020204030204" pitchFamily="34" charset="0"/>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4"/>
          <p:cNvSpPr txBox="1"/>
          <p:nvPr/>
        </p:nvSpPr>
        <p:spPr>
          <a:xfrm>
            <a:off x="706482" y="950000"/>
            <a:ext cx="6600000" cy="520000"/>
          </a:xfrm>
          <a:prstGeom prst="roundRect">
            <a:avLst>
              <a:gd name="adj" fmla="val 22000"/>
            </a:avLst>
          </a:prstGeom>
          <a:gradFill rotWithShape="1">
            <a:gsLst>
              <a:gs pos="0">
                <a:srgbClr val="1B1464"/>
              </a:gs>
              <a:gs pos="100000">
                <a:srgbClr val="3C2BC8"/>
              </a:gs>
            </a:gsLst>
            <a:lin ang="0" scaled="0"/>
          </a:gradFill>
        </p:spPr>
        <p:txBody>
          <a:bodyPr wrap="square" lIns="228600" tIns="0" rIns="114300" bIns="0" anchor="ctr">
            <a:normAutofit/>
          </a:bodyPr>
          <a:lstStyle/>
          <a:p>
            <a:pPr algn="l">
              <a:lnSpc>
                <a:spcPct val="100000"/>
              </a:lnSpc>
              <a:spcBef>
                <a:spcPts val="0"/>
              </a:spcBef>
            </a:pPr>
            <a:r>
              <a:rPr lang="vi-VN" sz="1600" b="1" dirty="0">
                <a:solidFill>
                  <a:srgbClr val="FFFFFF"/>
                </a:solidFill>
                <a:latin typeface="Times New Roman" panose="02020603050405020304" pitchFamily="18" charset="0"/>
                <a:cs typeface="Times New Roman" panose="02020603050405020304" pitchFamily="18" charset="0"/>
              </a:rPr>
              <a:t>Bước 5: Đánh giá hiệu quả và nâng</a:t>
            </a:r>
            <a:r>
              <a:rPr lang="en-US" sz="1600" b="1" dirty="0">
                <a:solidFill>
                  <a:srgbClr val="FFFFFF"/>
                </a:solidFill>
                <a:latin typeface="Times New Roman" panose="02020603050405020304" pitchFamily="18" charset="0"/>
                <a:cs typeface="Times New Roman" panose="02020603050405020304" pitchFamily="18" charset="0"/>
              </a:rPr>
              <a:t> </a:t>
            </a:r>
            <a:r>
              <a:rPr lang="en-US" sz="1600" b="1" dirty="0" err="1">
                <a:solidFill>
                  <a:srgbClr val="FFFFFF"/>
                </a:solidFill>
                <a:latin typeface="Times New Roman" panose="02020603050405020304" pitchFamily="18" charset="0"/>
                <a:cs typeface="Times New Roman" panose="02020603050405020304" pitchFamily="18" charset="0"/>
              </a:rPr>
              <a:t>cao</a:t>
            </a:r>
            <a:r>
              <a:rPr lang="vi-VN" sz="1600" b="1" dirty="0">
                <a:solidFill>
                  <a:srgbClr val="FFFFFF"/>
                </a:solidFill>
                <a:latin typeface="Times New Roman" panose="02020603050405020304" pitchFamily="18" charset="0"/>
                <a:cs typeface="Times New Roman" panose="02020603050405020304" pitchFamily="18" charset="0"/>
              </a:rPr>
              <a:t> độ tin cậy của cảnh báo</a:t>
            </a:r>
          </a:p>
        </p:txBody>
      </p:sp>
      <p:grpSp>
        <p:nvGrpSpPr>
          <p:cNvPr id="2" name="Group 1">
            <a:extLst>
              <a:ext uri="{FF2B5EF4-FFF2-40B4-BE49-F238E27FC236}">
                <a16:creationId xmlns:a16="http://schemas.microsoft.com/office/drawing/2014/main" id="{11E36689-FA0A-4FBA-8D4D-0F5BDB7722A7}"/>
              </a:ext>
            </a:extLst>
          </p:cNvPr>
          <p:cNvGrpSpPr/>
          <p:nvPr/>
        </p:nvGrpSpPr>
        <p:grpSpPr>
          <a:xfrm>
            <a:off x="2878176" y="102888"/>
            <a:ext cx="5890516" cy="526026"/>
            <a:chOff x="9603893" y="430511"/>
            <a:chExt cx="5890516" cy="605842"/>
          </a:xfrm>
        </p:grpSpPr>
        <p:sp>
          <p:nvSpPr>
            <p:cNvPr id="5" name="Google Shape;3112;p169">
              <a:extLst>
                <a:ext uri="{FF2B5EF4-FFF2-40B4-BE49-F238E27FC236}">
                  <a16:creationId xmlns:a16="http://schemas.microsoft.com/office/drawing/2014/main" id="{F4A630E2-CAFC-4985-BF06-7D179E6979BD}"/>
                </a:ext>
              </a:extLst>
            </p:cNvPr>
            <p:cNvSpPr/>
            <p:nvPr/>
          </p:nvSpPr>
          <p:spPr>
            <a:xfrm>
              <a:off x="10050805" y="457775"/>
              <a:ext cx="2983199" cy="568501"/>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roup 5">
              <a:extLst>
                <a:ext uri="{FF2B5EF4-FFF2-40B4-BE49-F238E27FC236}">
                  <a16:creationId xmlns:a16="http://schemas.microsoft.com/office/drawing/2014/main" id="{8F11E20F-82EB-4560-AAB2-E8D40B272191}"/>
                </a:ext>
              </a:extLst>
            </p:cNvPr>
            <p:cNvGrpSpPr/>
            <p:nvPr/>
          </p:nvGrpSpPr>
          <p:grpSpPr>
            <a:xfrm>
              <a:off x="9603893" y="430511"/>
              <a:ext cx="5890516" cy="605842"/>
              <a:chOff x="9680198" y="256226"/>
              <a:chExt cx="5767917" cy="690195"/>
            </a:xfrm>
          </p:grpSpPr>
          <p:grpSp>
            <p:nvGrpSpPr>
              <p:cNvPr id="8" name="Google Shape;3110;p169">
                <a:extLst>
                  <a:ext uri="{FF2B5EF4-FFF2-40B4-BE49-F238E27FC236}">
                    <a16:creationId xmlns:a16="http://schemas.microsoft.com/office/drawing/2014/main" id="{54741A0D-901F-4AAF-9E49-810C41C25EAD}"/>
                  </a:ext>
                </a:extLst>
              </p:cNvPr>
              <p:cNvGrpSpPr/>
              <p:nvPr/>
            </p:nvGrpSpPr>
            <p:grpSpPr>
              <a:xfrm>
                <a:off x="9680198" y="256226"/>
                <a:ext cx="5767917" cy="690195"/>
                <a:chOff x="3099239" y="3615343"/>
                <a:chExt cx="1651576" cy="184687"/>
              </a:xfrm>
            </p:grpSpPr>
            <p:sp>
              <p:nvSpPr>
                <p:cNvPr id="11" name="Google Shape;3111;p169">
                  <a:extLst>
                    <a:ext uri="{FF2B5EF4-FFF2-40B4-BE49-F238E27FC236}">
                      <a16:creationId xmlns:a16="http://schemas.microsoft.com/office/drawing/2014/main" id="{B5AF873E-F140-49BB-AE6E-2378491B75B6}"/>
                    </a:ext>
                  </a:extLst>
                </p:cNvPr>
                <p:cNvSpPr/>
                <p:nvPr/>
              </p:nvSpPr>
              <p:spPr>
                <a:xfrm>
                  <a:off x="3327296" y="3788725"/>
                  <a:ext cx="22611" cy="11305"/>
                </a:xfrm>
                <a:custGeom>
                  <a:avLst/>
                  <a:gdLst/>
                  <a:ahLst/>
                  <a:cxnLst/>
                  <a:rect l="l" t="t" r="r" b="b"/>
                  <a:pathLst>
                    <a:path w="1172" h="586" extrusionOk="0">
                      <a:moveTo>
                        <a:pt x="1" y="0"/>
                      </a:moveTo>
                      <a:lnTo>
                        <a:pt x="586" y="585"/>
                      </a:lnTo>
                      <a:lnTo>
                        <a:pt x="1171" y="0"/>
                      </a:lnTo>
                      <a:close/>
                    </a:path>
                  </a:pathLst>
                </a:custGeom>
                <a:solidFill>
                  <a:srgbClr val="448C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112;p169">
                  <a:extLst>
                    <a:ext uri="{FF2B5EF4-FFF2-40B4-BE49-F238E27FC236}">
                      <a16:creationId xmlns:a16="http://schemas.microsoft.com/office/drawing/2014/main" id="{9E54B6F5-58FF-4B9E-A1CE-3CE500AEDA78}"/>
                    </a:ext>
                  </a:extLst>
                </p:cNvPr>
                <p:cNvSpPr/>
                <p:nvPr/>
              </p:nvSpPr>
              <p:spPr>
                <a:xfrm>
                  <a:off x="3213258" y="3626628"/>
                  <a:ext cx="799671"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113;p169">
                  <a:extLst>
                    <a:ext uri="{FF2B5EF4-FFF2-40B4-BE49-F238E27FC236}">
                      <a16:creationId xmlns:a16="http://schemas.microsoft.com/office/drawing/2014/main" id="{4AE19EF0-0021-4B2C-81E5-CA85DFF48F1C}"/>
                    </a:ext>
                  </a:extLst>
                </p:cNvPr>
                <p:cNvSpPr/>
                <p:nvPr/>
              </p:nvSpPr>
              <p:spPr>
                <a:xfrm>
                  <a:off x="3165220" y="3626629"/>
                  <a:ext cx="165202" cy="162115"/>
                </a:xfrm>
                <a:custGeom>
                  <a:avLst/>
                  <a:gdLst/>
                  <a:ahLst/>
                  <a:cxnLst/>
                  <a:rect l="l" t="t" r="r" b="b"/>
                  <a:pathLst>
                    <a:path w="8563" h="8403" extrusionOk="0">
                      <a:moveTo>
                        <a:pt x="0" y="1"/>
                      </a:moveTo>
                      <a:lnTo>
                        <a:pt x="8402" y="8402"/>
                      </a:lnTo>
                      <a:lnTo>
                        <a:pt x="8562" y="8402"/>
                      </a:lnTo>
                      <a:lnTo>
                        <a:pt x="2491" y="1"/>
                      </a:ln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114;p169">
                  <a:extLst>
                    <a:ext uri="{FF2B5EF4-FFF2-40B4-BE49-F238E27FC236}">
                      <a16:creationId xmlns:a16="http://schemas.microsoft.com/office/drawing/2014/main" id="{128CF663-D0FB-437A-846A-3FEB138F2B5C}"/>
                    </a:ext>
                  </a:extLst>
                </p:cNvPr>
                <p:cNvSpPr/>
                <p:nvPr/>
              </p:nvSpPr>
              <p:spPr>
                <a:xfrm>
                  <a:off x="3099239" y="3615343"/>
                  <a:ext cx="239381" cy="184687"/>
                </a:xfrm>
                <a:custGeom>
                  <a:avLst/>
                  <a:gdLst/>
                  <a:ahLst/>
                  <a:cxnLst/>
                  <a:rect l="l" t="t" r="r" b="b"/>
                  <a:pathLst>
                    <a:path w="12408" h="9573" extrusionOk="0">
                      <a:moveTo>
                        <a:pt x="1240" y="0"/>
                      </a:moveTo>
                      <a:cubicBezTo>
                        <a:pt x="563" y="0"/>
                        <a:pt x="0" y="551"/>
                        <a:pt x="12" y="1240"/>
                      </a:cubicBezTo>
                      <a:lnTo>
                        <a:pt x="12" y="8344"/>
                      </a:lnTo>
                      <a:cubicBezTo>
                        <a:pt x="12" y="9022"/>
                        <a:pt x="563" y="9572"/>
                        <a:pt x="1240" y="9572"/>
                      </a:cubicBezTo>
                      <a:lnTo>
                        <a:pt x="12407" y="9572"/>
                      </a:lnTo>
                      <a:lnTo>
                        <a:pt x="11822" y="8987"/>
                      </a:lnTo>
                      <a:lnTo>
                        <a:pt x="3420" y="586"/>
                      </a:lnTo>
                      <a:lnTo>
                        <a:pt x="2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112;p169">
                  <a:extLst>
                    <a:ext uri="{FF2B5EF4-FFF2-40B4-BE49-F238E27FC236}">
                      <a16:creationId xmlns:a16="http://schemas.microsoft.com/office/drawing/2014/main" id="{C2121ED0-0197-4F79-8CB4-4E53561D50B4}"/>
                    </a:ext>
                  </a:extLst>
                </p:cNvPr>
                <p:cNvSpPr/>
                <p:nvPr/>
              </p:nvSpPr>
              <p:spPr>
                <a:xfrm>
                  <a:off x="3229068" y="3626367"/>
                  <a:ext cx="1521747" cy="170352"/>
                </a:xfrm>
                <a:custGeom>
                  <a:avLst/>
                  <a:gdLst/>
                  <a:ahLst/>
                  <a:cxnLst/>
                  <a:rect l="l" t="t" r="r" b="b"/>
                  <a:pathLst>
                    <a:path w="29842" h="8403" extrusionOk="0">
                      <a:moveTo>
                        <a:pt x="1" y="1"/>
                      </a:moveTo>
                      <a:lnTo>
                        <a:pt x="6072" y="8402"/>
                      </a:lnTo>
                      <a:lnTo>
                        <a:pt x="28591" y="8402"/>
                      </a:lnTo>
                      <a:cubicBezTo>
                        <a:pt x="29280" y="8402"/>
                        <a:pt x="29842" y="7851"/>
                        <a:pt x="29842" y="7163"/>
                      </a:cubicBezTo>
                      <a:lnTo>
                        <a:pt x="29842" y="1252"/>
                      </a:lnTo>
                      <a:cubicBezTo>
                        <a:pt x="29842" y="563"/>
                        <a:pt x="29280" y="1"/>
                        <a:pt x="28591" y="1"/>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タイトル 1">
                <a:extLst>
                  <a:ext uri="{FF2B5EF4-FFF2-40B4-BE49-F238E27FC236}">
                    <a16:creationId xmlns:a16="http://schemas.microsoft.com/office/drawing/2014/main" id="{632AA872-7804-4EB6-96E1-5CB85E84CCFA}"/>
                  </a:ext>
                </a:extLst>
              </p:cNvPr>
              <p:cNvSpPr txBox="1">
                <a:spLocks/>
              </p:cNvSpPr>
              <p:nvPr/>
            </p:nvSpPr>
            <p:spPr>
              <a:xfrm>
                <a:off x="10683978" y="456244"/>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r>
                  <a:rPr lang="en-US" altLang="ja-JP">
                    <a:latin typeface="Times New Roman" panose="02020603050405020304" pitchFamily="18" charset="0"/>
                    <a:cs typeface="Times New Roman" panose="02020603050405020304" pitchFamily="18" charset="0"/>
                  </a:rPr>
                  <a:t>AI </a:t>
                </a:r>
                <a:r>
                  <a:rPr lang="en-US" altLang="ja-JP" err="1">
                    <a:latin typeface="Times New Roman" panose="02020603050405020304" pitchFamily="18" charset="0"/>
                    <a:cs typeface="Times New Roman" panose="02020603050405020304" pitchFamily="18" charset="0"/>
                  </a:rPr>
                  <a:t>dự</a:t>
                </a:r>
                <a:r>
                  <a:rPr lang="en-US" altLang="ja-JP">
                    <a:latin typeface="Times New Roman" panose="02020603050405020304" pitchFamily="18" charset="0"/>
                    <a:cs typeface="Times New Roman" panose="02020603050405020304" pitchFamily="18" charset="0"/>
                  </a:rPr>
                  <a:t> </a:t>
                </a:r>
                <a:r>
                  <a:rPr lang="en-US" altLang="ja-JP" err="1">
                    <a:latin typeface="Times New Roman" panose="02020603050405020304" pitchFamily="18" charset="0"/>
                    <a:cs typeface="Times New Roman" panose="02020603050405020304" pitchFamily="18" charset="0"/>
                  </a:rPr>
                  <a:t>đoán</a:t>
                </a:r>
                <a:r>
                  <a:rPr lang="en-US" altLang="ja-JP">
                    <a:latin typeface="Times New Roman" panose="02020603050405020304" pitchFamily="18" charset="0"/>
                    <a:cs typeface="Times New Roman" panose="02020603050405020304" pitchFamily="18" charset="0"/>
                  </a:rPr>
                  <a:t> </a:t>
                </a:r>
                <a:r>
                  <a:rPr lang="en-US" altLang="ja-JP" err="1">
                    <a:latin typeface="Times New Roman" panose="02020603050405020304" pitchFamily="18" charset="0"/>
                    <a:cs typeface="Times New Roman" panose="02020603050405020304" pitchFamily="18" charset="0"/>
                  </a:rPr>
                  <a:t>và</a:t>
                </a:r>
                <a:r>
                  <a:rPr lang="en-US" altLang="ja-JP">
                    <a:latin typeface="Times New Roman" panose="02020603050405020304" pitchFamily="18" charset="0"/>
                    <a:cs typeface="Times New Roman" panose="02020603050405020304" pitchFamily="18" charset="0"/>
                  </a:rPr>
                  <a:t> </a:t>
                </a:r>
                <a:r>
                  <a:rPr lang="en-US" altLang="ja-JP" err="1">
                    <a:latin typeface="Times New Roman" panose="02020603050405020304" pitchFamily="18" charset="0"/>
                    <a:cs typeface="Times New Roman" panose="02020603050405020304" pitchFamily="18" charset="0"/>
                  </a:rPr>
                  <a:t>cảnh</a:t>
                </a:r>
                <a:r>
                  <a:rPr lang="en-US" altLang="ja-JP">
                    <a:latin typeface="Times New Roman" panose="02020603050405020304" pitchFamily="18" charset="0"/>
                    <a:cs typeface="Times New Roman" panose="02020603050405020304" pitchFamily="18" charset="0"/>
                  </a:rPr>
                  <a:t> </a:t>
                </a:r>
                <a:r>
                  <a:rPr lang="en-US" altLang="ja-JP" err="1">
                    <a:latin typeface="Times New Roman" panose="02020603050405020304" pitchFamily="18" charset="0"/>
                    <a:cs typeface="Times New Roman" panose="02020603050405020304" pitchFamily="18" charset="0"/>
                  </a:rPr>
                  <a:t>báo</a:t>
                </a:r>
                <a:r>
                  <a:rPr lang="en-US" altLang="ja-JP">
                    <a:latin typeface="Times New Roman" panose="02020603050405020304" pitchFamily="18" charset="0"/>
                    <a:cs typeface="Times New Roman" panose="02020603050405020304" pitchFamily="18" charset="0"/>
                  </a:rPr>
                  <a:t> </a:t>
                </a:r>
                <a:r>
                  <a:rPr lang="en-US" altLang="ja-JP" err="1">
                    <a:latin typeface="Times New Roman" panose="02020603050405020304" pitchFamily="18" charset="0"/>
                    <a:cs typeface="Times New Roman" panose="02020603050405020304" pitchFamily="18" charset="0"/>
                  </a:rPr>
                  <a:t>lỗi</a:t>
                </a:r>
                <a:endParaRPr lang="en-US" altLang="ja-JP">
                  <a:latin typeface="Times New Roman" panose="02020603050405020304" pitchFamily="18" charset="0"/>
                  <a:cs typeface="Times New Roman" panose="02020603050405020304" pitchFamily="18" charset="0"/>
                </a:endParaRPr>
              </a:p>
            </p:txBody>
          </p:sp>
          <p:sp>
            <p:nvSpPr>
              <p:cNvPr id="10" name="タイトル 1">
                <a:extLst>
                  <a:ext uri="{FF2B5EF4-FFF2-40B4-BE49-F238E27FC236}">
                    <a16:creationId xmlns:a16="http://schemas.microsoft.com/office/drawing/2014/main" id="{12508D8A-223A-4124-8717-7C9EF33E3E89}"/>
                  </a:ext>
                </a:extLst>
              </p:cNvPr>
              <p:cNvSpPr txBox="1">
                <a:spLocks/>
              </p:cNvSpPr>
              <p:nvPr/>
            </p:nvSpPr>
            <p:spPr>
              <a:xfrm>
                <a:off x="9839575" y="531261"/>
                <a:ext cx="2365292" cy="29788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Times New Roman"/>
                    <a:ea typeface="Times New Roman"/>
                    <a:cs typeface="Times New Roman"/>
                  </a:defRPr>
                </a:lvl1pPr>
              </a:lstStyle>
              <a:p>
                <a:pPr algn="l"/>
                <a:endParaRPr lang="ja-JP" altLang="en-US">
                  <a:latin typeface="Times New Roman" panose="020F0502020204030204" pitchFamily="34" charset="0"/>
                  <a:cs typeface="Times New Roman" panose="020F0502020204030204" pitchFamily="34" charset="0"/>
                </a:endParaRPr>
              </a:p>
            </p:txBody>
          </p:sp>
        </p:grpSp>
      </p:grpSp>
      <p:graphicFrame>
        <p:nvGraphicFramePr>
          <p:cNvPr id="19" name="Diagram 18">
            <a:extLst>
              <a:ext uri="{FF2B5EF4-FFF2-40B4-BE49-F238E27FC236}">
                <a16:creationId xmlns:a16="http://schemas.microsoft.com/office/drawing/2014/main" id="{46B84FD3-3DBD-B680-4236-E2B15B9530E3}"/>
              </a:ext>
            </a:extLst>
          </p:cNvPr>
          <p:cNvGraphicFramePr/>
          <p:nvPr>
            <p:extLst>
              <p:ext uri="{D42A27DB-BD31-4B8C-83A1-F6EECF244321}">
                <p14:modId xmlns:p14="http://schemas.microsoft.com/office/powerpoint/2010/main" val="2773310295"/>
              </p:ext>
            </p:extLst>
          </p:nvPr>
        </p:nvGraphicFramePr>
        <p:xfrm>
          <a:off x="706482" y="1374347"/>
          <a:ext cx="9016652" cy="5073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 name="C200">
            <a:extLst>
              <a:ext uri="{FF2B5EF4-FFF2-40B4-BE49-F238E27FC236}">
                <a16:creationId xmlns:a16="http://schemas.microsoft.com/office/drawing/2014/main" id="{682927DB-C7AE-A564-05B9-3E73B8AFAD3E}"/>
              </a:ext>
            </a:extLst>
          </p:cNvPr>
          <p:cNvSpPr/>
          <p:nvPr/>
        </p:nvSpPr>
        <p:spPr>
          <a:xfrm>
            <a:off x="3536268" y="1876288"/>
            <a:ext cx="3840480" cy="132588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rotWithShape="0">
              <a:srgbClr val="1B1464">
                <a:alpha val="13000"/>
              </a:srgbClr>
            </a:outerShdw>
          </a:effectLst>
        </p:spPr>
        <p:txBody>
          <a:bodyPr/>
          <a:lstStyle/>
          <a:p>
            <a:endParaRPr lang="vi-VN"/>
          </a:p>
        </p:txBody>
      </p:sp>
      <p:sp>
        <p:nvSpPr>
          <p:cNvPr id="24" name="T202">
            <a:extLst>
              <a:ext uri="{FF2B5EF4-FFF2-40B4-BE49-F238E27FC236}">
                <a16:creationId xmlns:a16="http://schemas.microsoft.com/office/drawing/2014/main" id="{28FA4E0E-D228-7C53-3290-AB0689E5C624}"/>
              </a:ext>
            </a:extLst>
          </p:cNvPr>
          <p:cNvSpPr txBox="1"/>
          <p:nvPr/>
        </p:nvSpPr>
        <p:spPr>
          <a:xfrm>
            <a:off x="3942357" y="1963888"/>
            <a:ext cx="2743200" cy="1033272"/>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01  |  Đánh giá độ chính xác</a:t>
            </a:r>
          </a:p>
          <a:p>
            <a:pPr algn="l">
              <a:lnSpc>
                <a:spcPct val="100000"/>
              </a:lnSpc>
              <a:spcBef>
                <a:spcPts val="0"/>
              </a:spcBef>
            </a:pPr>
            <a:r>
              <a:rPr lang="vi-VN" sz="1300" b="0" dirty="0">
                <a:solidFill>
                  <a:srgbClr val="5A5F7D"/>
                </a:solidFill>
                <a:latin typeface="Times New Roman" panose="02020603050405020304" pitchFamily="18" charset="0"/>
                <a:cs typeface="Times New Roman" panose="02020603050405020304" pitchFamily="18" charset="0"/>
              </a:rPr>
              <a:t>Đo tỉ lệ cảnh báo đúng, cảnh báo nhầm và bỏ sót so với kết quả đo thực tế</a:t>
            </a:r>
          </a:p>
        </p:txBody>
      </p:sp>
      <p:sp>
        <p:nvSpPr>
          <p:cNvPr id="26" name="C210">
            <a:extLst>
              <a:ext uri="{FF2B5EF4-FFF2-40B4-BE49-F238E27FC236}">
                <a16:creationId xmlns:a16="http://schemas.microsoft.com/office/drawing/2014/main" id="{E38BBF0B-1D28-7822-3AF4-AD5E80C3A412}"/>
              </a:ext>
            </a:extLst>
          </p:cNvPr>
          <p:cNvSpPr/>
          <p:nvPr/>
        </p:nvSpPr>
        <p:spPr>
          <a:xfrm>
            <a:off x="3536268" y="3276032"/>
            <a:ext cx="3840480" cy="132588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rotWithShape="0">
              <a:srgbClr val="1B1464">
                <a:alpha val="13000"/>
              </a:srgbClr>
            </a:outerShdw>
          </a:effectLst>
        </p:spPr>
        <p:txBody>
          <a:bodyPr/>
          <a:lstStyle/>
          <a:p>
            <a:endParaRPr lang="vi-VN"/>
          </a:p>
        </p:txBody>
      </p:sp>
      <p:sp>
        <p:nvSpPr>
          <p:cNvPr id="28" name="T212">
            <a:extLst>
              <a:ext uri="{FF2B5EF4-FFF2-40B4-BE49-F238E27FC236}">
                <a16:creationId xmlns:a16="http://schemas.microsoft.com/office/drawing/2014/main" id="{4908F56A-9BF6-1DD8-B7B2-6B91E03F77D2}"/>
              </a:ext>
            </a:extLst>
          </p:cNvPr>
          <p:cNvSpPr txBox="1"/>
          <p:nvPr/>
        </p:nvSpPr>
        <p:spPr>
          <a:xfrm>
            <a:off x="3942356" y="3394699"/>
            <a:ext cx="2864843" cy="1033272"/>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02  |  </a:t>
            </a:r>
            <a:r>
              <a:rPr lang="en-US" sz="1300" b="1" dirty="0" err="1">
                <a:solidFill>
                  <a:srgbClr val="2E1C9E"/>
                </a:solidFill>
                <a:latin typeface="Times New Roman" panose="02020603050405020304" pitchFamily="18" charset="0"/>
                <a:cs typeface="Times New Roman" panose="02020603050405020304" pitchFamily="18" charset="0"/>
              </a:rPr>
              <a:t>Đánh</a:t>
            </a:r>
            <a:r>
              <a:rPr lang="en-US" sz="1300" b="1" dirty="0">
                <a:solidFill>
                  <a:srgbClr val="2E1C9E"/>
                </a:solidFill>
                <a:latin typeface="Times New Roman" panose="02020603050405020304" pitchFamily="18" charset="0"/>
                <a:cs typeface="Times New Roman" panose="02020603050405020304" pitchFamily="18" charset="0"/>
              </a:rPr>
              <a:t> </a:t>
            </a:r>
            <a:r>
              <a:rPr lang="en-US" sz="1300" b="1" dirty="0" err="1">
                <a:solidFill>
                  <a:srgbClr val="2E1C9E"/>
                </a:solidFill>
                <a:latin typeface="Times New Roman" panose="02020603050405020304" pitchFamily="18" charset="0"/>
                <a:cs typeface="Times New Roman" panose="02020603050405020304" pitchFamily="18" charset="0"/>
              </a:rPr>
              <a:t>giá</a:t>
            </a:r>
            <a:r>
              <a:rPr lang="en-US" sz="1300" b="1" dirty="0">
                <a:solidFill>
                  <a:srgbClr val="2E1C9E"/>
                </a:solidFill>
                <a:latin typeface="Times New Roman" panose="02020603050405020304" pitchFamily="18" charset="0"/>
                <a:cs typeface="Times New Roman" panose="02020603050405020304" pitchFamily="18" charset="0"/>
              </a:rPr>
              <a:t> </a:t>
            </a:r>
            <a:r>
              <a:rPr lang="en-US" sz="1300" b="1" dirty="0" err="1">
                <a:solidFill>
                  <a:srgbClr val="2E1C9E"/>
                </a:solidFill>
                <a:latin typeface="Times New Roman" panose="02020603050405020304" pitchFamily="18" charset="0"/>
                <a:cs typeface="Times New Roman" panose="02020603050405020304" pitchFamily="18" charset="0"/>
              </a:rPr>
              <a:t>lại</a:t>
            </a:r>
            <a:r>
              <a:rPr lang="en-US" sz="1300" b="1" dirty="0">
                <a:solidFill>
                  <a:srgbClr val="2E1C9E"/>
                </a:solidFill>
                <a:latin typeface="Times New Roman" panose="02020603050405020304" pitchFamily="18" charset="0"/>
                <a:cs typeface="Times New Roman" panose="02020603050405020304" pitchFamily="18" charset="0"/>
              </a:rPr>
              <a:t> </a:t>
            </a:r>
            <a:r>
              <a:rPr lang="vi-VN" sz="1300" b="1" dirty="0">
                <a:solidFill>
                  <a:srgbClr val="2E1C9E"/>
                </a:solidFill>
                <a:latin typeface="Times New Roman" panose="02020603050405020304" pitchFamily="18" charset="0"/>
                <a:cs typeface="Times New Roman" panose="02020603050405020304" pitchFamily="18" charset="0"/>
              </a:rPr>
              <a:t>dữ liệu</a:t>
            </a:r>
            <a:r>
              <a:rPr lang="en-US" sz="1300" b="1" dirty="0">
                <a:solidFill>
                  <a:srgbClr val="2E1C9E"/>
                </a:solidFill>
                <a:latin typeface="Times New Roman" panose="02020603050405020304" pitchFamily="18" charset="0"/>
                <a:cs typeface="Times New Roman" panose="02020603050405020304" pitchFamily="18" charset="0"/>
              </a:rPr>
              <a:t> </a:t>
            </a:r>
            <a:r>
              <a:rPr lang="en-US" sz="1300" b="1" dirty="0" err="1">
                <a:solidFill>
                  <a:srgbClr val="2E1C9E"/>
                </a:solidFill>
                <a:latin typeface="Times New Roman" panose="02020603050405020304" pitchFamily="18" charset="0"/>
                <a:cs typeface="Times New Roman" panose="02020603050405020304" pitchFamily="18" charset="0"/>
              </a:rPr>
              <a:t>đầu</a:t>
            </a:r>
            <a:r>
              <a:rPr lang="en-US" sz="1300" b="1" dirty="0">
                <a:solidFill>
                  <a:srgbClr val="2E1C9E"/>
                </a:solidFill>
                <a:latin typeface="Times New Roman" panose="02020603050405020304" pitchFamily="18" charset="0"/>
                <a:cs typeface="Times New Roman" panose="02020603050405020304" pitchFamily="18" charset="0"/>
              </a:rPr>
              <a:t> </a:t>
            </a:r>
            <a:r>
              <a:rPr lang="en-US" sz="1300" b="1" dirty="0" err="1">
                <a:solidFill>
                  <a:srgbClr val="2E1C9E"/>
                </a:solidFill>
                <a:latin typeface="Times New Roman" panose="02020603050405020304" pitchFamily="18" charset="0"/>
                <a:cs typeface="Times New Roman" panose="02020603050405020304" pitchFamily="18" charset="0"/>
              </a:rPr>
              <a:t>vào</a:t>
            </a:r>
            <a:endParaRPr lang="vi-VN" sz="1300" b="1" dirty="0">
              <a:solidFill>
                <a:srgbClr val="2E1C9E"/>
              </a:solidFill>
              <a:latin typeface="Times New Roman" panose="02020603050405020304" pitchFamily="18" charset="0"/>
              <a:cs typeface="Times New Roman" panose="02020603050405020304" pitchFamily="18" charset="0"/>
            </a:endParaRPr>
          </a:p>
          <a:p>
            <a:pPr algn="l">
              <a:lnSpc>
                <a:spcPct val="100000"/>
              </a:lnSpc>
              <a:spcBef>
                <a:spcPts val="0"/>
              </a:spcBef>
            </a:pPr>
            <a:r>
              <a:rPr lang="vi-VN" sz="1300" b="0" dirty="0">
                <a:solidFill>
                  <a:srgbClr val="5A5F7D"/>
                </a:solidFill>
                <a:latin typeface="Times New Roman" panose="02020603050405020304" pitchFamily="18" charset="0"/>
                <a:cs typeface="Times New Roman" panose="02020603050405020304" pitchFamily="18" charset="0"/>
              </a:rPr>
              <a:t>Nếu dữ liệu linh kiện và check jig chưa đủ để dự đoán chính xác, xác định </a:t>
            </a:r>
            <a:r>
              <a:rPr lang="en-US" sz="1300" b="0" dirty="0" err="1">
                <a:solidFill>
                  <a:srgbClr val="5A5F7D"/>
                </a:solidFill>
                <a:latin typeface="Times New Roman" panose="02020603050405020304" pitchFamily="18" charset="0"/>
                <a:cs typeface="Times New Roman" panose="02020603050405020304" pitchFamily="18" charset="0"/>
              </a:rPr>
              <a:t>điều</a:t>
            </a:r>
            <a:r>
              <a:rPr lang="en-US" sz="1300" b="0" dirty="0">
                <a:solidFill>
                  <a:srgbClr val="5A5F7D"/>
                </a:solidFill>
                <a:latin typeface="Times New Roman" panose="02020603050405020304" pitchFamily="18" charset="0"/>
                <a:cs typeface="Times New Roman" panose="02020603050405020304" pitchFamily="18" charset="0"/>
              </a:rPr>
              <a:t> </a:t>
            </a:r>
            <a:r>
              <a:rPr lang="en-US" sz="1300" b="0" dirty="0" err="1">
                <a:solidFill>
                  <a:srgbClr val="5A5F7D"/>
                </a:solidFill>
                <a:latin typeface="Times New Roman" panose="02020603050405020304" pitchFamily="18" charset="0"/>
                <a:cs typeface="Times New Roman" panose="02020603050405020304" pitchFamily="18" charset="0"/>
              </a:rPr>
              <a:t>kiện</a:t>
            </a:r>
            <a:r>
              <a:rPr lang="vi-VN" sz="1300" b="0" dirty="0">
                <a:solidFill>
                  <a:srgbClr val="5A5F7D"/>
                </a:solidFill>
                <a:latin typeface="Times New Roman" panose="02020603050405020304" pitchFamily="18" charset="0"/>
                <a:cs typeface="Times New Roman" panose="02020603050405020304" pitchFamily="18" charset="0"/>
              </a:rPr>
              <a:t> còn thiếu</a:t>
            </a:r>
          </a:p>
        </p:txBody>
      </p:sp>
      <p:sp>
        <p:nvSpPr>
          <p:cNvPr id="30" name="C220">
            <a:extLst>
              <a:ext uri="{FF2B5EF4-FFF2-40B4-BE49-F238E27FC236}">
                <a16:creationId xmlns:a16="http://schemas.microsoft.com/office/drawing/2014/main" id="{B65F21EE-E183-8C11-C56B-3A2D8402B6D5}"/>
              </a:ext>
            </a:extLst>
          </p:cNvPr>
          <p:cNvSpPr/>
          <p:nvPr/>
        </p:nvSpPr>
        <p:spPr>
          <a:xfrm>
            <a:off x="3536936" y="4675776"/>
            <a:ext cx="3840480" cy="1325880"/>
          </a:xfrm>
          <a:prstGeom prst="roundRect">
            <a:avLst>
              <a:gd name="adj" fmla="val 9000"/>
            </a:avLst>
          </a:prstGeom>
          <a:gradFill rotWithShape="1">
            <a:gsLst>
              <a:gs pos="0">
                <a:srgbClr val="FFFFFF"/>
              </a:gs>
              <a:gs pos="100000">
                <a:srgbClr val="F2F4FF"/>
              </a:gs>
            </a:gsLst>
            <a:lin ang="2700000" scaled="0"/>
          </a:gradFill>
          <a:ln w="12700">
            <a:solidFill>
              <a:srgbClr val="C7CEF5"/>
            </a:solidFill>
          </a:ln>
          <a:effectLst>
            <a:outerShdw blurRad="140000" dist="38000" dir="5400000" rotWithShape="0">
              <a:srgbClr val="1B1464">
                <a:alpha val="13000"/>
              </a:srgbClr>
            </a:outerShdw>
          </a:effectLst>
        </p:spPr>
        <p:txBody>
          <a:bodyPr/>
          <a:lstStyle/>
          <a:p>
            <a:endParaRPr lang="vi-VN"/>
          </a:p>
        </p:txBody>
      </p:sp>
      <p:sp>
        <p:nvSpPr>
          <p:cNvPr id="224" name="T222">
            <a:extLst>
              <a:ext uri="{FF2B5EF4-FFF2-40B4-BE49-F238E27FC236}">
                <a16:creationId xmlns:a16="http://schemas.microsoft.com/office/drawing/2014/main" id="{CCAAC24D-F66A-4A8E-BCA8-C0973E9D6C97}"/>
              </a:ext>
            </a:extLst>
          </p:cNvPr>
          <p:cNvSpPr txBox="1"/>
          <p:nvPr/>
        </p:nvSpPr>
        <p:spPr>
          <a:xfrm>
            <a:off x="3937415" y="4834259"/>
            <a:ext cx="2743200" cy="1033272"/>
          </a:xfrm>
          <a:prstGeom prst="rect">
            <a:avLst/>
          </a:prstGeom>
          <a:noFill/>
        </p:spPr>
        <p:txBody>
          <a:bodyPr wrap="square" lIns="0" tIns="0" rIns="0" bIns="0" anchor="ctr">
            <a:normAutofit/>
          </a:bodyPr>
          <a:lstStyle/>
          <a:p>
            <a:pPr algn="l">
              <a:lnSpc>
                <a:spcPct val="100000"/>
              </a:lnSpc>
              <a:spcBef>
                <a:spcPts val="0"/>
              </a:spcBef>
            </a:pPr>
            <a:r>
              <a:rPr lang="vi-VN" sz="1300" b="1" dirty="0">
                <a:solidFill>
                  <a:srgbClr val="2E1C9E"/>
                </a:solidFill>
                <a:latin typeface="Times New Roman" panose="02020603050405020304" pitchFamily="18" charset="0"/>
                <a:cs typeface="Times New Roman" panose="02020603050405020304" pitchFamily="18" charset="0"/>
              </a:rPr>
              <a:t>03  |  </a:t>
            </a:r>
            <a:r>
              <a:rPr lang="en-US" sz="1300" b="1" dirty="0" err="1">
                <a:solidFill>
                  <a:srgbClr val="2E1C9E"/>
                </a:solidFill>
                <a:latin typeface="Times New Roman" panose="02020603050405020304" pitchFamily="18" charset="0"/>
                <a:cs typeface="Times New Roman" panose="02020603050405020304" pitchFamily="18" charset="0"/>
              </a:rPr>
              <a:t>Cập</a:t>
            </a:r>
            <a:r>
              <a:rPr lang="en-US" sz="1300" b="1" dirty="0">
                <a:solidFill>
                  <a:srgbClr val="2E1C9E"/>
                </a:solidFill>
                <a:latin typeface="Times New Roman" panose="02020603050405020304" pitchFamily="18" charset="0"/>
                <a:cs typeface="Times New Roman" panose="02020603050405020304" pitchFamily="18" charset="0"/>
              </a:rPr>
              <a:t> </a:t>
            </a:r>
            <a:r>
              <a:rPr lang="en-US" sz="1300" b="1" dirty="0" err="1">
                <a:solidFill>
                  <a:srgbClr val="2E1C9E"/>
                </a:solidFill>
                <a:latin typeface="Times New Roman" panose="02020603050405020304" pitchFamily="18" charset="0"/>
                <a:cs typeface="Times New Roman" panose="02020603050405020304" pitchFamily="18" charset="0"/>
              </a:rPr>
              <a:t>nhật</a:t>
            </a:r>
            <a:r>
              <a:rPr lang="en-US" sz="1300" b="1" dirty="0">
                <a:solidFill>
                  <a:srgbClr val="2E1C9E"/>
                </a:solidFill>
                <a:latin typeface="Times New Roman" panose="02020603050405020304" pitchFamily="18" charset="0"/>
                <a:cs typeface="Times New Roman" panose="02020603050405020304" pitchFamily="18" charset="0"/>
              </a:rPr>
              <a:t> </a:t>
            </a:r>
            <a:r>
              <a:rPr lang="en-US" sz="1300" b="1" dirty="0" err="1">
                <a:solidFill>
                  <a:srgbClr val="2E1C9E"/>
                </a:solidFill>
                <a:latin typeface="Times New Roman" panose="02020603050405020304" pitchFamily="18" charset="0"/>
                <a:cs typeface="Times New Roman" panose="02020603050405020304" pitchFamily="18" charset="0"/>
              </a:rPr>
              <a:t>dữ</a:t>
            </a:r>
            <a:r>
              <a:rPr lang="en-US" sz="1300" b="1" dirty="0">
                <a:solidFill>
                  <a:srgbClr val="2E1C9E"/>
                </a:solidFill>
                <a:latin typeface="Times New Roman" panose="02020603050405020304" pitchFamily="18" charset="0"/>
                <a:cs typeface="Times New Roman" panose="02020603050405020304" pitchFamily="18" charset="0"/>
              </a:rPr>
              <a:t> </a:t>
            </a:r>
            <a:r>
              <a:rPr lang="en-US" sz="1300" b="1" dirty="0" err="1">
                <a:solidFill>
                  <a:srgbClr val="2E1C9E"/>
                </a:solidFill>
                <a:latin typeface="Times New Roman" panose="02020603050405020304" pitchFamily="18" charset="0"/>
                <a:cs typeface="Times New Roman" panose="02020603050405020304" pitchFamily="18" charset="0"/>
              </a:rPr>
              <a:t>liệu</a:t>
            </a:r>
            <a:endParaRPr lang="vi-VN" sz="1300" b="1" dirty="0">
              <a:solidFill>
                <a:srgbClr val="2E1C9E"/>
              </a:solidFill>
              <a:latin typeface="Times New Roman" panose="02020603050405020304" pitchFamily="18" charset="0"/>
              <a:cs typeface="Times New Roman" panose="02020603050405020304" pitchFamily="18" charset="0"/>
            </a:endParaRPr>
          </a:p>
          <a:p>
            <a:pPr algn="l">
              <a:lnSpc>
                <a:spcPct val="100000"/>
              </a:lnSpc>
              <a:spcBef>
                <a:spcPts val="0"/>
              </a:spcBef>
            </a:pPr>
            <a:r>
              <a:rPr lang="vi-VN" sz="1300" b="0" dirty="0">
                <a:solidFill>
                  <a:srgbClr val="5A5F7D"/>
                </a:solidFill>
                <a:latin typeface="Times New Roman" panose="02020603050405020304" pitchFamily="18" charset="0"/>
                <a:cs typeface="Times New Roman" panose="02020603050405020304" pitchFamily="18" charset="0"/>
              </a:rPr>
              <a:t>Thu thập và cập nhật thêm dữ</a:t>
            </a:r>
            <a:r>
              <a:rPr lang="en-US" sz="1300" b="0" dirty="0">
                <a:solidFill>
                  <a:srgbClr val="5A5F7D"/>
                </a:solidFill>
                <a:latin typeface="Times New Roman" panose="02020603050405020304" pitchFamily="18" charset="0"/>
                <a:cs typeface="Times New Roman" panose="02020603050405020304" pitchFamily="18" charset="0"/>
              </a:rPr>
              <a:t> </a:t>
            </a:r>
            <a:r>
              <a:rPr lang="en-US" sz="1300" b="0" dirty="0" err="1">
                <a:solidFill>
                  <a:srgbClr val="5A5F7D"/>
                </a:solidFill>
                <a:latin typeface="Times New Roman" panose="02020603050405020304" pitchFamily="18" charset="0"/>
                <a:cs typeface="Times New Roman" panose="02020603050405020304" pitchFamily="18" charset="0"/>
              </a:rPr>
              <a:t>liệu</a:t>
            </a:r>
            <a:r>
              <a:rPr lang="vi-VN" sz="1300" b="0" dirty="0">
                <a:solidFill>
                  <a:srgbClr val="5A5F7D"/>
                </a:solidFill>
                <a:latin typeface="Times New Roman" panose="02020603050405020304" pitchFamily="18" charset="0"/>
                <a:cs typeface="Times New Roman" panose="02020603050405020304" pitchFamily="18" charset="0"/>
              </a:rPr>
              <a:t> cho các điều kiện còn thiếu để AI học lại</a:t>
            </a:r>
          </a:p>
        </p:txBody>
      </p:sp>
      <p:pic>
        <p:nvPicPr>
          <p:cNvPr id="228" name="Picture 227">
            <a:extLst>
              <a:ext uri="{FF2B5EF4-FFF2-40B4-BE49-F238E27FC236}">
                <a16:creationId xmlns:a16="http://schemas.microsoft.com/office/drawing/2014/main" id="{4BB8E7A3-1C02-A090-24AB-21946000A5CB}"/>
              </a:ext>
            </a:extLst>
          </p:cNvPr>
          <p:cNvPicPr>
            <a:picLocks noChangeAspect="1"/>
          </p:cNvPicPr>
          <p:nvPr/>
        </p:nvPicPr>
        <p:blipFill>
          <a:blip r:embed="rId8"/>
          <a:stretch>
            <a:fillRect/>
          </a:stretch>
        </p:blipFill>
        <p:spPr>
          <a:xfrm>
            <a:off x="7543814" y="1876288"/>
            <a:ext cx="4495786" cy="4125368"/>
          </a:xfrm>
          <a:prstGeom prst="rect">
            <a:avLst/>
          </a:prstGeom>
        </p:spPr>
      </p:pic>
    </p:spTree>
  </p:cSld>
  <p:clrMapOvr>
    <a:masterClrMapping/>
  </p:clrMapOvr>
</p:sld>
</file>

<file path=ppt/theme/theme1.xml><?xml version="1.0" encoding="utf-8"?>
<a:theme xmlns:a="http://schemas.openxmlformats.org/drawingml/2006/main" name="Kyocera">
  <a:themeElements>
    <a:clrScheme name="Saffron(Branding)">
      <a:dk1>
        <a:sysClr val="windowText" lastClr="000000"/>
      </a:dk1>
      <a:lt1>
        <a:sysClr val="window" lastClr="FFFFFF"/>
      </a:lt1>
      <a:dk2>
        <a:srgbClr val="282828"/>
      </a:dk2>
      <a:lt2>
        <a:srgbClr val="F2F2F2"/>
      </a:lt2>
      <a:accent1>
        <a:srgbClr val="6E3CBE"/>
      </a:accent1>
      <a:accent2>
        <a:srgbClr val="F5B400"/>
      </a:accent2>
      <a:accent3>
        <a:srgbClr val="0A9BCD"/>
      </a:accent3>
      <a:accent4>
        <a:srgbClr val="F06400"/>
      </a:accent4>
      <a:accent5>
        <a:srgbClr val="26AF72"/>
      </a:accent5>
      <a:accent6>
        <a:srgbClr val="A9A9A9"/>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yocera_PPT_Template_KDC(MeiryoUI)4x3_201904.potx" id="{F7824327-EC3B-4A60-8311-B051A00F6AFE}" vid="{6D7B0D19-6042-4B58-9131-C9BAC69EA51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panose="020F0302020204030204"/>
      <a:ea typeface="Times New Roman"/>
      <a:cs typeface="Times New Roman"/>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panose="020F0502020204030204"/>
      <a:ea typeface="Times New Roman"/>
      <a:cs typeface="Times New Roman"/>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panose="020F0302020204030204"/>
      <a:ea typeface="Times New Roman"/>
      <a:cs typeface="Times New Roman"/>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panose="020F0502020204030204"/>
      <a:ea typeface="Times New Roman"/>
      <a:cs typeface="Times New Roman"/>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B4B3B53C809E984D9893A65D7F513071" ma:contentTypeVersion="15" ma:contentTypeDescription="新しいドキュメントを作成します。" ma:contentTypeScope="" ma:versionID="20e7d137bd346128a9686e4a1c765efb">
  <xsd:schema xmlns:xsd="http://www.w3.org/2001/XMLSchema" xmlns:xs="http://www.w3.org/2001/XMLSchema" xmlns:p="http://schemas.microsoft.com/office/2006/metadata/properties" xmlns:ns2="d296099c-366c-42e5-ad7d-e6f4e7c5509d" xmlns:ns3="96fced89-2dba-4df6-b49a-30355bbfe480" targetNamespace="http://schemas.microsoft.com/office/2006/metadata/properties" ma:root="true" ma:fieldsID="19633505b6b86e5d94ea775e766d7130" ns2:_="" ns3:_="">
    <xsd:import namespace="d296099c-366c-42e5-ad7d-e6f4e7c5509d"/>
    <xsd:import namespace="96fced89-2dba-4df6-b49a-30355bbfe4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96099c-366c-42e5-ad7d-e6f4e7c550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bdc7e581-dc3f-4937-89c0-8a736cf467b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6fced89-2dba-4df6-b49a-30355bbfe480" elementFormDefault="qualified">
    <xsd:import namespace="http://schemas.microsoft.com/office/2006/documentManagement/types"/>
    <xsd:import namespace="http://schemas.microsoft.com/office/infopath/2007/PartnerControls"/>
    <xsd:element name="SharedWithUsers" ma:index="11"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共有相手の詳細情報" ma:internalName="SharedWithDetails" ma:readOnly="true">
      <xsd:simpleType>
        <xsd:restriction base="dms:Note">
          <xsd:maxLength value="255"/>
        </xsd:restriction>
      </xsd:simpleType>
    </xsd:element>
    <xsd:element name="TaxCatchAll" ma:index="17" nillable="true" ma:displayName="Taxonomy Catch All Column" ma:hidden="true" ma:list="{829c53cb-777f-4ecd-9f3c-46d6abafad1f}" ma:internalName="TaxCatchAll" ma:showField="CatchAllData" ma:web="96fced89-2dba-4df6-b49a-30355bbfe4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296099c-366c-42e5-ad7d-e6f4e7c5509d">
      <Terms xmlns="http://schemas.microsoft.com/office/infopath/2007/PartnerControls"/>
    </lcf76f155ced4ddcb4097134ff3c332f>
    <TaxCatchAll xmlns="96fced89-2dba-4df6-b49a-30355bbfe480" xsi:nil="true"/>
  </documentManagement>
</p:properties>
</file>

<file path=customXml/itemProps1.xml><?xml version="1.0" encoding="utf-8"?>
<ds:datastoreItem xmlns:ds="http://schemas.openxmlformats.org/officeDocument/2006/customXml" ds:itemID="{3FA1CF16-C3CD-4A4A-943C-AB929DDD62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96099c-366c-42e5-ad7d-e6f4e7c5509d"/>
    <ds:schemaRef ds:uri="96fced89-2dba-4df6-b49a-30355bbfe48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D3D008-3E51-4FD4-A566-4E24AFFD36AB}">
  <ds:schemaRefs>
    <ds:schemaRef ds:uri="http://schemas.microsoft.com/sharepoint/v3/contenttype/forms"/>
  </ds:schemaRefs>
</ds:datastoreItem>
</file>

<file path=customXml/itemProps3.xml><?xml version="1.0" encoding="utf-8"?>
<ds:datastoreItem xmlns:ds="http://schemas.openxmlformats.org/officeDocument/2006/customXml" ds:itemID="{28E8814D-B370-44EF-8BA8-DEB5221437A1}">
  <ds:schemaRefs>
    <ds:schemaRef ds:uri="http://schemas.microsoft.com/office/2006/documentManagement/types"/>
    <ds:schemaRef ds:uri="http://schemas.microsoft.com/office/2006/metadata/properties"/>
    <ds:schemaRef ds:uri="http://purl.org/dc/dcmitype/"/>
    <ds:schemaRef ds:uri="a09aaaa2-c26f-494a-8b71-5441127fa977"/>
    <ds:schemaRef ds:uri="http://purl.org/dc/terms/"/>
    <ds:schemaRef ds:uri="http://www.w3.org/XML/1998/namespace"/>
    <ds:schemaRef ds:uri="http://schemas.microsoft.com/office/infopath/2007/PartnerControls"/>
    <ds:schemaRef ds:uri="http://schemas.openxmlformats.org/package/2006/metadata/core-properties"/>
    <ds:schemaRef ds:uri="8f2f9b4d-1475-4024-b32b-c0bca1a49664"/>
    <ds:schemaRef ds:uri="http://purl.org/dc/elements/1.1/"/>
    <ds:schemaRef ds:uri="d296099c-366c-42e5-ad7d-e6f4e7c5509d"/>
    <ds:schemaRef ds:uri="96fced89-2dba-4df6-b49a-30355bbfe480"/>
  </ds:schemaRefs>
</ds:datastoreItem>
</file>

<file path=docProps/app.xml><?xml version="1.0" encoding="utf-8"?>
<Properties xmlns="http://schemas.openxmlformats.org/officeDocument/2006/extended-properties" xmlns:vt="http://schemas.openxmlformats.org/officeDocument/2006/docPropsVTypes">
  <Template>Kyocera_PPT_Template_KDC(MeiryoUI)4x3_201904</Template>
  <TotalTime>2409</TotalTime>
  <Words>1670</Words>
  <Application>Microsoft Office PowerPoint</Application>
  <PresentationFormat>Widescreen</PresentationFormat>
  <Paragraphs>108</Paragraphs>
  <Slides>7</Slides>
  <Notes>7</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3" baseType="lpstr">
      <vt:lpstr>Meiryo UI</vt:lpstr>
      <vt:lpstr>游ゴシック</vt:lpstr>
      <vt:lpstr>Arial</vt:lpstr>
      <vt:lpstr>Times New Roman</vt:lpstr>
      <vt:lpstr>Kyocera</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Eguchi，Yuko(江口優子)</dc:creator>
  <cp:lastModifiedBy>Mai Cao Cường(Mai Cao Cuong)</cp:lastModifiedBy>
  <cp:revision>97</cp:revision>
  <cp:lastPrinted>2026-01-07T00:51:13Z</cp:lastPrinted>
  <dcterms:created xsi:type="dcterms:W3CDTF">2019-04-25T02:35:23Z</dcterms:created>
  <dcterms:modified xsi:type="dcterms:W3CDTF">2026-09-04T06:40:36Z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0x010100B4B3B53C809E984D9893A65D7F513071</vt:lpwstr>
  </property>
  <property fmtid="{D5CDD505-2E9C-101B-9397-08002B2CF9AE}" pid="3" name="MediaServiceImageTags">
    <vt:lpwstr/>
  </property>
  <property fmtid="{D5CDD505-2E9C-101B-9397-08002B2CF9AE}" pid="4" name="Order">
    <vt:lpwstr>9500.00000000000</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ies>
</file>