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240"/>
          </a:solidFill>
          <a:ln>
            <a:solidFill>
              <a:srgbClr val="0F2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BÁO CÁO ĐIỀU TRA SỰ CỐ KỸ THUẬT: MÃ LỖI C6770</a:t>
            </a:r>
          </a:p>
          <a:p>
            <a:pPr>
              <a:defRPr sz="2200">
                <a:solidFill>
                  <a:srgbClr val="64B4FF"/>
                </a:solidFill>
              </a:defRPr>
            </a:pPr>
            <a:r>
              <a:t>Lỗi nguồn điện thấp Fuser IH (IH Fuser Low Power Error) — Phân loại: C_CALL (Khối sấy Fuser IH)</a:t>
            </a:r>
          </a:p>
          <a:p>
            <a:pPr>
              <a:defRPr sz="1400">
                <a:solidFill>
                  <a:srgbClr val="C8C8C8"/>
                </a:solidFill>
              </a:defRPr>
            </a:pPr>
            <a:r>
              <a:t>Đối chiếu cơ sở dữ liệu 30,075 ca lịch sử KDTPS · Nguồn: 02XC_自己診断表示一覧表-Iris2020 VN.xls (dòng 9609)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240"/>
                </a:solidFill>
              </a:defRPr>
            </a:pPr>
            <a:r>
              <a:t>1. Hiện Tượng &amp; Cơ Chế Phát Sinh Mã Lỗi C6770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/>
            </a:pPr>
            <a:r>
              <a:t>• Định nghĩa lỗi: Lỗi nguồn điện thấp Fuser IH (IH Fuser Low Power Error) (Phân loại: C_CALL (Khối sấy Fuser IH)).</a:t>
            </a:r>
          </a:p>
          <a:p>
            <a:pPr>
              <a:defRPr sz="1600"/>
            </a:pPr>
            <a:r>
              <a:t>• Cơ chế kỹ thuật: Sau khi bắt đầu gia nhiệt Fuser, giá trị đọc của công suất ở trạng thái dưới 0.3x giá trị công suất thiết lập liên tục 4 lần, dù thực hiện lại 3 lần vẫn dưới giá trị công suất thiết lập × 0.3.</a:t>
            </a:r>
          </a:p>
          <a:p>
            <a:pPr>
              <a:defRPr sz="1800" b="1"/>
            </a:pPr>
            <a:r>
              <a:t>• Nguyên nhân thực tế từ hiện trường điều tra:</a:t>
            </a:r>
          </a:p>
          <a:p>
            <a:pPr>
              <a:defRPr sz="1500"/>
            </a:pPr>
            <a:r>
              <a:t>   1. Transistor công suất Q1 trên bản mạch IH bị Short (C-E sụt còn 3.9kΩ so với chuẩn 30kΩ).</a:t>
            </a:r>
          </a:p>
          <a:p>
            <a:pPr>
              <a:defRPr sz="1500"/>
            </a:pPr>
            <a:r>
              <a:t>   2. Va chạm cơ khí làm bong chân điện trở R15 và tụ gốm C67 trên bản mạch Image Driver.</a:t>
            </a:r>
          </a:p>
          <a:p>
            <a:pPr>
              <a:defRPr sz="1500"/>
            </a:pPr>
            <a:r>
              <a:t>   3. Hàn giả chân pin 4 của biến áp T1 trên cụm PWB IH 100 ASSY.</a:t>
            </a:r>
          </a:p>
          <a:p>
            <a:pPr>
              <a:defRPr sz="1500"/>
            </a:pPr>
            <a:r>
              <a:t>   4. PIN Drawer kết nối khối Fuser bị lệch hoặc dị vật bám dính gây gián đoạn đường truyền.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240"/>
                </a:solidFill>
              </a:defRPr>
            </a:pPr>
            <a:r>
              <a:t>2. Biện Pháp Đối Sách Kỹ Thuật Tiêu Chuẩn (VI 1 — VI 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latin typeface="Calibri"/>
              </a:defRPr>
            </a:pPr>
            <a:r>
              <a:t>• VI 1 — Xác nhận kết nối Connector &amp; dây cáp: Connector không được kết nối chính xác hoặc đứt ngầm dây điện. Kiểm tra kết nối: UNIT IH - Bản mạch IH, Bản mạch IH - Engine, Bản mạch Image Driver - Engine. Vệ sinh và cắm lại giắc.</a:t>
            </a:r>
          </a:p>
          <a:p>
            <a:pPr>
              <a:defRPr sz="1400">
                <a:latin typeface="Calibri"/>
              </a:defRPr>
            </a:pPr>
            <a:r>
              <a:t>• VI 2 — Xác nhận Drawer kết nối UNIT FUSER: Drawer kết nối UNIT FUSER bị lệch hoặc dị vật bám ở PIN. Làm sạch PIN Drawer, nắn chỉnh biến dạng hoặc thay thế dây cáp tương ứng (mã linh kiện: 302ND4637_).</a:t>
            </a:r>
          </a:p>
          <a:p>
            <a:pPr>
              <a:defRPr sz="1400">
                <a:latin typeface="Calibri"/>
              </a:defRPr>
            </a:pPr>
            <a:r>
              <a:t>• VI 3 — Thay thế bản mạch IH (PWB IH 100 ASSY): Bất thường linh kiện bán dẫn công suất trên bản mạch IH: Transistor Q1 bị Short (điện trở C-E sụt từ mức chuẩn 30kΩ xuống 3.9kΩ), sụt nguồn IH. Thay thế cụm PWB IH 100 ASSY (mã 30C2G01090-4).</a:t>
            </a:r>
          </a:p>
          <a:p>
            <a:pPr>
              <a:defRPr sz="1400">
                <a:latin typeface="Calibri"/>
              </a:defRPr>
            </a:pPr>
            <a:r>
              <a:t>• VI 4 — Version up Firmware Engine: Firmware động cơ/sấy không phải phiên bản mới nhất gây sai lệch đo lường công suất. Nâng cấp firmware Engine lên bản mới nhất.</a:t>
            </a:r>
          </a:p>
          <a:p>
            <a:pPr>
              <a:defRPr sz="1400">
                <a:latin typeface="Calibri"/>
              </a:defRPr>
            </a:pPr>
            <a:r>
              <a:t>• VI 5 — Thay thế bản mạch Engine: Mạch xử lý tín hiệu phản hồi công suất từ IH sang Engine bị lỗi. Thay thế bản mạch Engine.</a:t>
            </a:r>
          </a:p>
          <a:p>
            <a:pPr>
              <a:defRPr sz="1400">
                <a:latin typeface="Calibri"/>
              </a:defRPr>
            </a:pPr>
            <a:r>
              <a:t>• VI 6 — Thay bản mạch Image Driver: Bất thường giao tiếp tín hiệu điều khiển trên mạch Image Driver. Kiểm tra và thay thế mạch Image Driver.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240"/>
                </a:solidFill>
              </a:defRPr>
            </a:pPr>
            <a:r>
              <a:t>3. Bằng Chứng Thực Tế Đối Chiếu Cơ Sở Dữ Liệu 30,075 Ca KDTPS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/>
            </a:pPr>
            <a:r>
              <a:t>Tìm thấy 80 ca điều tra thực tế trong tổng số 30,075 ca lịch sử KDTPS:</a:t>
            </a:r>
          </a:p>
          <a:p>
            <a:pPr>
              <a:defRPr sz="1400" b="1"/>
            </a:pPr>
            <a:r>
              <a:t>1. Vụ 2022/1483 | Máy: H552713628</a:t>
            </a:r>
            <a:br/>
            <a:r>
              <a:t>1102YP2USV (Line C22</a:t>
            </a:r>
            <a:br/>
            <a:r>
              <a:t>Iris2020) | Ngày: 2022-07-25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   - Hiện tượng: C6770表示</a:t>
            </a:r>
            <a:br/>
            <a:br/>
            <a:r>
              <a:t>PWB IH 100 ASSY WITH SOFTWARE</a:t>
            </a:r>
            <a:br/>
            <a:r>
              <a:t>302ND01250</a:t>
            </a:r>
            <a:br/>
            <a:br/>
            <a:r>
              <a:t>安全重要部品 | Nguồn: Loi KDTPS.xlsx &gt; History KDTPS</a:t>
            </a:r>
          </a:p>
          <a:p>
            <a:pPr>
              <a:defRPr sz="1400" b="1"/>
            </a:pPr>
            <a:r>
              <a:t>2. Vụ 2024/228 | Máy: Iris2020</a:t>
            </a:r>
            <a:br/>
            <a:r>
              <a:t>下位 (Line C34) | Ngày: 2024-04-17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   - Hiện tượng: C6770表示 | Nguồn: Loi KDTPS.xlsx &gt; History KDTPS</a:t>
            </a:r>
          </a:p>
          <a:p>
            <a:pPr>
              <a:defRPr sz="1400" b="1"/>
            </a:pPr>
            <a:r>
              <a:t>3. Vụ 2022/2391 | Máy: Iris2020</a:t>
            </a:r>
            <a:br/>
            <a:r>
              <a:t>下位 (Line C21B) | Ngày: 2022-11-10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   - Hiện tượng: LCD画面が6770表示 | Nguồn: Loi KDTPS.xlsx &gt; History KDTPS</a:t>
            </a:r>
          </a:p>
          <a:p>
            <a:pPr>
              <a:defRPr sz="1400" b="1"/>
            </a:pPr>
            <a:r>
              <a:t>4. Vụ 2022/2114 | Máy: Iris2020</a:t>
            </a:r>
            <a:br/>
            <a:r>
              <a:t>下位 (Line C21) | Ngày: 2022-10-14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   - Hiện tượng: C6770表示 | Nguồn: Loi KDTPS.xlsx &gt; History KDTPS</a:t>
            </a:r>
          </a:p>
          <a:p>
            <a:pPr>
              <a:defRPr sz="1400" b="1"/>
            </a:pPr>
            <a:r>
              <a:t>5. Vụ 2026/2681 | Máy: Iris2024</a:t>
            </a:r>
            <a:br/>
            <a:r>
              <a:t>下位 (Line C35) | Ngày: 2026-09-14</a:t>
            </a:r>
          </a:p>
          <a:p>
            <a:pPr>
              <a:defRPr sz="1200">
                <a:solidFill>
                  <a:srgbClr val="505050"/>
                </a:solidFill>
              </a:defRPr>
            </a:pPr>
            <a:r>
              <a:t>   - Hiện tượng: C6770</a:t>
            </a:r>
            <a:br/>
            <a:r>
              <a:t>※IH定着低電力異常 | Nguồn: Loi KDTPS.xlsx &gt; History KDTPS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F2240"/>
                </a:solidFill>
              </a:defRPr>
            </a:pPr>
            <a:r>
              <a:t>4. Nguồn Trích Dẫn &amp; Khuyến Nghị Phòng Ngừa Tái Phát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/>
            </a:pPr>
            <a:r>
              <a:t>• Nguồn tài liệu xác thực mở được:</a:t>
            </a:r>
          </a:p>
          <a:p>
            <a:pPr>
              <a:defRPr sz="1400"/>
            </a:pPr>
            <a:r>
              <a:t>   1. Cơ sở dữ liệu: error_cases_reconciled.db (30,075 ca lịch sử KDTPS Bước 0-5).</a:t>
            </a:r>
          </a:p>
          <a:p>
            <a:pPr>
              <a:defRPr sz="1400"/>
            </a:pPr>
            <a:r>
              <a:t>   2. Danh mục mã lỗi kỹ thuật: 02XC_自己診断表示一覧表-Iris2020 VN.xls (dòng 9609) (dòng 9609).</a:t>
            </a:r>
          </a:p>
          <a:p>
            <a:pPr>
              <a:defRPr sz="1400"/>
            </a:pPr>
            <a:r>
              <a:t>   3. Sổ theo dõi sự cố: Loi KDTPS.xlsx &gt; History KDTPS (dòng 14432, 11633, 11572, 11557, 11556).</a:t>
            </a:r>
          </a:p>
          <a:p>
            <a:pPr>
              <a:defRPr sz="1400"/>
            </a:pPr>
            <a:r>
              <a:t>   4. Hồ sơ chuyên sâu linh kiện: KTD-2025-05-0540.pdf, KTD-2026-06-0606.xlsx, KTD-2026-08-0790.xlsx.</a:t>
            </a:r>
          </a:p>
          <a:p>
            <a:pPr>
              <a:defRPr sz="1700" b="1"/>
            </a:pPr>
            <a:r>
              <a:t>• Khuyến nghị phòng ngừa:</a:t>
            </a:r>
          </a:p>
          <a:p>
            <a:pPr>
              <a:defRPr sz="1400"/>
            </a:pPr>
            <a:r>
              <a:t>   - Siết chặt kiểm tra thao tác lắp ráp bo mạch Image Driver, tránh va chạm cơ khí làm nứt mối hàn R15/C67.</a:t>
            </a:r>
          </a:p>
          <a:p>
            <a:pPr>
              <a:defRPr sz="1400"/>
            </a:pPr>
            <a:r>
              <a:t>   - Đảm bảo vệ sinh định kỳ PIN Drawer Fuser bằng cồn chuyên dụng; đo kiểm tra điện trở Q1 (C-E &gt; 25kΩ).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